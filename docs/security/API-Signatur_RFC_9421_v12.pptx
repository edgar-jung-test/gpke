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496" r:id="rId5"/>
    <p:sldId id="511" r:id="rId6"/>
    <p:sldId id="512" r:id="rId7"/>
    <p:sldId id="514" r:id="rId8"/>
    <p:sldId id="503" r:id="rId9"/>
    <p:sldId id="513" r:id="rId10"/>
    <p:sldId id="515" r:id="rId11"/>
    <p:sldId id="516" r:id="rId12"/>
  </p:sldIdLst>
  <p:sldSz cx="9144000" cy="5143500" type="screen16x9"/>
  <p:notesSz cx="6797675" cy="9928225"/>
  <p:custDataLst>
    <p:tags r:id="rId15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52" userDrawn="1">
          <p15:clr>
            <a:srgbClr val="A4A3A4"/>
          </p15:clr>
        </p15:guide>
        <p15:guide id="8" orient="horz" pos="2913">
          <p15:clr>
            <a:srgbClr val="A4A3A4"/>
          </p15:clr>
        </p15:guide>
        <p15:guide id="9" orient="horz" pos="917">
          <p15:clr>
            <a:srgbClr val="A4A3A4"/>
          </p15:clr>
        </p15:guide>
        <p15:guide id="10" pos="363">
          <p15:clr>
            <a:srgbClr val="A4A3A4"/>
          </p15:clr>
        </p15:guide>
        <p15:guide id="11" pos="2608" userDrawn="1">
          <p15:clr>
            <a:srgbClr val="A4A3A4"/>
          </p15:clr>
        </p15:guide>
        <p15:guide id="12" pos="2789">
          <p15:clr>
            <a:srgbClr val="A4A3A4"/>
          </p15:clr>
        </p15:guide>
        <p15:guide id="13" pos="503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4B42D"/>
    <a:srgbClr val="CBCBCB"/>
    <a:srgbClr val="FFC560"/>
    <a:srgbClr val="C10D14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C3ED94-FE81-483B-B34F-22BF08784987}" v="7" dt="2026-07-01T07:57:13.857"/>
    <p1510:client id="{671A5124-18EA-4314-86CF-D82D2E1C2566}" v="28" dt="2026-06-30T09:30:18.706"/>
    <p1510:client id="{749B8FBF-0FC3-4465-B9B0-88B87DC4E509}" v="43" dt="2026-06-30T14:48:56.172"/>
    <p1510:client id="{C4BEFFAE-76F0-4E8F-87B6-61DB418350C3}" v="8" dt="2026-06-30T09:45:22.8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22" autoAdjust="0"/>
    <p:restoredTop sz="94404" autoAdjust="0"/>
  </p:normalViewPr>
  <p:slideViewPr>
    <p:cSldViewPr snapToGrid="0" showGuides="1">
      <p:cViewPr varScale="1">
        <p:scale>
          <a:sx n="79" d="100"/>
          <a:sy n="79" d="100"/>
        </p:scale>
        <p:origin x="876" y="20"/>
      </p:cViewPr>
      <p:guideLst>
        <p:guide orient="horz" pos="3952"/>
        <p:guide orient="horz" pos="2913"/>
        <p:guide orient="horz" pos="917"/>
        <p:guide pos="363"/>
        <p:guide pos="2608"/>
        <p:guide pos="2789"/>
        <p:guide pos="503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9498"/>
    </p:cViewPr>
  </p:sorterViewPr>
  <p:notesViewPr>
    <p:cSldViewPr snapToGrid="0" showGuides="1">
      <p:cViewPr varScale="1">
        <p:scale>
          <a:sx n="105" d="100"/>
          <a:sy n="105" d="100"/>
        </p:scale>
        <p:origin x="2272" y="20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gs" Target="tags/tag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umsplatzhalter 2"/>
          <p:cNvSpPr>
            <a:spLocks noGrp="1"/>
          </p:cNvSpPr>
          <p:nvPr>
            <p:ph type="dt" idx="1"/>
          </p:nvPr>
        </p:nvSpPr>
        <p:spPr>
          <a:xfrm>
            <a:off x="464193" y="9478653"/>
            <a:ext cx="1043218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algn="l">
              <a:defRPr sz="1200"/>
            </a:lvl1pPr>
          </a:lstStyle>
          <a:p>
            <a:fld id="{88F89DAC-E977-43DF-9273-44C3A6F893D6}" type="datetime1">
              <a:rPr lang="de-DE" noProof="0" smtClean="0"/>
              <a:t>01.07.2026</a:t>
            </a:fld>
            <a:endParaRPr lang="en-GB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3"/>
          </p:nvPr>
        </p:nvSpPr>
        <p:spPr>
          <a:xfrm>
            <a:off x="5437032" y="9494491"/>
            <a:ext cx="878033" cy="184666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200"/>
            </a:lvl1pPr>
          </a:lstStyle>
          <a:p>
            <a:r>
              <a:rPr lang="en-GB" noProof="0" dirty="0"/>
              <a:t>  </a:t>
            </a:r>
            <a:fld id="{F3DF5D5B-2C92-4195-97B9-89281C423DE7}" type="slidenum">
              <a:rPr lang="en-GB" noProof="0" smtClean="0"/>
              <a:pPr/>
              <a:t>‹Nr.›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66452920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64193" y="9478653"/>
            <a:ext cx="1043218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algn="l">
              <a:defRPr sz="1200"/>
            </a:lvl1pPr>
          </a:lstStyle>
          <a:p>
            <a:fld id="{93976DC4-2566-4FAE-A47C-F8230D18B7EB}" type="datetime1">
              <a:rPr lang="de-DE" noProof="0" smtClean="0"/>
              <a:t>01.07.2026</a:t>
            </a:fld>
            <a:endParaRPr lang="en-GB" noProof="0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093788"/>
            <a:ext cx="5956300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464193" y="4630950"/>
            <a:ext cx="5851980" cy="459417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438140" y="9494491"/>
            <a:ext cx="878033" cy="184666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200"/>
            </a:lvl1pPr>
          </a:lstStyle>
          <a:p>
            <a:r>
              <a:rPr lang="en-GB" dirty="0"/>
              <a:t>  </a:t>
            </a:r>
            <a:fld id="{F3DF5D5B-2C92-4195-97B9-89281C423DE7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69497260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spcBef>
        <a:spcPts val="1200"/>
      </a:spcBef>
      <a:defRPr sz="1200" b="1" kern="1200">
        <a:solidFill>
          <a:schemeClr val="tx1"/>
        </a:solidFill>
        <a:latin typeface="+mn-lt"/>
        <a:ea typeface="+mn-ea"/>
        <a:cs typeface="+mn-cs"/>
      </a:defRPr>
    </a:lvl1pPr>
    <a:lvl2pPr marL="0" indent="0" algn="l" defTabSz="914400" rtl="0" eaLnBrk="1" latinLnBrk="0" hangingPunct="1">
      <a:spcBef>
        <a:spcPts val="800"/>
      </a:spcBef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180000" indent="-180000" algn="l" defTabSz="914400" rtl="0" eaLnBrk="1" latinLnBrk="0" hangingPunct="1">
      <a:spcBef>
        <a:spcPts val="600"/>
      </a:spcBef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360000" indent="-180000" algn="l" defTabSz="914400" rtl="0" eaLnBrk="1" latinLnBrk="0" hangingPunct="1">
      <a:spcBef>
        <a:spcPts val="300"/>
      </a:spcBef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540000" indent="-180000" algn="l" defTabSz="914400" rtl="0" eaLnBrk="1" latinLnBrk="0" hangingPunct="1">
      <a:spcBef>
        <a:spcPts val="300"/>
      </a:spcBef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2" pos="292" userDrawn="1">
          <p15:clr>
            <a:srgbClr val="F26B43"/>
          </p15:clr>
        </p15:guide>
        <p15:guide id="3" pos="3979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SM-PKI, Sub-CA 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3976DC4-2566-4FAE-A47C-F8230D18B7EB}" type="datetime1">
              <a:rPr lang="de-DE" noProof="0" smtClean="0"/>
              <a:t>01.07.2026</a:t>
            </a:fld>
            <a:endParaRPr lang="en-GB" noProof="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GB"/>
              <a:t>  </a:t>
            </a:r>
            <a:fld id="{F3DF5D5B-2C92-4195-97B9-89281C423DE7}" type="slidenum">
              <a:rPr lang="en-GB" smtClean="0"/>
              <a:pPr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85611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3976DC4-2566-4FAE-A47C-F8230D18B7EB}" type="datetime1">
              <a:rPr lang="de-DE" noProof="0" smtClean="0"/>
              <a:t>01.07.2026</a:t>
            </a:fld>
            <a:endParaRPr lang="en-GB" noProof="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GB"/>
              <a:t>  </a:t>
            </a:r>
            <a:fld id="{F3DF5D5B-2C92-4195-97B9-89281C423DE7}" type="slidenum">
              <a:rPr lang="en-GB" smtClean="0"/>
              <a:pPr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0621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6.jp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6.jp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6.jp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6.jpg"/><Relationship Id="rId5" Type="http://schemas.openxmlformats.org/officeDocument/2006/relationships/image" Target="../media/image1.emf"/><Relationship Id="rId4" Type="http://schemas.openxmlformats.org/officeDocument/2006/relationships/oleObject" Target="../embeddings/oleObject8.bin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9.bin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1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1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6.jp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0.bin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image" Target="../media/image6.jp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White">
          <a:xfrm>
            <a:off x="576263" y="2321634"/>
            <a:ext cx="3993786" cy="2286326"/>
          </a:xfrm>
          <a:solidFill>
            <a:schemeClr val="accent2"/>
          </a:solidFill>
        </p:spPr>
        <p:txBody>
          <a:bodyPr lIns="396000" tIns="396000" rIns="396000" bIns="432000">
            <a:noAutofit/>
          </a:bodyPr>
          <a:lstStyle>
            <a:lvl1pPr>
              <a:defRPr sz="2400" b="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Titel durch Klicken hinzufügen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blackWhite">
          <a:xfrm>
            <a:off x="971916" y="4027882"/>
            <a:ext cx="3168000" cy="153888"/>
          </a:xfrm>
        </p:spPr>
        <p:txBody>
          <a:bodyPr anchor="b" anchorCtr="0"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Westnetz GmbH · Name · TT Monat JJJJ</a:t>
            </a:r>
          </a:p>
        </p:txBody>
      </p:sp>
      <p:grpSp>
        <p:nvGrpSpPr>
          <p:cNvPr id="41" name="Gruppieren 40"/>
          <p:cNvGrpSpPr/>
          <p:nvPr userDrawn="1"/>
        </p:nvGrpSpPr>
        <p:grpSpPr>
          <a:xfrm>
            <a:off x="575556" y="-124966"/>
            <a:ext cx="7416824" cy="108000"/>
            <a:chOff x="575556" y="-124966"/>
            <a:chExt cx="7416824" cy="108000"/>
          </a:xfrm>
        </p:grpSpPr>
        <p:sp>
          <p:nvSpPr>
            <p:cNvPr id="42" name="Freihandform 41"/>
            <p:cNvSpPr/>
            <p:nvPr userDrawn="1"/>
          </p:nvSpPr>
          <p:spPr>
            <a:xfrm>
              <a:off x="575556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" name="Freihandform 42"/>
            <p:cNvSpPr/>
            <p:nvPr userDrawn="1"/>
          </p:nvSpPr>
          <p:spPr>
            <a:xfrm>
              <a:off x="4139952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" name="Freihandform 43"/>
            <p:cNvSpPr/>
            <p:nvPr userDrawn="1"/>
          </p:nvSpPr>
          <p:spPr>
            <a:xfrm>
              <a:off x="4427984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" name="Freihandform 44"/>
            <p:cNvSpPr/>
            <p:nvPr userDrawn="1"/>
          </p:nvSpPr>
          <p:spPr>
            <a:xfrm>
              <a:off x="7992380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6" name="Gruppieren 45"/>
          <p:cNvGrpSpPr/>
          <p:nvPr userDrawn="1"/>
        </p:nvGrpSpPr>
        <p:grpSpPr>
          <a:xfrm>
            <a:off x="575556" y="5160466"/>
            <a:ext cx="7416824" cy="108000"/>
            <a:chOff x="575556" y="5160466"/>
            <a:chExt cx="7416824" cy="108000"/>
          </a:xfrm>
        </p:grpSpPr>
        <p:sp>
          <p:nvSpPr>
            <p:cNvPr id="47" name="Freihandform 46"/>
            <p:cNvSpPr/>
            <p:nvPr userDrawn="1"/>
          </p:nvSpPr>
          <p:spPr bwMode="gray">
            <a:xfrm>
              <a:off x="575556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48" name="Freihandform 47"/>
            <p:cNvSpPr/>
            <p:nvPr userDrawn="1"/>
          </p:nvSpPr>
          <p:spPr bwMode="gray">
            <a:xfrm>
              <a:off x="4139952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49" name="Freihandform 48"/>
            <p:cNvSpPr/>
            <p:nvPr userDrawn="1"/>
          </p:nvSpPr>
          <p:spPr bwMode="gray">
            <a:xfrm>
              <a:off x="4427984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50" name="Freihandform 49"/>
            <p:cNvSpPr/>
            <p:nvPr userDrawn="1"/>
          </p:nvSpPr>
          <p:spPr bwMode="gray">
            <a:xfrm>
              <a:off x="7992380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grpSp>
        <p:nvGrpSpPr>
          <p:cNvPr id="51" name="Gruppieren 50"/>
          <p:cNvGrpSpPr/>
          <p:nvPr userDrawn="1"/>
        </p:nvGrpSpPr>
        <p:grpSpPr>
          <a:xfrm>
            <a:off x="-165953" y="1448006"/>
            <a:ext cx="144000" cy="3175980"/>
            <a:chOff x="-165953" y="1448006"/>
            <a:chExt cx="144000" cy="3175980"/>
          </a:xfrm>
        </p:grpSpPr>
        <p:sp>
          <p:nvSpPr>
            <p:cNvPr id="52" name="Freihandform 51"/>
            <p:cNvSpPr/>
            <p:nvPr/>
          </p:nvSpPr>
          <p:spPr bwMode="gray">
            <a:xfrm rot="16200000">
              <a:off x="-93953" y="455198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53" name="Freihandform 52"/>
            <p:cNvSpPr/>
            <p:nvPr/>
          </p:nvSpPr>
          <p:spPr bwMode="gray">
            <a:xfrm rot="16200000">
              <a:off x="-93953" y="137600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grpSp>
        <p:nvGrpSpPr>
          <p:cNvPr id="54" name="Gruppieren 53"/>
          <p:cNvGrpSpPr/>
          <p:nvPr userDrawn="1"/>
        </p:nvGrpSpPr>
        <p:grpSpPr>
          <a:xfrm>
            <a:off x="9166242" y="1455627"/>
            <a:ext cx="144000" cy="3171780"/>
            <a:chOff x="9166242" y="1455627"/>
            <a:chExt cx="144000" cy="3171780"/>
          </a:xfrm>
        </p:grpSpPr>
        <p:sp>
          <p:nvSpPr>
            <p:cNvPr id="55" name="Freihandform 54"/>
            <p:cNvSpPr/>
            <p:nvPr userDrawn="1"/>
          </p:nvSpPr>
          <p:spPr>
            <a:xfrm rot="16200000">
              <a:off x="9238242" y="455540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56" name="Freihandform 55"/>
            <p:cNvSpPr/>
            <p:nvPr userDrawn="1"/>
          </p:nvSpPr>
          <p:spPr>
            <a:xfrm rot="16200000">
              <a:off x="9238242" y="138362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pic>
        <p:nvPicPr>
          <p:cNvPr id="23" name="Grafik 22">
            <a:extLst>
              <a:ext uri="{FF2B5EF4-FFF2-40B4-BE49-F238E27FC236}">
                <a16:creationId xmlns:a16="http://schemas.microsoft.com/office/drawing/2014/main" id="{B06A0E27-F6F3-4C73-AAF8-F99F6B3254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6481502" y="1462881"/>
            <a:ext cx="1905001" cy="33361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306A7367-67CE-4B73-AC1D-980111827A7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330160" y="215999"/>
            <a:ext cx="1904983" cy="351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637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0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uppieren 19"/>
          <p:cNvGrpSpPr/>
          <p:nvPr userDrawn="1"/>
        </p:nvGrpSpPr>
        <p:grpSpPr>
          <a:xfrm>
            <a:off x="575556" y="-124966"/>
            <a:ext cx="7416824" cy="108000"/>
            <a:chOff x="575556" y="-124966"/>
            <a:chExt cx="7416824" cy="108000"/>
          </a:xfrm>
        </p:grpSpPr>
        <p:sp>
          <p:nvSpPr>
            <p:cNvPr id="21" name="Freihandform 20"/>
            <p:cNvSpPr/>
            <p:nvPr userDrawn="1"/>
          </p:nvSpPr>
          <p:spPr>
            <a:xfrm>
              <a:off x="575556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" name="Freihandform 21"/>
            <p:cNvSpPr/>
            <p:nvPr userDrawn="1"/>
          </p:nvSpPr>
          <p:spPr>
            <a:xfrm>
              <a:off x="4139952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" name="Freihandform 22"/>
            <p:cNvSpPr/>
            <p:nvPr userDrawn="1"/>
          </p:nvSpPr>
          <p:spPr>
            <a:xfrm>
              <a:off x="4427984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" name="Freihandform 29"/>
            <p:cNvSpPr/>
            <p:nvPr userDrawn="1"/>
          </p:nvSpPr>
          <p:spPr>
            <a:xfrm>
              <a:off x="7992380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31" name="Gruppieren 30"/>
          <p:cNvGrpSpPr/>
          <p:nvPr userDrawn="1"/>
        </p:nvGrpSpPr>
        <p:grpSpPr>
          <a:xfrm>
            <a:off x="575556" y="5160466"/>
            <a:ext cx="7416824" cy="108000"/>
            <a:chOff x="575556" y="5160466"/>
            <a:chExt cx="7416824" cy="108000"/>
          </a:xfrm>
        </p:grpSpPr>
        <p:sp>
          <p:nvSpPr>
            <p:cNvPr id="32" name="Freihandform 31"/>
            <p:cNvSpPr/>
            <p:nvPr userDrawn="1"/>
          </p:nvSpPr>
          <p:spPr bwMode="gray">
            <a:xfrm>
              <a:off x="575556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33" name="Freihandform 32"/>
            <p:cNvSpPr/>
            <p:nvPr userDrawn="1"/>
          </p:nvSpPr>
          <p:spPr bwMode="gray">
            <a:xfrm>
              <a:off x="4139952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34" name="Freihandform 33"/>
            <p:cNvSpPr/>
            <p:nvPr userDrawn="1"/>
          </p:nvSpPr>
          <p:spPr bwMode="gray">
            <a:xfrm>
              <a:off x="4427984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35" name="Freihandform 34"/>
            <p:cNvSpPr/>
            <p:nvPr userDrawn="1"/>
          </p:nvSpPr>
          <p:spPr bwMode="gray">
            <a:xfrm>
              <a:off x="7992380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grpSp>
        <p:nvGrpSpPr>
          <p:cNvPr id="36" name="Gruppieren 35"/>
          <p:cNvGrpSpPr/>
          <p:nvPr userDrawn="1"/>
        </p:nvGrpSpPr>
        <p:grpSpPr>
          <a:xfrm>
            <a:off x="-165953" y="1448006"/>
            <a:ext cx="144000" cy="3175980"/>
            <a:chOff x="-165953" y="1448006"/>
            <a:chExt cx="144000" cy="3175980"/>
          </a:xfrm>
        </p:grpSpPr>
        <p:sp>
          <p:nvSpPr>
            <p:cNvPr id="37" name="Freihandform 36"/>
            <p:cNvSpPr/>
            <p:nvPr/>
          </p:nvSpPr>
          <p:spPr bwMode="gray">
            <a:xfrm rot="16200000">
              <a:off x="-93953" y="455198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38" name="Freihandform 37"/>
            <p:cNvSpPr/>
            <p:nvPr/>
          </p:nvSpPr>
          <p:spPr bwMode="gray">
            <a:xfrm rot="16200000">
              <a:off x="-93953" y="137600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grpSp>
        <p:nvGrpSpPr>
          <p:cNvPr id="39" name="Gruppieren 38"/>
          <p:cNvGrpSpPr/>
          <p:nvPr userDrawn="1"/>
        </p:nvGrpSpPr>
        <p:grpSpPr>
          <a:xfrm>
            <a:off x="9166242" y="1455627"/>
            <a:ext cx="144000" cy="3171780"/>
            <a:chOff x="9166242" y="1455627"/>
            <a:chExt cx="144000" cy="3171780"/>
          </a:xfrm>
        </p:grpSpPr>
        <p:sp>
          <p:nvSpPr>
            <p:cNvPr id="40" name="Freihandform 39"/>
            <p:cNvSpPr/>
            <p:nvPr userDrawn="1"/>
          </p:nvSpPr>
          <p:spPr>
            <a:xfrm rot="16200000">
              <a:off x="9238242" y="455540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41" name="Freihandform 40"/>
            <p:cNvSpPr/>
            <p:nvPr userDrawn="1"/>
          </p:nvSpPr>
          <p:spPr>
            <a:xfrm rot="16200000">
              <a:off x="9238242" y="138362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sp>
        <p:nvSpPr>
          <p:cNvPr id="26" name="Titel 1"/>
          <p:cNvSpPr>
            <a:spLocks noGrp="1"/>
          </p:cNvSpPr>
          <p:nvPr>
            <p:ph type="ctrTitle" hasCustomPrompt="1"/>
          </p:nvPr>
        </p:nvSpPr>
        <p:spPr bwMode="blackWhite">
          <a:xfrm>
            <a:off x="576263" y="2321634"/>
            <a:ext cx="3993786" cy="2286326"/>
          </a:xfrm>
          <a:solidFill>
            <a:schemeClr val="accent2"/>
          </a:solidFill>
        </p:spPr>
        <p:txBody>
          <a:bodyPr lIns="396000" tIns="396000" rIns="396000" bIns="432000">
            <a:noAutofit/>
          </a:bodyPr>
          <a:lstStyle>
            <a:lvl1pPr>
              <a:defRPr sz="2400" b="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Titel durch Klicken hinzufügen</a:t>
            </a:r>
          </a:p>
        </p:txBody>
      </p:sp>
      <p:sp>
        <p:nvSpPr>
          <p:cNvPr id="27" name="Fußzeilenplatzhalter 4"/>
          <p:cNvSpPr>
            <a:spLocks noGrp="1"/>
          </p:cNvSpPr>
          <p:nvPr>
            <p:ph type="ftr" sz="quarter" idx="11"/>
          </p:nvPr>
        </p:nvSpPr>
        <p:spPr bwMode="blackWhite">
          <a:xfrm>
            <a:off x="971916" y="4027882"/>
            <a:ext cx="3168000" cy="153888"/>
          </a:xfrm>
        </p:spPr>
        <p:txBody>
          <a:bodyPr anchor="b" anchorCtr="0"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Westnetz GmbH · Name · TT Monat JJJJ</a:t>
            </a:r>
          </a:p>
        </p:txBody>
      </p:sp>
      <p:pic>
        <p:nvPicPr>
          <p:cNvPr id="25" name="Grafik 24">
            <a:extLst>
              <a:ext uri="{FF2B5EF4-FFF2-40B4-BE49-F238E27FC236}">
                <a16:creationId xmlns:a16="http://schemas.microsoft.com/office/drawing/2014/main" id="{40E6AE41-F7C9-44BD-BBEC-AEE6947FFE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6481502" y="1462881"/>
            <a:ext cx="1905001" cy="333612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4485BC7C-5216-4A4B-898E-B4E4C736F7B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330160" y="215999"/>
            <a:ext cx="1904979" cy="35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620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2"/>
          </p:nvPr>
        </p:nvSpPr>
        <p:spPr>
          <a:xfrm>
            <a:off x="0" y="-450"/>
            <a:ext cx="9144000" cy="514395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0" rtlCol="0">
            <a:noAutofit/>
          </a:bodyPr>
          <a:lstStyle>
            <a:lvl1pPr marL="0" indent="0" algn="ctr">
              <a:buNone/>
              <a:defRPr lang="de-DE" sz="1000" dirty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grpSp>
        <p:nvGrpSpPr>
          <p:cNvPr id="20" name="Gruppieren 19"/>
          <p:cNvGrpSpPr/>
          <p:nvPr userDrawn="1"/>
        </p:nvGrpSpPr>
        <p:grpSpPr>
          <a:xfrm>
            <a:off x="575556" y="-124966"/>
            <a:ext cx="7416824" cy="108000"/>
            <a:chOff x="575556" y="-124966"/>
            <a:chExt cx="7416824" cy="108000"/>
          </a:xfrm>
        </p:grpSpPr>
        <p:sp>
          <p:nvSpPr>
            <p:cNvPr id="21" name="Freihandform 20"/>
            <p:cNvSpPr/>
            <p:nvPr userDrawn="1"/>
          </p:nvSpPr>
          <p:spPr>
            <a:xfrm>
              <a:off x="575556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" name="Freihandform 21"/>
            <p:cNvSpPr/>
            <p:nvPr userDrawn="1"/>
          </p:nvSpPr>
          <p:spPr>
            <a:xfrm>
              <a:off x="4139952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" name="Freihandform 22"/>
            <p:cNvSpPr/>
            <p:nvPr userDrawn="1"/>
          </p:nvSpPr>
          <p:spPr>
            <a:xfrm>
              <a:off x="4427984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" name="Freihandform 29"/>
            <p:cNvSpPr/>
            <p:nvPr userDrawn="1"/>
          </p:nvSpPr>
          <p:spPr>
            <a:xfrm>
              <a:off x="7992380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31" name="Gruppieren 30"/>
          <p:cNvGrpSpPr/>
          <p:nvPr userDrawn="1"/>
        </p:nvGrpSpPr>
        <p:grpSpPr>
          <a:xfrm>
            <a:off x="575556" y="5160466"/>
            <a:ext cx="7416824" cy="108000"/>
            <a:chOff x="575556" y="5160466"/>
            <a:chExt cx="7416824" cy="108000"/>
          </a:xfrm>
        </p:grpSpPr>
        <p:sp>
          <p:nvSpPr>
            <p:cNvPr id="32" name="Freihandform 31"/>
            <p:cNvSpPr/>
            <p:nvPr userDrawn="1"/>
          </p:nvSpPr>
          <p:spPr bwMode="gray">
            <a:xfrm>
              <a:off x="575556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33" name="Freihandform 32"/>
            <p:cNvSpPr/>
            <p:nvPr userDrawn="1"/>
          </p:nvSpPr>
          <p:spPr bwMode="gray">
            <a:xfrm>
              <a:off x="4139952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34" name="Freihandform 33"/>
            <p:cNvSpPr/>
            <p:nvPr userDrawn="1"/>
          </p:nvSpPr>
          <p:spPr bwMode="gray">
            <a:xfrm>
              <a:off x="4427984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35" name="Freihandform 34"/>
            <p:cNvSpPr/>
            <p:nvPr userDrawn="1"/>
          </p:nvSpPr>
          <p:spPr bwMode="gray">
            <a:xfrm>
              <a:off x="7992380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grpSp>
        <p:nvGrpSpPr>
          <p:cNvPr id="36" name="Gruppieren 35"/>
          <p:cNvGrpSpPr/>
          <p:nvPr userDrawn="1"/>
        </p:nvGrpSpPr>
        <p:grpSpPr>
          <a:xfrm>
            <a:off x="-165953" y="1448006"/>
            <a:ext cx="144000" cy="3175980"/>
            <a:chOff x="-165953" y="1448006"/>
            <a:chExt cx="144000" cy="3175980"/>
          </a:xfrm>
        </p:grpSpPr>
        <p:sp>
          <p:nvSpPr>
            <p:cNvPr id="37" name="Freihandform 36"/>
            <p:cNvSpPr/>
            <p:nvPr/>
          </p:nvSpPr>
          <p:spPr bwMode="gray">
            <a:xfrm rot="16200000">
              <a:off x="-93953" y="455198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38" name="Freihandform 37"/>
            <p:cNvSpPr/>
            <p:nvPr/>
          </p:nvSpPr>
          <p:spPr bwMode="gray">
            <a:xfrm rot="16200000">
              <a:off x="-93953" y="137600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grpSp>
        <p:nvGrpSpPr>
          <p:cNvPr id="39" name="Gruppieren 38"/>
          <p:cNvGrpSpPr/>
          <p:nvPr userDrawn="1"/>
        </p:nvGrpSpPr>
        <p:grpSpPr>
          <a:xfrm>
            <a:off x="9166242" y="1455627"/>
            <a:ext cx="144000" cy="3171780"/>
            <a:chOff x="9166242" y="1455627"/>
            <a:chExt cx="144000" cy="3171780"/>
          </a:xfrm>
        </p:grpSpPr>
        <p:sp>
          <p:nvSpPr>
            <p:cNvPr id="40" name="Freihandform 39"/>
            <p:cNvSpPr/>
            <p:nvPr userDrawn="1"/>
          </p:nvSpPr>
          <p:spPr>
            <a:xfrm rot="16200000">
              <a:off x="9238242" y="455540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41" name="Freihandform 40"/>
            <p:cNvSpPr/>
            <p:nvPr userDrawn="1"/>
          </p:nvSpPr>
          <p:spPr>
            <a:xfrm rot="16200000">
              <a:off x="9238242" y="138362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sp>
        <p:nvSpPr>
          <p:cNvPr id="42" name="Titel 1"/>
          <p:cNvSpPr>
            <a:spLocks noGrp="1"/>
          </p:cNvSpPr>
          <p:nvPr>
            <p:ph type="ctrTitle" hasCustomPrompt="1"/>
          </p:nvPr>
        </p:nvSpPr>
        <p:spPr bwMode="blackWhite">
          <a:xfrm>
            <a:off x="5004048" y="1203598"/>
            <a:ext cx="3456384" cy="1692188"/>
          </a:xfrm>
          <a:solidFill>
            <a:srgbClr val="EB4B0A"/>
          </a:solidFill>
        </p:spPr>
        <p:txBody>
          <a:bodyPr lIns="396000" tIns="396000" rIns="396000" bIns="432000">
            <a:noAutofit/>
          </a:bodyPr>
          <a:lstStyle>
            <a:lvl1pPr>
              <a:defRPr sz="2400" b="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Titel durch Klicken hinzufügen</a:t>
            </a:r>
          </a:p>
        </p:txBody>
      </p:sp>
      <p:sp>
        <p:nvSpPr>
          <p:cNvPr id="43" name="Fußzeilenplatzhalter 4"/>
          <p:cNvSpPr>
            <a:spLocks noGrp="1"/>
          </p:cNvSpPr>
          <p:nvPr>
            <p:ph type="ftr" sz="quarter" idx="11"/>
          </p:nvPr>
        </p:nvSpPr>
        <p:spPr bwMode="blackWhite">
          <a:xfrm>
            <a:off x="5436984" y="2340042"/>
            <a:ext cx="2844000" cy="153888"/>
          </a:xfrm>
        </p:spPr>
        <p:txBody>
          <a:bodyPr anchor="b" anchorCtr="0"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Westnetz GmbH · Name · TT Monat JJJJ</a:t>
            </a:r>
          </a:p>
        </p:txBody>
      </p:sp>
    </p:spTree>
    <p:extLst>
      <p:ext uri="{BB962C8B-B14F-4D97-AF65-F5344CB8AC3E}">
        <p14:creationId xmlns:p14="http://schemas.microsoft.com/office/powerpoint/2010/main" val="2504086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2"/>
          </p:nvPr>
        </p:nvSpPr>
        <p:spPr>
          <a:xfrm>
            <a:off x="0" y="-450"/>
            <a:ext cx="9144000" cy="514395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0" rtlCol="0">
            <a:noAutofit/>
          </a:bodyPr>
          <a:lstStyle>
            <a:lvl1pPr marL="0" indent="0" algn="ctr">
              <a:buNone/>
              <a:defRPr lang="de-DE" sz="1000" dirty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grpSp>
        <p:nvGrpSpPr>
          <p:cNvPr id="20" name="Gruppieren 19"/>
          <p:cNvGrpSpPr/>
          <p:nvPr userDrawn="1"/>
        </p:nvGrpSpPr>
        <p:grpSpPr>
          <a:xfrm>
            <a:off x="575556" y="-124966"/>
            <a:ext cx="7416824" cy="108000"/>
            <a:chOff x="575556" y="-124966"/>
            <a:chExt cx="7416824" cy="108000"/>
          </a:xfrm>
        </p:grpSpPr>
        <p:sp>
          <p:nvSpPr>
            <p:cNvPr id="21" name="Freihandform 20"/>
            <p:cNvSpPr/>
            <p:nvPr userDrawn="1"/>
          </p:nvSpPr>
          <p:spPr>
            <a:xfrm>
              <a:off x="575556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" name="Freihandform 21"/>
            <p:cNvSpPr/>
            <p:nvPr userDrawn="1"/>
          </p:nvSpPr>
          <p:spPr>
            <a:xfrm>
              <a:off x="4139952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" name="Freihandform 22"/>
            <p:cNvSpPr/>
            <p:nvPr userDrawn="1"/>
          </p:nvSpPr>
          <p:spPr>
            <a:xfrm>
              <a:off x="4427984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" name="Freihandform 29"/>
            <p:cNvSpPr/>
            <p:nvPr userDrawn="1"/>
          </p:nvSpPr>
          <p:spPr>
            <a:xfrm>
              <a:off x="7992380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31" name="Gruppieren 30"/>
          <p:cNvGrpSpPr/>
          <p:nvPr userDrawn="1"/>
        </p:nvGrpSpPr>
        <p:grpSpPr>
          <a:xfrm>
            <a:off x="575556" y="5160466"/>
            <a:ext cx="7416824" cy="108000"/>
            <a:chOff x="575556" y="5160466"/>
            <a:chExt cx="7416824" cy="108000"/>
          </a:xfrm>
        </p:grpSpPr>
        <p:sp>
          <p:nvSpPr>
            <p:cNvPr id="32" name="Freihandform 31"/>
            <p:cNvSpPr/>
            <p:nvPr userDrawn="1"/>
          </p:nvSpPr>
          <p:spPr bwMode="gray">
            <a:xfrm>
              <a:off x="575556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33" name="Freihandform 32"/>
            <p:cNvSpPr/>
            <p:nvPr userDrawn="1"/>
          </p:nvSpPr>
          <p:spPr bwMode="gray">
            <a:xfrm>
              <a:off x="4139952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34" name="Freihandform 33"/>
            <p:cNvSpPr/>
            <p:nvPr userDrawn="1"/>
          </p:nvSpPr>
          <p:spPr bwMode="gray">
            <a:xfrm>
              <a:off x="4427984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35" name="Freihandform 34"/>
            <p:cNvSpPr/>
            <p:nvPr userDrawn="1"/>
          </p:nvSpPr>
          <p:spPr bwMode="gray">
            <a:xfrm>
              <a:off x="7992380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grpSp>
        <p:nvGrpSpPr>
          <p:cNvPr id="36" name="Gruppieren 35"/>
          <p:cNvGrpSpPr/>
          <p:nvPr userDrawn="1"/>
        </p:nvGrpSpPr>
        <p:grpSpPr>
          <a:xfrm>
            <a:off x="-165953" y="1448006"/>
            <a:ext cx="144000" cy="3175980"/>
            <a:chOff x="-165953" y="1448006"/>
            <a:chExt cx="144000" cy="3175980"/>
          </a:xfrm>
        </p:grpSpPr>
        <p:sp>
          <p:nvSpPr>
            <p:cNvPr id="37" name="Freihandform 36"/>
            <p:cNvSpPr/>
            <p:nvPr/>
          </p:nvSpPr>
          <p:spPr bwMode="gray">
            <a:xfrm rot="16200000">
              <a:off x="-93953" y="455198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38" name="Freihandform 37"/>
            <p:cNvSpPr/>
            <p:nvPr/>
          </p:nvSpPr>
          <p:spPr bwMode="gray">
            <a:xfrm rot="16200000">
              <a:off x="-93953" y="137600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grpSp>
        <p:nvGrpSpPr>
          <p:cNvPr id="39" name="Gruppieren 38"/>
          <p:cNvGrpSpPr/>
          <p:nvPr userDrawn="1"/>
        </p:nvGrpSpPr>
        <p:grpSpPr>
          <a:xfrm>
            <a:off x="9166242" y="1455627"/>
            <a:ext cx="144000" cy="3171780"/>
            <a:chOff x="9166242" y="1455627"/>
            <a:chExt cx="144000" cy="3171780"/>
          </a:xfrm>
        </p:grpSpPr>
        <p:sp>
          <p:nvSpPr>
            <p:cNvPr id="40" name="Freihandform 39"/>
            <p:cNvSpPr/>
            <p:nvPr userDrawn="1"/>
          </p:nvSpPr>
          <p:spPr>
            <a:xfrm rot="16200000">
              <a:off x="9238242" y="455540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41" name="Freihandform 40"/>
            <p:cNvSpPr/>
            <p:nvPr userDrawn="1"/>
          </p:nvSpPr>
          <p:spPr>
            <a:xfrm rot="16200000">
              <a:off x="9238242" y="138362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sp>
        <p:nvSpPr>
          <p:cNvPr id="42" name="Titel 1"/>
          <p:cNvSpPr>
            <a:spLocks noGrp="1"/>
          </p:cNvSpPr>
          <p:nvPr>
            <p:ph type="ctrTitle" hasCustomPrompt="1"/>
          </p:nvPr>
        </p:nvSpPr>
        <p:spPr bwMode="blackWhite">
          <a:xfrm>
            <a:off x="791580" y="1355234"/>
            <a:ext cx="3456384" cy="1692188"/>
          </a:xfrm>
          <a:solidFill>
            <a:srgbClr val="64B42D"/>
          </a:solidFill>
        </p:spPr>
        <p:txBody>
          <a:bodyPr lIns="396000" tIns="396000" rIns="396000" bIns="432000">
            <a:noAutofit/>
          </a:bodyPr>
          <a:lstStyle>
            <a:lvl1pPr>
              <a:defRPr sz="2400" b="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Titel durch Klicken hinzufügen</a:t>
            </a:r>
          </a:p>
        </p:txBody>
      </p:sp>
      <p:sp>
        <p:nvSpPr>
          <p:cNvPr id="43" name="Fußzeilenplatzhalter 4"/>
          <p:cNvSpPr>
            <a:spLocks noGrp="1"/>
          </p:cNvSpPr>
          <p:nvPr>
            <p:ph type="ftr" sz="quarter" idx="11"/>
          </p:nvPr>
        </p:nvSpPr>
        <p:spPr bwMode="blackWhite">
          <a:xfrm>
            <a:off x="1224516" y="2491678"/>
            <a:ext cx="2844000" cy="153888"/>
          </a:xfrm>
        </p:spPr>
        <p:txBody>
          <a:bodyPr anchor="b" anchorCtr="0"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Westnetz GmbH · Name · TT Monat JJJJ</a:t>
            </a:r>
          </a:p>
        </p:txBody>
      </p:sp>
    </p:spTree>
    <p:extLst>
      <p:ext uri="{BB962C8B-B14F-4D97-AF65-F5344CB8AC3E}">
        <p14:creationId xmlns:p14="http://schemas.microsoft.com/office/powerpoint/2010/main" val="866404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uppieren 19"/>
          <p:cNvGrpSpPr/>
          <p:nvPr userDrawn="1"/>
        </p:nvGrpSpPr>
        <p:grpSpPr>
          <a:xfrm>
            <a:off x="575556" y="-124966"/>
            <a:ext cx="7416824" cy="108000"/>
            <a:chOff x="575556" y="-124966"/>
            <a:chExt cx="7416824" cy="108000"/>
          </a:xfrm>
        </p:grpSpPr>
        <p:sp>
          <p:nvSpPr>
            <p:cNvPr id="21" name="Freihandform 20"/>
            <p:cNvSpPr/>
            <p:nvPr userDrawn="1"/>
          </p:nvSpPr>
          <p:spPr>
            <a:xfrm>
              <a:off x="575556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" name="Freihandform 21"/>
            <p:cNvSpPr/>
            <p:nvPr userDrawn="1"/>
          </p:nvSpPr>
          <p:spPr>
            <a:xfrm>
              <a:off x="4139952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" name="Freihandform 22"/>
            <p:cNvSpPr/>
            <p:nvPr userDrawn="1"/>
          </p:nvSpPr>
          <p:spPr>
            <a:xfrm>
              <a:off x="4427984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" name="Freihandform 29"/>
            <p:cNvSpPr/>
            <p:nvPr userDrawn="1"/>
          </p:nvSpPr>
          <p:spPr>
            <a:xfrm>
              <a:off x="7992380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31" name="Gruppieren 30"/>
          <p:cNvGrpSpPr/>
          <p:nvPr userDrawn="1"/>
        </p:nvGrpSpPr>
        <p:grpSpPr>
          <a:xfrm>
            <a:off x="575556" y="5160466"/>
            <a:ext cx="7416824" cy="108000"/>
            <a:chOff x="575556" y="5160466"/>
            <a:chExt cx="7416824" cy="108000"/>
          </a:xfrm>
        </p:grpSpPr>
        <p:sp>
          <p:nvSpPr>
            <p:cNvPr id="32" name="Freihandform 31"/>
            <p:cNvSpPr/>
            <p:nvPr userDrawn="1"/>
          </p:nvSpPr>
          <p:spPr bwMode="gray">
            <a:xfrm>
              <a:off x="575556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33" name="Freihandform 32"/>
            <p:cNvSpPr/>
            <p:nvPr userDrawn="1"/>
          </p:nvSpPr>
          <p:spPr bwMode="gray">
            <a:xfrm>
              <a:off x="4139952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34" name="Freihandform 33"/>
            <p:cNvSpPr/>
            <p:nvPr userDrawn="1"/>
          </p:nvSpPr>
          <p:spPr bwMode="gray">
            <a:xfrm>
              <a:off x="4427984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35" name="Freihandform 34"/>
            <p:cNvSpPr/>
            <p:nvPr userDrawn="1"/>
          </p:nvSpPr>
          <p:spPr bwMode="gray">
            <a:xfrm>
              <a:off x="7992380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grpSp>
        <p:nvGrpSpPr>
          <p:cNvPr id="36" name="Gruppieren 35"/>
          <p:cNvGrpSpPr/>
          <p:nvPr userDrawn="1"/>
        </p:nvGrpSpPr>
        <p:grpSpPr>
          <a:xfrm>
            <a:off x="-165953" y="1448006"/>
            <a:ext cx="144000" cy="3175980"/>
            <a:chOff x="-165953" y="1448006"/>
            <a:chExt cx="144000" cy="3175980"/>
          </a:xfrm>
        </p:grpSpPr>
        <p:sp>
          <p:nvSpPr>
            <p:cNvPr id="37" name="Freihandform 36"/>
            <p:cNvSpPr/>
            <p:nvPr/>
          </p:nvSpPr>
          <p:spPr bwMode="gray">
            <a:xfrm rot="16200000">
              <a:off x="-93953" y="455198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38" name="Freihandform 37"/>
            <p:cNvSpPr/>
            <p:nvPr/>
          </p:nvSpPr>
          <p:spPr bwMode="gray">
            <a:xfrm rot="16200000">
              <a:off x="-93953" y="137600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grpSp>
        <p:nvGrpSpPr>
          <p:cNvPr id="39" name="Gruppieren 38"/>
          <p:cNvGrpSpPr/>
          <p:nvPr userDrawn="1"/>
        </p:nvGrpSpPr>
        <p:grpSpPr>
          <a:xfrm>
            <a:off x="9166242" y="1455627"/>
            <a:ext cx="144000" cy="3171780"/>
            <a:chOff x="9166242" y="1455627"/>
            <a:chExt cx="144000" cy="3171780"/>
          </a:xfrm>
        </p:grpSpPr>
        <p:sp>
          <p:nvSpPr>
            <p:cNvPr id="40" name="Freihandform 39"/>
            <p:cNvSpPr/>
            <p:nvPr userDrawn="1"/>
          </p:nvSpPr>
          <p:spPr>
            <a:xfrm rot="16200000">
              <a:off x="9238242" y="455540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41" name="Freihandform 40"/>
            <p:cNvSpPr/>
            <p:nvPr userDrawn="1"/>
          </p:nvSpPr>
          <p:spPr>
            <a:xfrm rot="16200000">
              <a:off x="9238242" y="138362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sp>
        <p:nvSpPr>
          <p:cNvPr id="4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3564000" y="2535238"/>
            <a:ext cx="4788420" cy="1208762"/>
          </a:xfrm>
          <a:noFill/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GB" sz="2800" b="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hinzufügen</a:t>
            </a:r>
          </a:p>
        </p:txBody>
      </p:sp>
      <p:sp>
        <p:nvSpPr>
          <p:cNvPr id="43" name="Fußzeilenplatzhalter 4"/>
          <p:cNvSpPr>
            <a:spLocks noGrp="1"/>
          </p:cNvSpPr>
          <p:nvPr>
            <p:ph type="ftr" sz="quarter" idx="11"/>
          </p:nvPr>
        </p:nvSpPr>
        <p:spPr bwMode="gray">
          <a:xfrm>
            <a:off x="3564000" y="3913911"/>
            <a:ext cx="4428380" cy="153888"/>
          </a:xfrm>
        </p:spPr>
        <p:txBody>
          <a:bodyPr anchor="t" anchorCtr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Westnetz GmbH · Name · TT Monat JJJJ</a:t>
            </a:r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1598A5CF-04FB-4037-8ED7-24AA7B2CD5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6481502" y="1462881"/>
            <a:ext cx="1905001" cy="333612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F8470F7A-9A73-4FA3-B7A2-4821678CC2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330160" y="215999"/>
            <a:ext cx="1904983" cy="351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184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06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uppieren 19"/>
          <p:cNvGrpSpPr/>
          <p:nvPr userDrawn="1"/>
        </p:nvGrpSpPr>
        <p:grpSpPr>
          <a:xfrm>
            <a:off x="575556" y="-124966"/>
            <a:ext cx="7416824" cy="108000"/>
            <a:chOff x="575556" y="-124966"/>
            <a:chExt cx="7416824" cy="108000"/>
          </a:xfrm>
        </p:grpSpPr>
        <p:sp>
          <p:nvSpPr>
            <p:cNvPr id="21" name="Freihandform 20"/>
            <p:cNvSpPr/>
            <p:nvPr userDrawn="1"/>
          </p:nvSpPr>
          <p:spPr>
            <a:xfrm>
              <a:off x="575556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  <p:sp>
          <p:nvSpPr>
            <p:cNvPr id="22" name="Freihandform 21"/>
            <p:cNvSpPr/>
            <p:nvPr userDrawn="1"/>
          </p:nvSpPr>
          <p:spPr>
            <a:xfrm>
              <a:off x="4139952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  <p:sp>
          <p:nvSpPr>
            <p:cNvPr id="23" name="Freihandform 22"/>
            <p:cNvSpPr/>
            <p:nvPr userDrawn="1"/>
          </p:nvSpPr>
          <p:spPr>
            <a:xfrm>
              <a:off x="4427984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  <p:sp>
          <p:nvSpPr>
            <p:cNvPr id="30" name="Freihandform 29"/>
            <p:cNvSpPr/>
            <p:nvPr userDrawn="1"/>
          </p:nvSpPr>
          <p:spPr>
            <a:xfrm>
              <a:off x="7992380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</p:grpSp>
      <p:grpSp>
        <p:nvGrpSpPr>
          <p:cNvPr id="31" name="Gruppieren 30"/>
          <p:cNvGrpSpPr/>
          <p:nvPr userDrawn="1"/>
        </p:nvGrpSpPr>
        <p:grpSpPr>
          <a:xfrm>
            <a:off x="575556" y="5160466"/>
            <a:ext cx="7416824" cy="108000"/>
            <a:chOff x="575556" y="5160466"/>
            <a:chExt cx="7416824" cy="108000"/>
          </a:xfrm>
        </p:grpSpPr>
        <p:sp>
          <p:nvSpPr>
            <p:cNvPr id="32" name="Freihandform 31"/>
            <p:cNvSpPr/>
            <p:nvPr userDrawn="1"/>
          </p:nvSpPr>
          <p:spPr bwMode="gray">
            <a:xfrm>
              <a:off x="575556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  <p:sp>
          <p:nvSpPr>
            <p:cNvPr id="33" name="Freihandform 32"/>
            <p:cNvSpPr/>
            <p:nvPr userDrawn="1"/>
          </p:nvSpPr>
          <p:spPr bwMode="gray">
            <a:xfrm>
              <a:off x="4139952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  <p:sp>
          <p:nvSpPr>
            <p:cNvPr id="34" name="Freihandform 33"/>
            <p:cNvSpPr/>
            <p:nvPr userDrawn="1"/>
          </p:nvSpPr>
          <p:spPr bwMode="gray">
            <a:xfrm>
              <a:off x="4427984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  <p:sp>
          <p:nvSpPr>
            <p:cNvPr id="35" name="Freihandform 34"/>
            <p:cNvSpPr/>
            <p:nvPr userDrawn="1"/>
          </p:nvSpPr>
          <p:spPr bwMode="gray">
            <a:xfrm>
              <a:off x="7992380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</p:grpSp>
      <p:grpSp>
        <p:nvGrpSpPr>
          <p:cNvPr id="36" name="Gruppieren 35"/>
          <p:cNvGrpSpPr/>
          <p:nvPr userDrawn="1"/>
        </p:nvGrpSpPr>
        <p:grpSpPr>
          <a:xfrm>
            <a:off x="-165953" y="1448006"/>
            <a:ext cx="144000" cy="3175980"/>
            <a:chOff x="-165953" y="1448006"/>
            <a:chExt cx="144000" cy="3175980"/>
          </a:xfrm>
        </p:grpSpPr>
        <p:sp>
          <p:nvSpPr>
            <p:cNvPr id="37" name="Freihandform 36"/>
            <p:cNvSpPr/>
            <p:nvPr/>
          </p:nvSpPr>
          <p:spPr bwMode="gray">
            <a:xfrm rot="16200000">
              <a:off x="-93953" y="455198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  <p:sp>
          <p:nvSpPr>
            <p:cNvPr id="38" name="Freihandform 37"/>
            <p:cNvSpPr/>
            <p:nvPr/>
          </p:nvSpPr>
          <p:spPr bwMode="gray">
            <a:xfrm rot="16200000">
              <a:off x="-93953" y="137600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</p:grpSp>
      <p:grpSp>
        <p:nvGrpSpPr>
          <p:cNvPr id="39" name="Gruppieren 38"/>
          <p:cNvGrpSpPr/>
          <p:nvPr userDrawn="1"/>
        </p:nvGrpSpPr>
        <p:grpSpPr>
          <a:xfrm>
            <a:off x="9166242" y="1455627"/>
            <a:ext cx="144000" cy="3171780"/>
            <a:chOff x="9166242" y="1455627"/>
            <a:chExt cx="144000" cy="3171780"/>
          </a:xfrm>
        </p:grpSpPr>
        <p:sp>
          <p:nvSpPr>
            <p:cNvPr id="40" name="Freihandform 39"/>
            <p:cNvSpPr/>
            <p:nvPr userDrawn="1"/>
          </p:nvSpPr>
          <p:spPr>
            <a:xfrm rot="16200000">
              <a:off x="9238242" y="455540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  <p:sp>
          <p:nvSpPr>
            <p:cNvPr id="41" name="Freihandform 40"/>
            <p:cNvSpPr/>
            <p:nvPr userDrawn="1"/>
          </p:nvSpPr>
          <p:spPr>
            <a:xfrm rot="16200000">
              <a:off x="9238242" y="138362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</p:grpSp>
      <p:sp>
        <p:nvSpPr>
          <p:cNvPr id="42" name="Titel 1"/>
          <p:cNvSpPr>
            <a:spLocks noGrp="1"/>
          </p:cNvSpPr>
          <p:nvPr>
            <p:ph type="ctrTitle" hasCustomPrompt="1"/>
          </p:nvPr>
        </p:nvSpPr>
        <p:spPr bwMode="blackWhite">
          <a:xfrm>
            <a:off x="3563888" y="2535238"/>
            <a:ext cx="4788000" cy="1208862"/>
          </a:xfrm>
          <a:noFill/>
        </p:spPr>
        <p:txBody>
          <a:bodyPr lIns="0" tIns="0" rIns="0" bIns="0" anchor="b" anchorCtr="0">
            <a:no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Titel durch Klicken hinzufügen</a:t>
            </a:r>
          </a:p>
        </p:txBody>
      </p:sp>
      <p:sp>
        <p:nvSpPr>
          <p:cNvPr id="43" name="Fußzeilenplatzhalter 4"/>
          <p:cNvSpPr>
            <a:spLocks noGrp="1"/>
          </p:cNvSpPr>
          <p:nvPr>
            <p:ph type="ftr" sz="quarter" idx="11"/>
          </p:nvPr>
        </p:nvSpPr>
        <p:spPr bwMode="blackWhite">
          <a:xfrm>
            <a:off x="3564000" y="3913911"/>
            <a:ext cx="4428380" cy="153888"/>
          </a:xfrm>
        </p:spPr>
        <p:txBody>
          <a:bodyPr anchor="t" anchorCtr="0"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Westnetz GmbH · Name · TT Monat JJJJ</a:t>
            </a: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F6FDA8EC-6F7D-472D-AF01-8FC1A2CE3A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6481502" y="1462881"/>
            <a:ext cx="1905001" cy="333612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B3ED9B74-CA29-41AF-B071-78A8AF5600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330160" y="215999"/>
            <a:ext cx="1904979" cy="35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596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ruck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5441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Bildschirm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uppieren 23"/>
          <p:cNvGrpSpPr/>
          <p:nvPr userDrawn="1"/>
        </p:nvGrpSpPr>
        <p:grpSpPr>
          <a:xfrm>
            <a:off x="575556" y="-124966"/>
            <a:ext cx="7416824" cy="108000"/>
            <a:chOff x="575556" y="-124966"/>
            <a:chExt cx="7416824" cy="108000"/>
          </a:xfrm>
        </p:grpSpPr>
        <p:sp>
          <p:nvSpPr>
            <p:cNvPr id="25" name="Freihandform 24"/>
            <p:cNvSpPr/>
            <p:nvPr userDrawn="1"/>
          </p:nvSpPr>
          <p:spPr>
            <a:xfrm>
              <a:off x="575556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6" name="Freihandform 25"/>
            <p:cNvSpPr/>
            <p:nvPr userDrawn="1"/>
          </p:nvSpPr>
          <p:spPr>
            <a:xfrm>
              <a:off x="4139952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7" name="Freihandform 26"/>
            <p:cNvSpPr/>
            <p:nvPr userDrawn="1"/>
          </p:nvSpPr>
          <p:spPr>
            <a:xfrm>
              <a:off x="4427984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8" name="Freihandform 27"/>
            <p:cNvSpPr/>
            <p:nvPr userDrawn="1"/>
          </p:nvSpPr>
          <p:spPr>
            <a:xfrm>
              <a:off x="7992380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grpSp>
        <p:nvGrpSpPr>
          <p:cNvPr id="29" name="Gruppieren 28"/>
          <p:cNvGrpSpPr/>
          <p:nvPr userDrawn="1"/>
        </p:nvGrpSpPr>
        <p:grpSpPr>
          <a:xfrm>
            <a:off x="575556" y="5160466"/>
            <a:ext cx="7416824" cy="108000"/>
            <a:chOff x="575556" y="5160466"/>
            <a:chExt cx="7416824" cy="108000"/>
          </a:xfrm>
        </p:grpSpPr>
        <p:sp>
          <p:nvSpPr>
            <p:cNvPr id="30" name="Freihandform 29"/>
            <p:cNvSpPr/>
            <p:nvPr userDrawn="1"/>
          </p:nvSpPr>
          <p:spPr bwMode="gray">
            <a:xfrm>
              <a:off x="575556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  <p:sp>
          <p:nvSpPr>
            <p:cNvPr id="31" name="Freihandform 30"/>
            <p:cNvSpPr/>
            <p:nvPr userDrawn="1"/>
          </p:nvSpPr>
          <p:spPr bwMode="gray">
            <a:xfrm>
              <a:off x="4139952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  <p:sp>
          <p:nvSpPr>
            <p:cNvPr id="32" name="Freihandform 31"/>
            <p:cNvSpPr/>
            <p:nvPr userDrawn="1"/>
          </p:nvSpPr>
          <p:spPr bwMode="gray">
            <a:xfrm>
              <a:off x="4427984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  <p:sp>
          <p:nvSpPr>
            <p:cNvPr id="33" name="Freihandform 32"/>
            <p:cNvSpPr/>
            <p:nvPr userDrawn="1"/>
          </p:nvSpPr>
          <p:spPr bwMode="gray">
            <a:xfrm>
              <a:off x="7992380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</p:grpSp>
      <p:grpSp>
        <p:nvGrpSpPr>
          <p:cNvPr id="34" name="Gruppieren 33"/>
          <p:cNvGrpSpPr/>
          <p:nvPr userDrawn="1"/>
        </p:nvGrpSpPr>
        <p:grpSpPr>
          <a:xfrm>
            <a:off x="-165953" y="1448006"/>
            <a:ext cx="144000" cy="3175980"/>
            <a:chOff x="-165953" y="1448006"/>
            <a:chExt cx="144000" cy="3175980"/>
          </a:xfrm>
        </p:grpSpPr>
        <p:sp>
          <p:nvSpPr>
            <p:cNvPr id="35" name="Freihandform 34"/>
            <p:cNvSpPr/>
            <p:nvPr/>
          </p:nvSpPr>
          <p:spPr bwMode="gray">
            <a:xfrm rot="16200000">
              <a:off x="-93953" y="455198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  <p:sp>
          <p:nvSpPr>
            <p:cNvPr id="36" name="Freihandform 35"/>
            <p:cNvSpPr/>
            <p:nvPr/>
          </p:nvSpPr>
          <p:spPr bwMode="gray">
            <a:xfrm rot="16200000">
              <a:off x="-93953" y="137600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</p:grpSp>
      <p:grpSp>
        <p:nvGrpSpPr>
          <p:cNvPr id="37" name="Gruppieren 36"/>
          <p:cNvGrpSpPr/>
          <p:nvPr userDrawn="1"/>
        </p:nvGrpSpPr>
        <p:grpSpPr>
          <a:xfrm>
            <a:off x="9166242" y="1455627"/>
            <a:ext cx="144000" cy="3171780"/>
            <a:chOff x="9166242" y="1455627"/>
            <a:chExt cx="144000" cy="3171780"/>
          </a:xfrm>
        </p:grpSpPr>
        <p:sp>
          <p:nvSpPr>
            <p:cNvPr id="38" name="Freihandform 37"/>
            <p:cNvSpPr/>
            <p:nvPr userDrawn="1"/>
          </p:nvSpPr>
          <p:spPr>
            <a:xfrm rot="16200000">
              <a:off x="9238242" y="455540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  <p:sp>
          <p:nvSpPr>
            <p:cNvPr id="39" name="Freihandform 38"/>
            <p:cNvSpPr/>
            <p:nvPr userDrawn="1"/>
          </p:nvSpPr>
          <p:spPr>
            <a:xfrm rot="16200000">
              <a:off x="9238242" y="138362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</p:grpSp>
      <p:pic>
        <p:nvPicPr>
          <p:cNvPr id="20" name="Grafik 19">
            <a:extLst>
              <a:ext uri="{FF2B5EF4-FFF2-40B4-BE49-F238E27FC236}">
                <a16:creationId xmlns:a16="http://schemas.microsoft.com/office/drawing/2014/main" id="{16A1D19D-783E-487C-AC22-90958F376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8085600" y="273442"/>
            <a:ext cx="860400" cy="150677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116F5688-64D6-4270-871E-C395B83F607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8084079" y="4710271"/>
            <a:ext cx="861920" cy="159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657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nnchart Dru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365EF8B5-AEF8-468F-AD7D-1AB905AE7CA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29354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365EF8B5-AEF8-468F-AD7D-1AB905AE7C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black">
          <a:xfrm>
            <a:off x="3028464" y="1877536"/>
            <a:ext cx="4964599" cy="664797"/>
          </a:xfrm>
        </p:spPr>
        <p:txBody>
          <a:bodyPr anchor="b"/>
          <a:lstStyle>
            <a:lvl1pPr>
              <a:defRPr sz="4800" b="0" cap="all" baseline="0">
                <a:solidFill>
                  <a:srgbClr val="E60055"/>
                </a:solidFill>
              </a:defRPr>
            </a:lvl1pPr>
          </a:lstStyle>
          <a:p>
            <a:r>
              <a:rPr lang="de-DE" noProof="0" dirty="0" err="1"/>
              <a:t>trennfolie</a:t>
            </a:r>
            <a:endParaRPr lang="de-DE" noProof="0" dirty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/>
          </p:nvPr>
        </p:nvSpPr>
        <p:spPr>
          <a:xfrm>
            <a:off x="3027966" y="2568551"/>
            <a:ext cx="4963255" cy="430887"/>
          </a:xfr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de-DE" sz="2800" b="0" cap="none" baseline="0" smtClean="0">
                <a:latin typeface="+mj-lt"/>
                <a:ea typeface="+mj-ea"/>
                <a:cs typeface="+mj-cs"/>
              </a:defRPr>
            </a:lvl1pPr>
            <a:lvl2pPr>
              <a:defRPr lang="de-DE" sz="1800" smtClean="0"/>
            </a:lvl2pPr>
            <a:lvl3pPr>
              <a:defRPr lang="de-DE" sz="1800" smtClean="0"/>
            </a:lvl3pPr>
            <a:lvl4pPr>
              <a:defRPr lang="de-DE" sz="1800" smtClean="0"/>
            </a:lvl4pPr>
            <a:lvl5pPr>
              <a:defRPr lang="de-DE" sz="1800"/>
            </a:lvl5pPr>
          </a:lstStyle>
          <a:p>
            <a:pPr lvl="0"/>
            <a:r>
              <a:rPr lang="de-DE" sz="2800" cap="none" baseline="0" noProof="0">
                <a:solidFill>
                  <a:schemeClr val="tx1"/>
                </a:solidFill>
              </a:rPr>
              <a:t>Mastertextformat bearbeiten
Zweite Ebene
Dritte Ebene
Vierte Ebene
Fünfte Ebene</a:t>
            </a:r>
            <a:endParaRPr lang="de-DE" sz="2800" cap="none" baseline="0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2267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ennchart Bildschirm">
    <p:bg>
      <p:bgPr>
        <a:solidFill>
          <a:srgbClr val="005F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black">
          <a:xfrm>
            <a:off x="3028464" y="1877536"/>
            <a:ext cx="4964599" cy="664797"/>
          </a:xfrm>
        </p:spPr>
        <p:txBody>
          <a:bodyPr anchor="b"/>
          <a:lstStyle>
            <a:lvl1pPr>
              <a:defRPr sz="4800" b="0" cap="all" baseline="0">
                <a:solidFill>
                  <a:srgbClr val="E60055"/>
                </a:solidFill>
              </a:defRPr>
            </a:lvl1pPr>
          </a:lstStyle>
          <a:p>
            <a:r>
              <a:rPr lang="de-DE" noProof="0" dirty="0"/>
              <a:t>Trennfolie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/>
          </p:nvPr>
        </p:nvSpPr>
        <p:spPr>
          <a:xfrm>
            <a:off x="3027966" y="2568551"/>
            <a:ext cx="4963255" cy="430887"/>
          </a:xfr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de-DE" sz="2800" b="0" cap="none" baseline="0" smtClean="0">
                <a:latin typeface="+mj-lt"/>
                <a:ea typeface="+mj-ea"/>
                <a:cs typeface="+mj-cs"/>
              </a:defRPr>
            </a:lvl1pPr>
            <a:lvl2pPr>
              <a:defRPr lang="de-DE" sz="1800" smtClean="0"/>
            </a:lvl2pPr>
            <a:lvl3pPr>
              <a:defRPr lang="de-DE" sz="1800" smtClean="0"/>
            </a:lvl3pPr>
            <a:lvl4pPr>
              <a:defRPr lang="de-DE" sz="1800" smtClean="0"/>
            </a:lvl4pPr>
            <a:lvl5pPr>
              <a:defRPr lang="de-DE" sz="1800"/>
            </a:lvl5pPr>
          </a:lstStyle>
          <a:p>
            <a:pPr lvl="0"/>
            <a:r>
              <a:rPr lang="de-DE" sz="2800" cap="none" baseline="0" noProof="0">
                <a:solidFill>
                  <a:schemeClr val="tx1"/>
                </a:solidFill>
              </a:rPr>
              <a:t>Mastertextformat bearbeiten
Zweite Ebene
Dritte Ebene
Vierte Ebene
Fünfte Ebene</a:t>
            </a:r>
            <a:endParaRPr lang="de-DE" sz="2800" cap="none" baseline="0" noProof="0" dirty="0">
              <a:solidFill>
                <a:schemeClr val="tx1"/>
              </a:solidFill>
            </a:endParaRPr>
          </a:p>
        </p:txBody>
      </p:sp>
      <p:grpSp>
        <p:nvGrpSpPr>
          <p:cNvPr id="28" name="Gruppieren 27"/>
          <p:cNvGrpSpPr/>
          <p:nvPr userDrawn="1"/>
        </p:nvGrpSpPr>
        <p:grpSpPr>
          <a:xfrm>
            <a:off x="575556" y="-124966"/>
            <a:ext cx="7416824" cy="108000"/>
            <a:chOff x="575556" y="-124966"/>
            <a:chExt cx="7416824" cy="108000"/>
          </a:xfrm>
        </p:grpSpPr>
        <p:sp>
          <p:nvSpPr>
            <p:cNvPr id="29" name="Freihandform 28"/>
            <p:cNvSpPr/>
            <p:nvPr userDrawn="1"/>
          </p:nvSpPr>
          <p:spPr>
            <a:xfrm>
              <a:off x="575556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30" name="Freihandform 29"/>
            <p:cNvSpPr/>
            <p:nvPr userDrawn="1"/>
          </p:nvSpPr>
          <p:spPr>
            <a:xfrm>
              <a:off x="4139952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31" name="Freihandform 30"/>
            <p:cNvSpPr/>
            <p:nvPr userDrawn="1"/>
          </p:nvSpPr>
          <p:spPr>
            <a:xfrm>
              <a:off x="4427984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32" name="Freihandform 31"/>
            <p:cNvSpPr/>
            <p:nvPr userDrawn="1"/>
          </p:nvSpPr>
          <p:spPr>
            <a:xfrm>
              <a:off x="7992380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grpSp>
        <p:nvGrpSpPr>
          <p:cNvPr id="33" name="Gruppieren 32"/>
          <p:cNvGrpSpPr/>
          <p:nvPr userDrawn="1"/>
        </p:nvGrpSpPr>
        <p:grpSpPr>
          <a:xfrm>
            <a:off x="575556" y="5160466"/>
            <a:ext cx="7416824" cy="108000"/>
            <a:chOff x="575556" y="5160466"/>
            <a:chExt cx="7416824" cy="108000"/>
          </a:xfrm>
        </p:grpSpPr>
        <p:sp>
          <p:nvSpPr>
            <p:cNvPr id="34" name="Freihandform 33"/>
            <p:cNvSpPr/>
            <p:nvPr userDrawn="1"/>
          </p:nvSpPr>
          <p:spPr bwMode="gray">
            <a:xfrm>
              <a:off x="575556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  <p:sp>
          <p:nvSpPr>
            <p:cNvPr id="35" name="Freihandform 34"/>
            <p:cNvSpPr/>
            <p:nvPr userDrawn="1"/>
          </p:nvSpPr>
          <p:spPr bwMode="gray">
            <a:xfrm>
              <a:off x="4139952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  <p:sp>
          <p:nvSpPr>
            <p:cNvPr id="36" name="Freihandform 35"/>
            <p:cNvSpPr/>
            <p:nvPr userDrawn="1"/>
          </p:nvSpPr>
          <p:spPr bwMode="gray">
            <a:xfrm>
              <a:off x="4427984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  <p:sp>
          <p:nvSpPr>
            <p:cNvPr id="37" name="Freihandform 36"/>
            <p:cNvSpPr/>
            <p:nvPr userDrawn="1"/>
          </p:nvSpPr>
          <p:spPr bwMode="gray">
            <a:xfrm>
              <a:off x="7992380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</p:grpSp>
      <p:grpSp>
        <p:nvGrpSpPr>
          <p:cNvPr id="38" name="Gruppieren 37"/>
          <p:cNvGrpSpPr/>
          <p:nvPr userDrawn="1"/>
        </p:nvGrpSpPr>
        <p:grpSpPr>
          <a:xfrm>
            <a:off x="-165953" y="1448006"/>
            <a:ext cx="144000" cy="3175980"/>
            <a:chOff x="-165953" y="1448006"/>
            <a:chExt cx="144000" cy="3175980"/>
          </a:xfrm>
        </p:grpSpPr>
        <p:sp>
          <p:nvSpPr>
            <p:cNvPr id="39" name="Freihandform 38"/>
            <p:cNvSpPr/>
            <p:nvPr/>
          </p:nvSpPr>
          <p:spPr bwMode="gray">
            <a:xfrm rot="16200000">
              <a:off x="-93953" y="455198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  <p:sp>
          <p:nvSpPr>
            <p:cNvPr id="40" name="Freihandform 39"/>
            <p:cNvSpPr/>
            <p:nvPr/>
          </p:nvSpPr>
          <p:spPr bwMode="gray">
            <a:xfrm rot="16200000">
              <a:off x="-93953" y="137600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</p:grpSp>
      <p:grpSp>
        <p:nvGrpSpPr>
          <p:cNvPr id="41" name="Gruppieren 40"/>
          <p:cNvGrpSpPr/>
          <p:nvPr userDrawn="1"/>
        </p:nvGrpSpPr>
        <p:grpSpPr>
          <a:xfrm>
            <a:off x="9166242" y="1455627"/>
            <a:ext cx="144000" cy="3171780"/>
            <a:chOff x="9166242" y="1455627"/>
            <a:chExt cx="144000" cy="3171780"/>
          </a:xfrm>
        </p:grpSpPr>
        <p:sp>
          <p:nvSpPr>
            <p:cNvPr id="42" name="Freihandform 41"/>
            <p:cNvSpPr/>
            <p:nvPr userDrawn="1"/>
          </p:nvSpPr>
          <p:spPr>
            <a:xfrm rot="16200000">
              <a:off x="9238242" y="455540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  <p:sp>
          <p:nvSpPr>
            <p:cNvPr id="43" name="Freihandform 42"/>
            <p:cNvSpPr/>
            <p:nvPr userDrawn="1"/>
          </p:nvSpPr>
          <p:spPr>
            <a:xfrm rot="16200000">
              <a:off x="9238242" y="138362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</p:grpSp>
      <p:pic>
        <p:nvPicPr>
          <p:cNvPr id="22" name="Grafik 21">
            <a:extLst>
              <a:ext uri="{FF2B5EF4-FFF2-40B4-BE49-F238E27FC236}">
                <a16:creationId xmlns:a16="http://schemas.microsoft.com/office/drawing/2014/main" id="{F53463B1-F665-4466-9B2A-C859B565C8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8085600" y="273442"/>
            <a:ext cx="860400" cy="150677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024F050C-ADB9-48C7-81E4-D6F41152542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8084079" y="4710271"/>
            <a:ext cx="861920" cy="159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542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DB20AECB-6C66-4FA9-A95E-2611405C4B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637087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DB20AECB-6C66-4FA9-A95E-2611405C4B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 hidden="1">
            <a:extLst>
              <a:ext uri="{FF2B5EF4-FFF2-40B4-BE49-F238E27FC236}">
                <a16:creationId xmlns:a16="http://schemas.microsoft.com/office/drawing/2014/main" id="{3F8E83C3-C999-4914-94BA-C50E0EDCF59B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solidFill>
            <a:srgbClr val="64B42D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l">
              <a:spcBef>
                <a:spcPts val="600"/>
              </a:spcBef>
              <a:buFont typeface="Arial" panose="020B0604020202020204" pitchFamily="34" charset="0"/>
              <a:buNone/>
            </a:pPr>
            <a:endParaRPr lang="de-DE" sz="2600" b="0" i="0" baseline="0" dirty="0" err="1">
              <a:solidFill>
                <a:schemeClr val="bg1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75556" y="531479"/>
            <a:ext cx="6840000" cy="360099"/>
          </a:xfrm>
        </p:spPr>
        <p:txBody>
          <a:bodyPr/>
          <a:lstStyle/>
          <a:p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noProof="0" dirty="0"/>
              <a:t>Westnetz GmbH · Name · TT Monat JJJJ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5F51B1-EF07-4A0A-8ED6-43388CBBB34F}" type="slidenum">
              <a:rPr lang="de-DE" noProof="0" smtClean="0"/>
              <a:pPr/>
              <a:t>‹Nr.›</a:t>
            </a:fld>
            <a:endParaRPr lang="de-DE" noProof="0" dirty="0"/>
          </a:p>
        </p:txBody>
      </p:sp>
      <p:sp>
        <p:nvSpPr>
          <p:cNvPr id="13" name="Textplatzhalter 8"/>
          <p:cNvSpPr>
            <a:spLocks noGrp="1"/>
          </p:cNvSpPr>
          <p:nvPr>
            <p:ph type="body" sz="quarter" idx="14" hasCustomPrompt="1"/>
          </p:nvPr>
        </p:nvSpPr>
        <p:spPr>
          <a:xfrm>
            <a:off x="575999" y="252000"/>
            <a:ext cx="6840000" cy="215444"/>
          </a:xfrm>
        </p:spPr>
        <p:txBody>
          <a:bodyPr anchor="ctr" anchorCtr="0"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Kapitelname</a:t>
            </a:r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5" hasCustomPrompt="1"/>
          </p:nvPr>
        </p:nvSpPr>
        <p:spPr>
          <a:xfrm>
            <a:off x="576263" y="1404000"/>
            <a:ext cx="7416800" cy="322038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Vierte Ebene</a:t>
            </a:r>
          </a:p>
          <a:p>
            <a:pPr lvl="2"/>
            <a:r>
              <a:rPr lang="de-DE" noProof="0" dirty="0"/>
              <a:t>Fünfte Ebene</a:t>
            </a:r>
          </a:p>
          <a:p>
            <a:pPr lvl="3"/>
            <a:r>
              <a:rPr lang="de-DE" noProof="0" dirty="0"/>
              <a:t>Erste Ebene</a:t>
            </a:r>
          </a:p>
          <a:p>
            <a:pPr lvl="4"/>
            <a:r>
              <a:rPr lang="de-DE" noProof="0" dirty="0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16909336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0D0A2B70-5DDD-46C0-B676-B52EA2E722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696671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0D0A2B70-5DDD-46C0-B676-B52EA2E722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 hidden="1">
            <a:extLst>
              <a:ext uri="{FF2B5EF4-FFF2-40B4-BE49-F238E27FC236}">
                <a16:creationId xmlns:a16="http://schemas.microsoft.com/office/drawing/2014/main" id="{878923E8-D18F-493D-BAF7-4177C8507649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solidFill>
            <a:srgbClr val="64B42D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l">
              <a:spcBef>
                <a:spcPts val="600"/>
              </a:spcBef>
              <a:buFont typeface="Arial" panose="020B0604020202020204" pitchFamily="34" charset="0"/>
              <a:buNone/>
            </a:pPr>
            <a:endParaRPr lang="de-DE" sz="2600" b="0" i="0" baseline="0" dirty="0" err="1">
              <a:solidFill>
                <a:schemeClr val="bg1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75556" y="531479"/>
            <a:ext cx="6840000" cy="360099"/>
          </a:xfrm>
        </p:spPr>
        <p:txBody>
          <a:bodyPr/>
          <a:lstStyle/>
          <a:p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noProof="0" dirty="0"/>
              <a:t>Westnetz GmbH · Name · TT Monat JJJJ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5F51B1-EF07-4A0A-8ED6-43388CBBB34F}" type="slidenum">
              <a:rPr lang="de-DE" noProof="0" smtClean="0"/>
              <a:pPr/>
              <a:t>‹Nr.›</a:t>
            </a:fld>
            <a:endParaRPr lang="de-DE" noProof="0" dirty="0"/>
          </a:p>
        </p:txBody>
      </p:sp>
      <p:sp>
        <p:nvSpPr>
          <p:cNvPr id="13" name="Textplatzhalter 8"/>
          <p:cNvSpPr>
            <a:spLocks noGrp="1"/>
          </p:cNvSpPr>
          <p:nvPr>
            <p:ph type="body" sz="quarter" idx="14" hasCustomPrompt="1"/>
          </p:nvPr>
        </p:nvSpPr>
        <p:spPr>
          <a:xfrm>
            <a:off x="575999" y="252000"/>
            <a:ext cx="6840000" cy="215444"/>
          </a:xfrm>
        </p:spPr>
        <p:txBody>
          <a:bodyPr anchor="ctr" anchorCtr="0"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Kapitelname</a:t>
            </a:r>
          </a:p>
        </p:txBody>
      </p:sp>
    </p:spTree>
    <p:extLst>
      <p:ext uri="{BB962C8B-B14F-4D97-AF65-F5344CB8AC3E}">
        <p14:creationId xmlns:p14="http://schemas.microsoft.com/office/powerpoint/2010/main" val="2569498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 links, Text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4C54A1DB-7F27-46FA-9306-37D13DBCEA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40683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4C54A1DB-7F27-46FA-9306-37D13DBCEA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 hidden="1">
            <a:extLst>
              <a:ext uri="{FF2B5EF4-FFF2-40B4-BE49-F238E27FC236}">
                <a16:creationId xmlns:a16="http://schemas.microsoft.com/office/drawing/2014/main" id="{3F4FDF2C-5DBA-4006-92B2-482E75F1DD46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solidFill>
            <a:srgbClr val="64B42D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l">
              <a:spcBef>
                <a:spcPts val="600"/>
              </a:spcBef>
              <a:buFont typeface="Arial" panose="020B0604020202020204" pitchFamily="34" charset="0"/>
              <a:buNone/>
            </a:pPr>
            <a:endParaRPr lang="de-DE" sz="2600" b="0" i="0" baseline="0" dirty="0" err="1">
              <a:solidFill>
                <a:schemeClr val="bg1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75556" y="531479"/>
            <a:ext cx="6840000" cy="360099"/>
          </a:xfrm>
        </p:spPr>
        <p:txBody>
          <a:bodyPr/>
          <a:lstStyle/>
          <a:p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noProof="0" dirty="0"/>
              <a:t>Westnetz GmbH · Name · TT Monat JJJJ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5F51B1-EF07-4A0A-8ED6-43388CBBB34F}" type="slidenum">
              <a:rPr lang="de-DE" noProof="0" smtClean="0"/>
              <a:pPr/>
              <a:t>‹Nr.›</a:t>
            </a:fld>
            <a:endParaRPr lang="de-DE" noProof="0" dirty="0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2"/>
          </p:nvPr>
        </p:nvSpPr>
        <p:spPr>
          <a:xfrm>
            <a:off x="576263" y="1455738"/>
            <a:ext cx="3563937" cy="2952000"/>
          </a:xfrm>
          <a:blipFill>
            <a:blip r:embed="rId6"/>
            <a:stretch>
              <a:fillRect/>
            </a:stretch>
          </a:blipFill>
        </p:spPr>
        <p:txBody>
          <a:bodyPr vert="horz" wrap="square" lIns="0" tIns="0" rIns="0" bIns="0" rtlCol="0">
            <a:noAutofit/>
          </a:bodyPr>
          <a:lstStyle>
            <a:lvl1pPr marL="0" indent="0" algn="ctr">
              <a:buNone/>
              <a:defRPr lang="de-DE"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idx="13" hasCustomPrompt="1"/>
          </p:nvPr>
        </p:nvSpPr>
        <p:spPr bwMode="gray">
          <a:xfrm>
            <a:off x="575556" y="4475240"/>
            <a:ext cx="356552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de-DE" noProof="0" dirty="0"/>
              <a:t>Optionale Bildunterschrift in Schwarz oder in Farbe</a:t>
            </a:r>
          </a:p>
        </p:txBody>
      </p:sp>
      <p:sp>
        <p:nvSpPr>
          <p:cNvPr id="13" name="Textplatzhalter 8"/>
          <p:cNvSpPr>
            <a:spLocks noGrp="1"/>
          </p:cNvSpPr>
          <p:nvPr>
            <p:ph type="body" sz="quarter" idx="14" hasCustomPrompt="1"/>
          </p:nvPr>
        </p:nvSpPr>
        <p:spPr>
          <a:xfrm>
            <a:off x="575999" y="252000"/>
            <a:ext cx="6840000" cy="215444"/>
          </a:xfrm>
        </p:spPr>
        <p:txBody>
          <a:bodyPr anchor="ctr" anchorCtr="0"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Kapitelname</a:t>
            </a:r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4427538" y="1404000"/>
            <a:ext cx="3565525" cy="322038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Vierte Ebene</a:t>
            </a:r>
          </a:p>
          <a:p>
            <a:pPr lvl="2"/>
            <a:r>
              <a:rPr lang="de-DE" noProof="0" dirty="0"/>
              <a:t>Fünfte Ebene</a:t>
            </a:r>
          </a:p>
          <a:p>
            <a:pPr lvl="3"/>
            <a:r>
              <a:rPr lang="de-DE" noProof="0" dirty="0"/>
              <a:t>Erste Ebene</a:t>
            </a:r>
          </a:p>
          <a:p>
            <a:pPr lvl="4"/>
            <a:r>
              <a:rPr lang="de-DE" noProof="0" dirty="0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35283290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2/3 Bild und 1/3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65C404D7-E007-4334-A0E0-B33D1FFEBC5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064252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65C404D7-E007-4334-A0E0-B33D1FFEBC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 hidden="1">
            <a:extLst>
              <a:ext uri="{FF2B5EF4-FFF2-40B4-BE49-F238E27FC236}">
                <a16:creationId xmlns:a16="http://schemas.microsoft.com/office/drawing/2014/main" id="{7A9924E8-1AD4-4298-8609-F13EB107A2C0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solidFill>
            <a:srgbClr val="64B42D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l">
              <a:spcBef>
                <a:spcPts val="600"/>
              </a:spcBef>
              <a:buFont typeface="Arial" panose="020B0604020202020204" pitchFamily="34" charset="0"/>
              <a:buNone/>
            </a:pPr>
            <a:endParaRPr lang="de-DE" sz="2600" b="0" i="0" baseline="0" dirty="0" err="1">
              <a:solidFill>
                <a:schemeClr val="bg1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75556" y="531479"/>
            <a:ext cx="6840000" cy="360099"/>
          </a:xfrm>
        </p:spPr>
        <p:txBody>
          <a:bodyPr/>
          <a:lstStyle/>
          <a:p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noProof="0" dirty="0"/>
              <a:t>Westnetz GmbH · Name · TT Monat JJJJ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5F51B1-EF07-4A0A-8ED6-43388CBBB34F}" type="slidenum">
              <a:rPr lang="de-DE" noProof="0" smtClean="0"/>
              <a:pPr/>
              <a:t>‹Nr.›</a:t>
            </a:fld>
            <a:endParaRPr lang="de-DE" noProof="0" dirty="0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2"/>
          </p:nvPr>
        </p:nvSpPr>
        <p:spPr>
          <a:xfrm>
            <a:off x="576263" y="1455738"/>
            <a:ext cx="4751821" cy="2952000"/>
          </a:xfrm>
          <a:blipFill>
            <a:blip r:embed="rId6"/>
            <a:stretch>
              <a:fillRect/>
            </a:stretch>
          </a:blipFill>
        </p:spPr>
        <p:txBody>
          <a:bodyPr vert="horz" wrap="square" lIns="0" tIns="0" rIns="0" bIns="0" rtlCol="0">
            <a:noAutofit/>
          </a:bodyPr>
          <a:lstStyle>
            <a:lvl1pPr marL="0" indent="0" algn="ctr">
              <a:buNone/>
              <a:defRPr lang="de-DE"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idx="13" hasCustomPrompt="1"/>
          </p:nvPr>
        </p:nvSpPr>
        <p:spPr bwMode="gray">
          <a:xfrm>
            <a:off x="575555" y="4475240"/>
            <a:ext cx="475200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de-DE" noProof="0" dirty="0"/>
              <a:t>Optionale Bildunterschrift in Schwarz oder in Farbe</a:t>
            </a:r>
          </a:p>
        </p:txBody>
      </p:sp>
      <p:sp>
        <p:nvSpPr>
          <p:cNvPr id="13" name="Textplatzhalter 8"/>
          <p:cNvSpPr>
            <a:spLocks noGrp="1"/>
          </p:cNvSpPr>
          <p:nvPr>
            <p:ph type="body" sz="quarter" idx="14" hasCustomPrompt="1"/>
          </p:nvPr>
        </p:nvSpPr>
        <p:spPr>
          <a:xfrm>
            <a:off x="575999" y="252000"/>
            <a:ext cx="6840000" cy="215444"/>
          </a:xfrm>
        </p:spPr>
        <p:txBody>
          <a:bodyPr anchor="ctr" anchorCtr="0"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Kapitelname</a:t>
            </a:r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5616116" y="1404000"/>
            <a:ext cx="2376947" cy="322038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Vierte Ebene</a:t>
            </a:r>
          </a:p>
          <a:p>
            <a:pPr lvl="2"/>
            <a:r>
              <a:rPr lang="de-DE" noProof="0" dirty="0"/>
              <a:t>Fünfte Ebene</a:t>
            </a:r>
          </a:p>
          <a:p>
            <a:pPr lvl="3"/>
            <a:r>
              <a:rPr lang="de-DE" noProof="0" dirty="0"/>
              <a:t>Erste Ebene</a:t>
            </a:r>
          </a:p>
          <a:p>
            <a:pPr lvl="4"/>
            <a:r>
              <a:rPr lang="de-DE" noProof="0" dirty="0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11173244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FD83A4F3-4D74-46C9-9FFD-369708F3D69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599352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FD83A4F3-4D74-46C9-9FFD-369708F3D6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 hidden="1">
            <a:extLst>
              <a:ext uri="{FF2B5EF4-FFF2-40B4-BE49-F238E27FC236}">
                <a16:creationId xmlns:a16="http://schemas.microsoft.com/office/drawing/2014/main" id="{0182E95A-2D87-4C56-9166-14A394C57A02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solidFill>
            <a:srgbClr val="64B42D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l">
              <a:spcBef>
                <a:spcPts val="600"/>
              </a:spcBef>
              <a:buFont typeface="Arial" panose="020B0604020202020204" pitchFamily="34" charset="0"/>
              <a:buNone/>
            </a:pPr>
            <a:endParaRPr lang="de-DE" sz="2600" b="0" i="0" baseline="0" dirty="0" err="1">
              <a:solidFill>
                <a:schemeClr val="bg1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75556" y="531479"/>
            <a:ext cx="6840000" cy="360099"/>
          </a:xfrm>
        </p:spPr>
        <p:txBody>
          <a:bodyPr/>
          <a:lstStyle/>
          <a:p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noProof="0" dirty="0"/>
              <a:t>Westnetz GmbH · Name · TT Monat JJJJ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5F51B1-EF07-4A0A-8ED6-43388CBBB34F}" type="slidenum">
              <a:rPr lang="de-DE" noProof="0" smtClean="0"/>
              <a:pPr/>
              <a:t>‹Nr.›</a:t>
            </a:fld>
            <a:endParaRPr lang="de-DE" noProof="0" dirty="0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2"/>
          </p:nvPr>
        </p:nvSpPr>
        <p:spPr>
          <a:xfrm>
            <a:off x="576263" y="1455738"/>
            <a:ext cx="7416800" cy="2952000"/>
          </a:xfrm>
          <a:blipFill>
            <a:blip r:embed="rId6"/>
            <a:stretch>
              <a:fillRect/>
            </a:stretch>
          </a:blipFill>
        </p:spPr>
        <p:txBody>
          <a:bodyPr vert="horz" wrap="square" lIns="0" tIns="0" rIns="0" bIns="0" rtlCol="0">
            <a:noAutofit/>
          </a:bodyPr>
          <a:lstStyle>
            <a:lvl1pPr marL="0" indent="0" algn="ctr">
              <a:buNone/>
              <a:defRPr lang="de-DE"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idx="13" hasCustomPrompt="1"/>
          </p:nvPr>
        </p:nvSpPr>
        <p:spPr bwMode="gray">
          <a:xfrm>
            <a:off x="575555" y="4475240"/>
            <a:ext cx="741600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de-DE" noProof="0" dirty="0"/>
              <a:t>Optionale Bildunterschrift in Schwarz oder in Farbe</a:t>
            </a:r>
          </a:p>
        </p:txBody>
      </p:sp>
      <p:sp>
        <p:nvSpPr>
          <p:cNvPr id="13" name="Textplatzhalter 8"/>
          <p:cNvSpPr>
            <a:spLocks noGrp="1"/>
          </p:cNvSpPr>
          <p:nvPr>
            <p:ph type="body" sz="quarter" idx="14" hasCustomPrompt="1"/>
          </p:nvPr>
        </p:nvSpPr>
        <p:spPr>
          <a:xfrm>
            <a:off x="575999" y="252000"/>
            <a:ext cx="6840000" cy="215444"/>
          </a:xfrm>
        </p:spPr>
        <p:txBody>
          <a:bodyPr anchor="ctr" anchorCtr="0"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Kapitelname</a:t>
            </a:r>
          </a:p>
        </p:txBody>
      </p:sp>
    </p:spTree>
    <p:extLst>
      <p:ext uri="{BB962C8B-B14F-4D97-AF65-F5344CB8AC3E}">
        <p14:creationId xmlns:p14="http://schemas.microsoft.com/office/powerpoint/2010/main" val="8971096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3394BB13-371F-4715-8E40-FC0CDDFBCDE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488737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3394BB13-371F-4715-8E40-FC0CDDFBCD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 hidden="1">
            <a:extLst>
              <a:ext uri="{FF2B5EF4-FFF2-40B4-BE49-F238E27FC236}">
                <a16:creationId xmlns:a16="http://schemas.microsoft.com/office/drawing/2014/main" id="{029AAA88-0EDB-4B32-8B38-813B5C6234FF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solidFill>
            <a:srgbClr val="64B42D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l">
              <a:spcBef>
                <a:spcPts val="600"/>
              </a:spcBef>
              <a:buFont typeface="Arial" panose="020B0604020202020204" pitchFamily="34" charset="0"/>
              <a:buNone/>
            </a:pPr>
            <a:endParaRPr lang="de-DE" sz="2600" b="0" i="0" baseline="0" dirty="0" err="1">
              <a:solidFill>
                <a:schemeClr val="bg1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75556" y="531479"/>
            <a:ext cx="6840000" cy="360099"/>
          </a:xfrm>
        </p:spPr>
        <p:txBody>
          <a:bodyPr/>
          <a:lstStyle/>
          <a:p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noProof="0" dirty="0"/>
              <a:t>Westnetz GmbH · Name · TT Monat JJJJ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5F51B1-EF07-4A0A-8ED6-43388CBBB34F}" type="slidenum">
              <a:rPr lang="de-DE" noProof="0" smtClean="0"/>
              <a:pPr/>
              <a:t>‹Nr.›</a:t>
            </a:fld>
            <a:endParaRPr lang="de-DE" noProof="0" dirty="0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2"/>
          </p:nvPr>
        </p:nvSpPr>
        <p:spPr>
          <a:xfrm>
            <a:off x="576263" y="1455738"/>
            <a:ext cx="3563937" cy="2952000"/>
          </a:xfrm>
          <a:blipFill>
            <a:blip r:embed="rId6"/>
            <a:stretch>
              <a:fillRect/>
            </a:stretch>
          </a:blipFill>
        </p:spPr>
        <p:txBody>
          <a:bodyPr vert="horz" wrap="square" lIns="0" tIns="0" rIns="0" bIns="0" rtlCol="0">
            <a:noAutofit/>
          </a:bodyPr>
          <a:lstStyle>
            <a:lvl1pPr marL="0" indent="0" algn="ctr">
              <a:buNone/>
              <a:defRPr lang="de-DE"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idx="13" hasCustomPrompt="1"/>
          </p:nvPr>
        </p:nvSpPr>
        <p:spPr bwMode="gray">
          <a:xfrm>
            <a:off x="575556" y="4475240"/>
            <a:ext cx="356552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de-DE" noProof="0" dirty="0"/>
              <a:t>Optionale Bildunterschrift in Schwarz oder in Farbe</a:t>
            </a:r>
          </a:p>
        </p:txBody>
      </p:sp>
      <p:sp>
        <p:nvSpPr>
          <p:cNvPr id="13" name="Textplatzhalter 8"/>
          <p:cNvSpPr>
            <a:spLocks noGrp="1"/>
          </p:cNvSpPr>
          <p:nvPr>
            <p:ph type="body" sz="quarter" idx="14" hasCustomPrompt="1"/>
          </p:nvPr>
        </p:nvSpPr>
        <p:spPr>
          <a:xfrm>
            <a:off x="575999" y="252000"/>
            <a:ext cx="6840000" cy="215444"/>
          </a:xfrm>
        </p:spPr>
        <p:txBody>
          <a:bodyPr anchor="ctr" anchorCtr="0"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Kapitelname</a:t>
            </a:r>
          </a:p>
        </p:txBody>
      </p:sp>
      <p:sp>
        <p:nvSpPr>
          <p:cNvPr id="11" name="Bildplatzhalter 8"/>
          <p:cNvSpPr>
            <a:spLocks noGrp="1"/>
          </p:cNvSpPr>
          <p:nvPr>
            <p:ph type="pic" sz="quarter" idx="15"/>
          </p:nvPr>
        </p:nvSpPr>
        <p:spPr>
          <a:xfrm>
            <a:off x="4428332" y="1455738"/>
            <a:ext cx="3563937" cy="2952000"/>
          </a:xfrm>
          <a:blipFill>
            <a:blip r:embed="rId6"/>
            <a:stretch>
              <a:fillRect/>
            </a:stretch>
          </a:blipFill>
        </p:spPr>
        <p:txBody>
          <a:bodyPr vert="horz" wrap="square" lIns="0" tIns="0" rIns="0" bIns="0" rtlCol="0">
            <a:noAutofit/>
          </a:bodyPr>
          <a:lstStyle>
            <a:lvl1pPr marL="0" indent="0" algn="ctr">
              <a:buNone/>
              <a:defRPr lang="de-DE"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5" name="Textplatzhalter 2"/>
          <p:cNvSpPr>
            <a:spLocks noGrp="1"/>
          </p:cNvSpPr>
          <p:nvPr>
            <p:ph idx="16" hasCustomPrompt="1"/>
          </p:nvPr>
        </p:nvSpPr>
        <p:spPr bwMode="gray">
          <a:xfrm>
            <a:off x="4428332" y="4475240"/>
            <a:ext cx="356552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de-DE" noProof="0" dirty="0"/>
              <a:t>Optionale Bildunterschrift in Schwarz oder in Farbe</a:t>
            </a:r>
          </a:p>
        </p:txBody>
      </p:sp>
    </p:spTree>
    <p:extLst>
      <p:ext uri="{BB962C8B-B14F-4D97-AF65-F5344CB8AC3E}">
        <p14:creationId xmlns:p14="http://schemas.microsoft.com/office/powerpoint/2010/main" val="1641836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lbild he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8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9144000" cy="51435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0" rtlCol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de-DE"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8" name="Titel 1"/>
          <p:cNvSpPr>
            <a:spLocks noGrp="1"/>
          </p:cNvSpPr>
          <p:nvPr>
            <p:ph type="ctrTitle"/>
          </p:nvPr>
        </p:nvSpPr>
        <p:spPr bwMode="blackWhite">
          <a:xfrm>
            <a:off x="576262" y="2571750"/>
            <a:ext cx="3456000" cy="1440000"/>
          </a:xfrm>
          <a:solidFill>
            <a:srgbClr val="64B42D"/>
          </a:solidFill>
        </p:spPr>
        <p:txBody>
          <a:bodyPr lIns="216000" tIns="201600" rIns="180000" bIns="230400">
            <a:no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8363859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lbild dunk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8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9144000" cy="51435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0" rtlCol="0">
            <a:noAutofit/>
          </a:bodyPr>
          <a:lstStyle>
            <a:lvl1pPr marL="171450" indent="-171450" algn="ctr">
              <a:buFont typeface="Arial" panose="020B0604020202020204" pitchFamily="34" charset="0"/>
              <a:buNone/>
              <a:defRPr lang="de-DE"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8" name="Titel 1"/>
          <p:cNvSpPr>
            <a:spLocks noGrp="1"/>
          </p:cNvSpPr>
          <p:nvPr>
            <p:ph type="ctrTitle"/>
          </p:nvPr>
        </p:nvSpPr>
        <p:spPr bwMode="blackWhite">
          <a:xfrm>
            <a:off x="1129904" y="836414"/>
            <a:ext cx="2592000" cy="1440000"/>
          </a:xfrm>
          <a:solidFill>
            <a:srgbClr val="E60055"/>
          </a:solidFill>
        </p:spPr>
        <p:txBody>
          <a:bodyPr lIns="216000" tIns="201600" rIns="180000" bIns="230400">
            <a:noAutofit/>
          </a:bodyPr>
          <a:lstStyle>
            <a:lvl1pPr>
              <a:defRPr sz="1700" b="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4127699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ilder mit 3 Textbox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8"/>
          <p:cNvSpPr>
            <a:spLocks noGrp="1"/>
          </p:cNvSpPr>
          <p:nvPr>
            <p:ph type="pic" sz="quarter" idx="12"/>
          </p:nvPr>
        </p:nvSpPr>
        <p:spPr>
          <a:xfrm>
            <a:off x="-4936" y="0"/>
            <a:ext cx="3060000" cy="51444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0" rtlCol="0">
            <a:noAutofit/>
          </a:bodyPr>
          <a:lstStyle>
            <a:lvl1pPr marL="0" indent="0" algn="ctr">
              <a:buNone/>
              <a:defRPr lang="de-DE"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6" name="Bildplatzhalter 8"/>
          <p:cNvSpPr>
            <a:spLocks noGrp="1"/>
          </p:cNvSpPr>
          <p:nvPr>
            <p:ph type="pic" sz="quarter" idx="13"/>
          </p:nvPr>
        </p:nvSpPr>
        <p:spPr>
          <a:xfrm>
            <a:off x="3042000" y="0"/>
            <a:ext cx="3060000" cy="51444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0" rtlCol="0">
            <a:noAutofit/>
          </a:bodyPr>
          <a:lstStyle>
            <a:lvl1pPr marL="0" indent="0" algn="ctr">
              <a:buNone/>
              <a:defRPr lang="de-DE"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7" name="Bildplatzhalter 8"/>
          <p:cNvSpPr>
            <a:spLocks noGrp="1"/>
          </p:cNvSpPr>
          <p:nvPr>
            <p:ph type="pic" sz="quarter" idx="14"/>
          </p:nvPr>
        </p:nvSpPr>
        <p:spPr>
          <a:xfrm>
            <a:off x="6084000" y="0"/>
            <a:ext cx="3060000" cy="51444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0" rtlCol="0">
            <a:noAutofit/>
          </a:bodyPr>
          <a:lstStyle>
            <a:lvl1pPr marL="0" indent="0" algn="ctr">
              <a:buNone/>
              <a:defRPr lang="de-DE"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Textplatzhalter 5"/>
          <p:cNvSpPr>
            <a:spLocks noGrp="1"/>
          </p:cNvSpPr>
          <p:nvPr>
            <p:ph type="body" sz="quarter" idx="15"/>
          </p:nvPr>
        </p:nvSpPr>
        <p:spPr bwMode="blackWhite">
          <a:xfrm>
            <a:off x="377756" y="3469310"/>
            <a:ext cx="2304000" cy="1152000"/>
          </a:xfrm>
          <a:solidFill>
            <a:schemeClr val="accent1"/>
          </a:solidFill>
        </p:spPr>
        <p:txBody>
          <a:bodyPr lIns="216000" tIns="144000" rIns="180000" bIns="230400">
            <a:noAutofit/>
          </a:bodyPr>
          <a:lstStyle>
            <a:lvl1pPr>
              <a:defRPr sz="1200" b="0">
                <a:solidFill>
                  <a:schemeClr val="bg1"/>
                </a:solidFill>
              </a:defRPr>
            </a:lvl1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DE" noProof="0"/>
              <a:t>Mastertextformat bearbeiten
Zweite Ebene
Dritte Ebene
Vierte Ebene
Fünfte Ebene</a:t>
            </a:r>
            <a:endParaRPr lang="de-DE" noProof="0" dirty="0"/>
          </a:p>
        </p:txBody>
      </p:sp>
      <p:sp>
        <p:nvSpPr>
          <p:cNvPr id="13" name="Textplatzhalter 5"/>
          <p:cNvSpPr>
            <a:spLocks noGrp="1"/>
          </p:cNvSpPr>
          <p:nvPr>
            <p:ph type="body" sz="quarter" idx="17"/>
          </p:nvPr>
        </p:nvSpPr>
        <p:spPr bwMode="blackWhite">
          <a:xfrm>
            <a:off x="3420000" y="3469310"/>
            <a:ext cx="2304000" cy="1152000"/>
          </a:xfrm>
          <a:solidFill>
            <a:schemeClr val="accent6"/>
          </a:solidFill>
        </p:spPr>
        <p:txBody>
          <a:bodyPr lIns="216000" tIns="144000" rIns="180000" bIns="230400">
            <a:noAutofit/>
          </a:bodyPr>
          <a:lstStyle>
            <a:lvl1pPr>
              <a:defRPr sz="1200" b="0">
                <a:solidFill>
                  <a:schemeClr val="bg1"/>
                </a:solidFill>
              </a:defRPr>
            </a:lvl1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DE" noProof="0"/>
              <a:t>Mastertextformat bearbeiten
Zweite Ebene
Dritte Ebene
Vierte Ebene
Fünfte Ebene</a:t>
            </a:r>
            <a:endParaRPr lang="de-DE" noProof="0" dirty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8"/>
          </p:nvPr>
        </p:nvSpPr>
        <p:spPr bwMode="blackWhite">
          <a:xfrm>
            <a:off x="6462000" y="3469310"/>
            <a:ext cx="2304000" cy="1152000"/>
          </a:xfrm>
          <a:solidFill>
            <a:srgbClr val="64B42D"/>
          </a:solidFill>
        </p:spPr>
        <p:txBody>
          <a:bodyPr lIns="216000" tIns="144000" rIns="180000" bIns="230400">
            <a:noAutofit/>
          </a:bodyPr>
          <a:lstStyle>
            <a:lvl1pPr>
              <a:defRPr sz="1200" b="0">
                <a:solidFill>
                  <a:schemeClr val="bg1"/>
                </a:solidFill>
              </a:defRPr>
            </a:lvl1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DE" noProof="0"/>
              <a:t>Mastertextformat bearbeiten
Zweite Ebene
Dritte Ebene
Vierte Ebene
Fünfte Ebene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234469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usammenfassung Dru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noProof="0" dirty="0"/>
              <a:t>Westnetz GmbH · Name · TT Monat JJJJ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5F51B1-EF07-4A0A-8ED6-43388CBBB34F}" type="slidenum">
              <a:rPr lang="de-DE" noProof="0" smtClean="0"/>
              <a:pPr/>
              <a:t>‹Nr.›</a:t>
            </a:fld>
            <a:endParaRPr lang="de-DE" noProof="0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2"/>
          </p:nvPr>
        </p:nvSpPr>
        <p:spPr bwMode="blackWhite">
          <a:xfrm>
            <a:off x="1249917" y="987574"/>
            <a:ext cx="2880000" cy="1440000"/>
          </a:xfrm>
          <a:solidFill>
            <a:schemeClr val="accent1"/>
          </a:solidFill>
        </p:spPr>
        <p:txBody>
          <a:bodyPr lIns="216000" tIns="201600" rIns="180000" bIns="2304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DE" noProof="0"/>
              <a:t>Mastertextformat bearbeiten
Zweite Ebene
Dritte Ebene
Vierte Ebene
Fünfte Ebene</a:t>
            </a:r>
            <a:endParaRPr lang="de-DE" noProof="0" dirty="0"/>
          </a:p>
        </p:txBody>
      </p:sp>
      <p:sp>
        <p:nvSpPr>
          <p:cNvPr id="11" name="Textplatzhalter 5"/>
          <p:cNvSpPr>
            <a:spLocks noGrp="1"/>
          </p:cNvSpPr>
          <p:nvPr>
            <p:ph type="body" sz="quarter" idx="13"/>
          </p:nvPr>
        </p:nvSpPr>
        <p:spPr bwMode="blackWhite">
          <a:xfrm>
            <a:off x="385917" y="2679762"/>
            <a:ext cx="3744000" cy="1440000"/>
          </a:xfrm>
          <a:solidFill>
            <a:schemeClr val="accent3"/>
          </a:solidFill>
        </p:spPr>
        <p:txBody>
          <a:bodyPr lIns="216000" tIns="201600" rIns="180000" bIns="2304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DE" noProof="0"/>
              <a:t>Mastertextformat bearbeiten
Zweite Ebene
Dritte Ebene
Vierte Ebene
Fünfte Ebene</a:t>
            </a:r>
            <a:endParaRPr lang="de-DE" noProof="0" dirty="0"/>
          </a:p>
        </p:txBody>
      </p:sp>
      <p:sp>
        <p:nvSpPr>
          <p:cNvPr id="12" name="Textplatzhalter 5"/>
          <p:cNvSpPr>
            <a:spLocks noGrp="1"/>
          </p:cNvSpPr>
          <p:nvPr>
            <p:ph type="body" sz="quarter" idx="14"/>
          </p:nvPr>
        </p:nvSpPr>
        <p:spPr bwMode="blackWhite">
          <a:xfrm>
            <a:off x="4426987" y="1457963"/>
            <a:ext cx="2880000" cy="1440000"/>
          </a:xfrm>
          <a:solidFill>
            <a:schemeClr val="accent5"/>
          </a:solidFill>
        </p:spPr>
        <p:txBody>
          <a:bodyPr lIns="216000" tIns="201600" rIns="180000" bIns="2304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DE" noProof="0"/>
              <a:t>Mastertextformat bearbeiten
Zweite Ebene
Dritte Ebene
Vierte Ebene
Fünfte Ebene</a:t>
            </a:r>
            <a:endParaRPr lang="de-DE" noProof="0" dirty="0"/>
          </a:p>
        </p:txBody>
      </p:sp>
      <p:sp>
        <p:nvSpPr>
          <p:cNvPr id="13" name="Textplatzhalter 5"/>
          <p:cNvSpPr>
            <a:spLocks noGrp="1"/>
          </p:cNvSpPr>
          <p:nvPr>
            <p:ph type="body" sz="quarter" idx="15"/>
          </p:nvPr>
        </p:nvSpPr>
        <p:spPr bwMode="blackWhite">
          <a:xfrm>
            <a:off x="4426987" y="3174102"/>
            <a:ext cx="3744000" cy="1440000"/>
          </a:xfrm>
          <a:solidFill>
            <a:srgbClr val="64B42D"/>
          </a:solidFill>
        </p:spPr>
        <p:txBody>
          <a:bodyPr lIns="216000" tIns="201600" rIns="180000" bIns="2304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DE" noProof="0"/>
              <a:t>Mastertextformat bearbeiten
Zweite Ebene
Dritte Ebene
Vierte Ebene
Fünfte Ebene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9784467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Zusammenfassung Bildschirm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 bwMode="black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Westnetz GmbH · Name · TT Monat JJJJ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 bwMode="black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05F51B1-EF07-4A0A-8ED6-43388CBBB34F}" type="slidenum">
              <a:rPr lang="de-DE" noProof="0" smtClean="0"/>
              <a:pPr/>
              <a:t>‹Nr.›</a:t>
            </a:fld>
            <a:endParaRPr lang="de-DE" noProof="0" dirty="0"/>
          </a:p>
        </p:txBody>
      </p:sp>
      <p:sp>
        <p:nvSpPr>
          <p:cNvPr id="10" name="Textplatzhalter 5"/>
          <p:cNvSpPr>
            <a:spLocks noGrp="1"/>
          </p:cNvSpPr>
          <p:nvPr>
            <p:ph type="body" sz="quarter" idx="12"/>
          </p:nvPr>
        </p:nvSpPr>
        <p:spPr bwMode="blackWhite">
          <a:xfrm>
            <a:off x="1249917" y="987574"/>
            <a:ext cx="2880000" cy="1440000"/>
          </a:xfrm>
          <a:solidFill>
            <a:schemeClr val="accent1"/>
          </a:solidFill>
        </p:spPr>
        <p:txBody>
          <a:bodyPr lIns="216000" tIns="201600" rIns="180000" bIns="2304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DE" noProof="0"/>
              <a:t>Mastertextformat bearbeiten
Zweite Ebene
Dritte Ebene
Vierte Ebene
Fünfte Ebene</a:t>
            </a:r>
            <a:endParaRPr lang="de-DE" noProof="0" dirty="0"/>
          </a:p>
        </p:txBody>
      </p:sp>
      <p:sp>
        <p:nvSpPr>
          <p:cNvPr id="14" name="Textplatzhalter 5"/>
          <p:cNvSpPr>
            <a:spLocks noGrp="1"/>
          </p:cNvSpPr>
          <p:nvPr>
            <p:ph type="body" sz="quarter" idx="13"/>
          </p:nvPr>
        </p:nvSpPr>
        <p:spPr bwMode="blackWhite">
          <a:xfrm>
            <a:off x="385917" y="2679762"/>
            <a:ext cx="3744000" cy="1440000"/>
          </a:xfrm>
          <a:solidFill>
            <a:schemeClr val="accent3"/>
          </a:solidFill>
        </p:spPr>
        <p:txBody>
          <a:bodyPr lIns="216000" tIns="201600" rIns="180000" bIns="2304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DE" noProof="0"/>
              <a:t>Mastertextformat bearbeiten
Zweite Ebene
Dritte Ebene
Vierte Ebene
Fünfte Ebene</a:t>
            </a:r>
            <a:endParaRPr lang="de-DE" noProof="0" dirty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4"/>
          </p:nvPr>
        </p:nvSpPr>
        <p:spPr bwMode="blackWhite">
          <a:xfrm>
            <a:off x="4426987" y="1457963"/>
            <a:ext cx="2880000" cy="1440000"/>
          </a:xfrm>
          <a:solidFill>
            <a:schemeClr val="accent5"/>
          </a:solidFill>
        </p:spPr>
        <p:txBody>
          <a:bodyPr lIns="216000" tIns="201600" rIns="180000" bIns="2304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DE" noProof="0"/>
              <a:t>Mastertextformat bearbeiten
Zweite Ebene
Dritte Ebene
Vierte Ebene
Fünfte Ebene</a:t>
            </a:r>
            <a:endParaRPr lang="de-DE" noProof="0" dirty="0"/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5"/>
          </p:nvPr>
        </p:nvSpPr>
        <p:spPr bwMode="blackWhite">
          <a:xfrm>
            <a:off x="4426987" y="3174102"/>
            <a:ext cx="3744000" cy="1440000"/>
          </a:xfrm>
          <a:solidFill>
            <a:srgbClr val="64B42D"/>
          </a:solidFill>
        </p:spPr>
        <p:txBody>
          <a:bodyPr lIns="216000" tIns="201600" rIns="180000" bIns="2304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DE" noProof="0"/>
              <a:t>Mastertextformat bearbeiten
Zweite Ebene
Dritte Ebene
Vierte Ebene
Fünfte Ebene</a:t>
            </a:r>
            <a:endParaRPr lang="de-DE" noProof="0" dirty="0"/>
          </a:p>
        </p:txBody>
      </p:sp>
      <p:grpSp>
        <p:nvGrpSpPr>
          <p:cNvPr id="34" name="Gruppieren 33"/>
          <p:cNvGrpSpPr/>
          <p:nvPr userDrawn="1"/>
        </p:nvGrpSpPr>
        <p:grpSpPr>
          <a:xfrm>
            <a:off x="575556" y="-124966"/>
            <a:ext cx="7416824" cy="108000"/>
            <a:chOff x="575556" y="-124966"/>
            <a:chExt cx="7416824" cy="108000"/>
          </a:xfrm>
        </p:grpSpPr>
        <p:sp>
          <p:nvSpPr>
            <p:cNvPr id="35" name="Freihandform 34"/>
            <p:cNvSpPr/>
            <p:nvPr userDrawn="1"/>
          </p:nvSpPr>
          <p:spPr>
            <a:xfrm>
              <a:off x="575556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36" name="Freihandform 35"/>
            <p:cNvSpPr/>
            <p:nvPr userDrawn="1"/>
          </p:nvSpPr>
          <p:spPr>
            <a:xfrm>
              <a:off x="4139952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37" name="Freihandform 36"/>
            <p:cNvSpPr/>
            <p:nvPr userDrawn="1"/>
          </p:nvSpPr>
          <p:spPr>
            <a:xfrm>
              <a:off x="4427984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38" name="Freihandform 37"/>
            <p:cNvSpPr/>
            <p:nvPr userDrawn="1"/>
          </p:nvSpPr>
          <p:spPr>
            <a:xfrm>
              <a:off x="7992380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grpSp>
        <p:nvGrpSpPr>
          <p:cNvPr id="39" name="Gruppieren 38"/>
          <p:cNvGrpSpPr/>
          <p:nvPr userDrawn="1"/>
        </p:nvGrpSpPr>
        <p:grpSpPr>
          <a:xfrm>
            <a:off x="575556" y="5160466"/>
            <a:ext cx="7416824" cy="108000"/>
            <a:chOff x="575556" y="5160466"/>
            <a:chExt cx="7416824" cy="108000"/>
          </a:xfrm>
        </p:grpSpPr>
        <p:sp>
          <p:nvSpPr>
            <p:cNvPr id="40" name="Freihandform 39"/>
            <p:cNvSpPr/>
            <p:nvPr userDrawn="1"/>
          </p:nvSpPr>
          <p:spPr bwMode="gray">
            <a:xfrm>
              <a:off x="575556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  <p:sp>
          <p:nvSpPr>
            <p:cNvPr id="41" name="Freihandform 40"/>
            <p:cNvSpPr/>
            <p:nvPr userDrawn="1"/>
          </p:nvSpPr>
          <p:spPr bwMode="gray">
            <a:xfrm>
              <a:off x="4139952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  <p:sp>
          <p:nvSpPr>
            <p:cNvPr id="42" name="Freihandform 41"/>
            <p:cNvSpPr/>
            <p:nvPr userDrawn="1"/>
          </p:nvSpPr>
          <p:spPr bwMode="gray">
            <a:xfrm>
              <a:off x="4427984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  <p:sp>
          <p:nvSpPr>
            <p:cNvPr id="43" name="Freihandform 42"/>
            <p:cNvSpPr/>
            <p:nvPr userDrawn="1"/>
          </p:nvSpPr>
          <p:spPr bwMode="gray">
            <a:xfrm>
              <a:off x="7992380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</p:grpSp>
      <p:grpSp>
        <p:nvGrpSpPr>
          <p:cNvPr id="44" name="Gruppieren 43"/>
          <p:cNvGrpSpPr/>
          <p:nvPr userDrawn="1"/>
        </p:nvGrpSpPr>
        <p:grpSpPr bwMode="blackWhite">
          <a:xfrm>
            <a:off x="-165953" y="1448006"/>
            <a:ext cx="144000" cy="3175980"/>
            <a:chOff x="-165953" y="1448006"/>
            <a:chExt cx="144000" cy="3175980"/>
          </a:xfrm>
        </p:grpSpPr>
        <p:sp>
          <p:nvSpPr>
            <p:cNvPr id="45" name="Freihandform 44"/>
            <p:cNvSpPr/>
            <p:nvPr/>
          </p:nvSpPr>
          <p:spPr bwMode="blackWhite">
            <a:xfrm rot="16200000">
              <a:off x="-93953" y="455198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  <p:sp>
          <p:nvSpPr>
            <p:cNvPr id="46" name="Freihandform 45"/>
            <p:cNvSpPr/>
            <p:nvPr/>
          </p:nvSpPr>
          <p:spPr bwMode="blackWhite">
            <a:xfrm rot="16200000">
              <a:off x="-93953" y="137600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</p:grpSp>
      <p:grpSp>
        <p:nvGrpSpPr>
          <p:cNvPr id="47" name="Gruppieren 46"/>
          <p:cNvGrpSpPr/>
          <p:nvPr userDrawn="1"/>
        </p:nvGrpSpPr>
        <p:grpSpPr>
          <a:xfrm>
            <a:off x="9166242" y="1455627"/>
            <a:ext cx="144000" cy="3171780"/>
            <a:chOff x="9166242" y="1455627"/>
            <a:chExt cx="144000" cy="3171780"/>
          </a:xfrm>
        </p:grpSpPr>
        <p:sp>
          <p:nvSpPr>
            <p:cNvPr id="48" name="Freihandform 47"/>
            <p:cNvSpPr/>
            <p:nvPr userDrawn="1"/>
          </p:nvSpPr>
          <p:spPr>
            <a:xfrm rot="16200000">
              <a:off x="9238242" y="455540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  <p:sp>
          <p:nvSpPr>
            <p:cNvPr id="49" name="Freihandform 48"/>
            <p:cNvSpPr/>
            <p:nvPr userDrawn="1"/>
          </p:nvSpPr>
          <p:spPr>
            <a:xfrm rot="16200000">
              <a:off x="9238242" y="138362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</p:grpSp>
      <p:pic>
        <p:nvPicPr>
          <p:cNvPr id="26" name="Grafik 25">
            <a:extLst>
              <a:ext uri="{FF2B5EF4-FFF2-40B4-BE49-F238E27FC236}">
                <a16:creationId xmlns:a16="http://schemas.microsoft.com/office/drawing/2014/main" id="{57091C12-D512-4D31-BF5C-FAB6387B135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8085600" y="273442"/>
            <a:ext cx="860400" cy="150677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69EBB871-412E-4D52-A473-3B2E72739F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8084079" y="4710271"/>
            <a:ext cx="861920" cy="159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9430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80B13D5C-5FA9-452E-94F5-DA1D0D802E8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909923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80B13D5C-5FA9-452E-94F5-DA1D0D802E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5" hidden="1">
            <a:extLst>
              <a:ext uri="{FF2B5EF4-FFF2-40B4-BE49-F238E27FC236}">
                <a16:creationId xmlns:a16="http://schemas.microsoft.com/office/drawing/2014/main" id="{B4F6D46A-358A-462E-8ED8-8C586107351C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solidFill>
            <a:srgbClr val="64B42D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l">
              <a:spcBef>
                <a:spcPts val="600"/>
              </a:spcBef>
              <a:buFont typeface="Arial" panose="020B0604020202020204" pitchFamily="34" charset="0"/>
              <a:buNone/>
            </a:pPr>
            <a:endParaRPr lang="de-DE" sz="2600" b="0" i="0" baseline="0" dirty="0" err="1">
              <a:solidFill>
                <a:schemeClr val="bg1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75556" y="531479"/>
            <a:ext cx="6840000" cy="360099"/>
          </a:xfrm>
        </p:spPr>
        <p:txBody>
          <a:bodyPr/>
          <a:lstStyle/>
          <a:p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noProof="0" dirty="0"/>
              <a:t>Westnetz GmbH · Name · TT Monat JJJJ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5F51B1-EF07-4A0A-8ED6-43388CBBB34F}" type="slidenum">
              <a:rPr lang="de-DE" noProof="0" smtClean="0"/>
              <a:pPr/>
              <a:t>‹Nr.›</a:t>
            </a:fld>
            <a:endParaRPr lang="de-DE" noProof="0" dirty="0"/>
          </a:p>
        </p:txBody>
      </p:sp>
      <p:sp>
        <p:nvSpPr>
          <p:cNvPr id="5" name="Textplatzhalter 8"/>
          <p:cNvSpPr>
            <a:spLocks noGrp="1"/>
          </p:cNvSpPr>
          <p:nvPr>
            <p:ph type="body" sz="quarter" idx="14" hasCustomPrompt="1"/>
          </p:nvPr>
        </p:nvSpPr>
        <p:spPr>
          <a:xfrm>
            <a:off x="575999" y="252000"/>
            <a:ext cx="6840000" cy="215444"/>
          </a:xfrm>
        </p:spPr>
        <p:txBody>
          <a:bodyPr anchor="ctr" anchorCtr="0"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Kapitelname</a:t>
            </a:r>
          </a:p>
        </p:txBody>
      </p:sp>
      <p:sp>
        <p:nvSpPr>
          <p:cNvPr id="8" name="Textplatzhalter 5"/>
          <p:cNvSpPr>
            <a:spLocks noGrp="1"/>
          </p:cNvSpPr>
          <p:nvPr>
            <p:ph type="body" sz="quarter" idx="13"/>
          </p:nvPr>
        </p:nvSpPr>
        <p:spPr bwMode="blackWhite">
          <a:xfrm>
            <a:off x="573951" y="1454396"/>
            <a:ext cx="4608000" cy="713218"/>
          </a:xfrm>
          <a:solidFill>
            <a:schemeClr val="accent3"/>
          </a:solidFill>
        </p:spPr>
        <p:txBody>
          <a:bodyPr lIns="216000" tIns="201600" rIns="180000" bIns="230400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DE" noProof="0"/>
              <a:t>Mastertextformat bearbeiten
Zweite Ebene
Dritte Ebene
Vierte Ebene
Fünfte Ebene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8180963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noProof="0" dirty="0"/>
              <a:t>Westnetz GmbH · Name · TT Monat JJJJ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5F51B1-EF07-4A0A-8ED6-43388CBBB34F}" type="slidenum">
              <a:rPr lang="de-DE" noProof="0" smtClean="0"/>
              <a:pPr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66422836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agwort Dru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6502C428-00E1-4787-A39D-08AF6A1D9E9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380325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6502C428-00E1-4787-A39D-08AF6A1D9E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black">
          <a:xfrm>
            <a:off x="1150938" y="1773374"/>
            <a:ext cx="6842125" cy="1191095"/>
          </a:xfrm>
        </p:spPr>
        <p:txBody>
          <a:bodyPr vert="horz" wrap="square" lIns="0" tIns="0" rIns="0" bIns="0" rtlCol="0" anchor="t" anchorCtr="0">
            <a:spAutoFit/>
          </a:bodyPr>
          <a:lstStyle>
            <a:lvl1pPr algn="ctr">
              <a:defRPr lang="de-DE" sz="8600" b="0" cap="all" spc="300" baseline="0" dirty="0">
                <a:solidFill>
                  <a:srgbClr val="C81E82"/>
                </a:solidFill>
              </a:defRPr>
            </a:lvl1pPr>
          </a:lstStyle>
          <a:p>
            <a:pPr lvl="0" algn="ctr"/>
            <a:r>
              <a:rPr lang="de-DE" noProof="0" dirty="0"/>
              <a:t>Schlagwort</a:t>
            </a:r>
          </a:p>
        </p:txBody>
      </p:sp>
    </p:spTree>
    <p:extLst>
      <p:ext uri="{BB962C8B-B14F-4D97-AF65-F5344CB8AC3E}">
        <p14:creationId xmlns:p14="http://schemas.microsoft.com/office/powerpoint/2010/main" val="73617069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agwort Bildschirm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94504158-525D-482E-9607-7E29CE4DF41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02321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94504158-525D-482E-9607-7E29CE4DF4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black">
          <a:xfrm>
            <a:off x="1150938" y="1773374"/>
            <a:ext cx="6842125" cy="1191095"/>
          </a:xfrm>
        </p:spPr>
        <p:txBody>
          <a:bodyPr/>
          <a:lstStyle>
            <a:lvl1pPr algn="ctr">
              <a:defRPr sz="8600" b="0" cap="all" spc="300" baseline="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Schlagwort</a:t>
            </a:r>
          </a:p>
        </p:txBody>
      </p:sp>
      <p:grpSp>
        <p:nvGrpSpPr>
          <p:cNvPr id="26" name="Gruppieren 25"/>
          <p:cNvGrpSpPr/>
          <p:nvPr userDrawn="1"/>
        </p:nvGrpSpPr>
        <p:grpSpPr>
          <a:xfrm>
            <a:off x="575556" y="-124966"/>
            <a:ext cx="7416824" cy="108000"/>
            <a:chOff x="575556" y="-124966"/>
            <a:chExt cx="7416824" cy="108000"/>
          </a:xfrm>
        </p:grpSpPr>
        <p:sp>
          <p:nvSpPr>
            <p:cNvPr id="27" name="Freihandform 26"/>
            <p:cNvSpPr/>
            <p:nvPr userDrawn="1"/>
          </p:nvSpPr>
          <p:spPr>
            <a:xfrm>
              <a:off x="575556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8" name="Freihandform 27"/>
            <p:cNvSpPr/>
            <p:nvPr userDrawn="1"/>
          </p:nvSpPr>
          <p:spPr>
            <a:xfrm>
              <a:off x="4139952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9" name="Freihandform 28"/>
            <p:cNvSpPr/>
            <p:nvPr userDrawn="1"/>
          </p:nvSpPr>
          <p:spPr>
            <a:xfrm>
              <a:off x="4427984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30" name="Freihandform 29"/>
            <p:cNvSpPr/>
            <p:nvPr userDrawn="1"/>
          </p:nvSpPr>
          <p:spPr>
            <a:xfrm>
              <a:off x="7992380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grpSp>
        <p:nvGrpSpPr>
          <p:cNvPr id="31" name="Gruppieren 30"/>
          <p:cNvGrpSpPr/>
          <p:nvPr userDrawn="1"/>
        </p:nvGrpSpPr>
        <p:grpSpPr>
          <a:xfrm>
            <a:off x="575556" y="5160466"/>
            <a:ext cx="7416824" cy="108000"/>
            <a:chOff x="575556" y="5160466"/>
            <a:chExt cx="7416824" cy="108000"/>
          </a:xfrm>
        </p:grpSpPr>
        <p:sp>
          <p:nvSpPr>
            <p:cNvPr id="32" name="Freihandform 31"/>
            <p:cNvSpPr/>
            <p:nvPr userDrawn="1"/>
          </p:nvSpPr>
          <p:spPr bwMode="gray">
            <a:xfrm>
              <a:off x="575556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  <p:sp>
          <p:nvSpPr>
            <p:cNvPr id="33" name="Freihandform 32"/>
            <p:cNvSpPr/>
            <p:nvPr userDrawn="1"/>
          </p:nvSpPr>
          <p:spPr bwMode="gray">
            <a:xfrm>
              <a:off x="4139952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  <p:sp>
          <p:nvSpPr>
            <p:cNvPr id="34" name="Freihandform 33"/>
            <p:cNvSpPr/>
            <p:nvPr userDrawn="1"/>
          </p:nvSpPr>
          <p:spPr bwMode="gray">
            <a:xfrm>
              <a:off x="4427984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  <p:sp>
          <p:nvSpPr>
            <p:cNvPr id="35" name="Freihandform 34"/>
            <p:cNvSpPr/>
            <p:nvPr userDrawn="1"/>
          </p:nvSpPr>
          <p:spPr bwMode="gray">
            <a:xfrm>
              <a:off x="7992380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</p:grpSp>
      <p:grpSp>
        <p:nvGrpSpPr>
          <p:cNvPr id="36" name="Gruppieren 35"/>
          <p:cNvGrpSpPr/>
          <p:nvPr userDrawn="1"/>
        </p:nvGrpSpPr>
        <p:grpSpPr>
          <a:xfrm>
            <a:off x="-165953" y="1448006"/>
            <a:ext cx="144000" cy="3175980"/>
            <a:chOff x="-165953" y="1448006"/>
            <a:chExt cx="144000" cy="3175980"/>
          </a:xfrm>
        </p:grpSpPr>
        <p:sp>
          <p:nvSpPr>
            <p:cNvPr id="37" name="Freihandform 36"/>
            <p:cNvSpPr/>
            <p:nvPr/>
          </p:nvSpPr>
          <p:spPr bwMode="gray">
            <a:xfrm rot="16200000">
              <a:off x="-93953" y="455198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  <p:sp>
          <p:nvSpPr>
            <p:cNvPr id="38" name="Freihandform 37"/>
            <p:cNvSpPr/>
            <p:nvPr/>
          </p:nvSpPr>
          <p:spPr bwMode="gray">
            <a:xfrm rot="16200000">
              <a:off x="-93953" y="137600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</p:grpSp>
      <p:grpSp>
        <p:nvGrpSpPr>
          <p:cNvPr id="39" name="Gruppieren 38"/>
          <p:cNvGrpSpPr/>
          <p:nvPr userDrawn="1"/>
        </p:nvGrpSpPr>
        <p:grpSpPr>
          <a:xfrm>
            <a:off x="9166242" y="1455627"/>
            <a:ext cx="144000" cy="3171780"/>
            <a:chOff x="9166242" y="1455627"/>
            <a:chExt cx="144000" cy="3171780"/>
          </a:xfrm>
        </p:grpSpPr>
        <p:sp>
          <p:nvSpPr>
            <p:cNvPr id="40" name="Freihandform 39"/>
            <p:cNvSpPr/>
            <p:nvPr userDrawn="1"/>
          </p:nvSpPr>
          <p:spPr>
            <a:xfrm rot="16200000">
              <a:off x="9238242" y="455540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  <p:sp>
          <p:nvSpPr>
            <p:cNvPr id="41" name="Freihandform 40"/>
            <p:cNvSpPr/>
            <p:nvPr userDrawn="1"/>
          </p:nvSpPr>
          <p:spPr>
            <a:xfrm rot="16200000">
              <a:off x="9238242" y="138362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</p:grpSp>
      <p:pic>
        <p:nvPicPr>
          <p:cNvPr id="24" name="Grafik 23">
            <a:extLst>
              <a:ext uri="{FF2B5EF4-FFF2-40B4-BE49-F238E27FC236}">
                <a16:creationId xmlns:a16="http://schemas.microsoft.com/office/drawing/2014/main" id="{26329762-5928-4C0F-8311-48E56311E3B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 bwMode="black">
          <a:xfrm>
            <a:off x="8085600" y="273442"/>
            <a:ext cx="860400" cy="150677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4A589DF0-2D67-4331-81EF-3E46E537CD6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 bwMode="black">
          <a:xfrm>
            <a:off x="8084079" y="4710271"/>
            <a:ext cx="861920" cy="159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32433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 bwMode="blackWhite">
          <a:xfrm>
            <a:off x="568643" y="2382594"/>
            <a:ext cx="3456000" cy="1728000"/>
          </a:xfrm>
          <a:solidFill>
            <a:schemeClr val="accent3"/>
          </a:solidFill>
        </p:spPr>
        <p:txBody>
          <a:bodyPr lIns="396000" tIns="396000" rIns="396000" bIns="432000">
            <a:noAutofit/>
          </a:bodyPr>
          <a:lstStyle>
            <a:lvl1pPr>
              <a:defRPr sz="2500" b="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de-DE" noProof="0" dirty="0"/>
          </a:p>
        </p:txBody>
      </p:sp>
      <p:grpSp>
        <p:nvGrpSpPr>
          <p:cNvPr id="41" name="Gruppieren 40"/>
          <p:cNvGrpSpPr/>
          <p:nvPr userDrawn="1"/>
        </p:nvGrpSpPr>
        <p:grpSpPr>
          <a:xfrm>
            <a:off x="575556" y="-124966"/>
            <a:ext cx="7416824" cy="108000"/>
            <a:chOff x="575556" y="-124966"/>
            <a:chExt cx="7416824" cy="108000"/>
          </a:xfrm>
        </p:grpSpPr>
        <p:sp>
          <p:nvSpPr>
            <p:cNvPr id="42" name="Freihandform 41"/>
            <p:cNvSpPr/>
            <p:nvPr userDrawn="1"/>
          </p:nvSpPr>
          <p:spPr>
            <a:xfrm>
              <a:off x="575556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" name="Freihandform 42"/>
            <p:cNvSpPr/>
            <p:nvPr userDrawn="1"/>
          </p:nvSpPr>
          <p:spPr>
            <a:xfrm>
              <a:off x="4139952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" name="Freihandform 43"/>
            <p:cNvSpPr/>
            <p:nvPr userDrawn="1"/>
          </p:nvSpPr>
          <p:spPr>
            <a:xfrm>
              <a:off x="4427984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" name="Freihandform 44"/>
            <p:cNvSpPr/>
            <p:nvPr userDrawn="1"/>
          </p:nvSpPr>
          <p:spPr>
            <a:xfrm>
              <a:off x="7992380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6" name="Gruppieren 45"/>
          <p:cNvGrpSpPr/>
          <p:nvPr userDrawn="1"/>
        </p:nvGrpSpPr>
        <p:grpSpPr>
          <a:xfrm>
            <a:off x="575556" y="5160466"/>
            <a:ext cx="7416824" cy="108000"/>
            <a:chOff x="575556" y="5160466"/>
            <a:chExt cx="7416824" cy="108000"/>
          </a:xfrm>
        </p:grpSpPr>
        <p:sp>
          <p:nvSpPr>
            <p:cNvPr id="47" name="Freihandform 46"/>
            <p:cNvSpPr/>
            <p:nvPr userDrawn="1"/>
          </p:nvSpPr>
          <p:spPr bwMode="gray">
            <a:xfrm>
              <a:off x="575556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  <p:sp>
          <p:nvSpPr>
            <p:cNvPr id="48" name="Freihandform 47"/>
            <p:cNvSpPr/>
            <p:nvPr userDrawn="1"/>
          </p:nvSpPr>
          <p:spPr bwMode="gray">
            <a:xfrm>
              <a:off x="4139952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  <p:sp>
          <p:nvSpPr>
            <p:cNvPr id="49" name="Freihandform 48"/>
            <p:cNvSpPr/>
            <p:nvPr userDrawn="1"/>
          </p:nvSpPr>
          <p:spPr bwMode="gray">
            <a:xfrm>
              <a:off x="4427984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  <p:sp>
          <p:nvSpPr>
            <p:cNvPr id="50" name="Freihandform 49"/>
            <p:cNvSpPr/>
            <p:nvPr userDrawn="1"/>
          </p:nvSpPr>
          <p:spPr bwMode="gray">
            <a:xfrm>
              <a:off x="7992380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</p:grpSp>
      <p:grpSp>
        <p:nvGrpSpPr>
          <p:cNvPr id="51" name="Gruppieren 50"/>
          <p:cNvGrpSpPr/>
          <p:nvPr userDrawn="1"/>
        </p:nvGrpSpPr>
        <p:grpSpPr>
          <a:xfrm>
            <a:off x="-165953" y="1448006"/>
            <a:ext cx="144000" cy="3175980"/>
            <a:chOff x="-165953" y="1448006"/>
            <a:chExt cx="144000" cy="3175980"/>
          </a:xfrm>
        </p:grpSpPr>
        <p:sp>
          <p:nvSpPr>
            <p:cNvPr id="52" name="Freihandform 51"/>
            <p:cNvSpPr/>
            <p:nvPr/>
          </p:nvSpPr>
          <p:spPr bwMode="gray">
            <a:xfrm rot="16200000">
              <a:off x="-93953" y="455198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  <p:sp>
          <p:nvSpPr>
            <p:cNvPr id="53" name="Freihandform 52"/>
            <p:cNvSpPr/>
            <p:nvPr/>
          </p:nvSpPr>
          <p:spPr bwMode="gray">
            <a:xfrm rot="16200000">
              <a:off x="-93953" y="137600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</p:grpSp>
      <p:grpSp>
        <p:nvGrpSpPr>
          <p:cNvPr id="54" name="Gruppieren 53"/>
          <p:cNvGrpSpPr/>
          <p:nvPr userDrawn="1"/>
        </p:nvGrpSpPr>
        <p:grpSpPr>
          <a:xfrm>
            <a:off x="9166242" y="1455627"/>
            <a:ext cx="144000" cy="3171780"/>
            <a:chOff x="9166242" y="1455627"/>
            <a:chExt cx="144000" cy="3171780"/>
          </a:xfrm>
        </p:grpSpPr>
        <p:sp>
          <p:nvSpPr>
            <p:cNvPr id="55" name="Freihandform 54"/>
            <p:cNvSpPr/>
            <p:nvPr userDrawn="1"/>
          </p:nvSpPr>
          <p:spPr>
            <a:xfrm rot="16200000">
              <a:off x="9238242" y="455540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56" name="Freihandform 55"/>
            <p:cNvSpPr/>
            <p:nvPr userDrawn="1"/>
          </p:nvSpPr>
          <p:spPr>
            <a:xfrm rot="16200000">
              <a:off x="9238242" y="138362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pic>
        <p:nvPicPr>
          <p:cNvPr id="25" name="Grafik 24">
            <a:extLst>
              <a:ext uri="{FF2B5EF4-FFF2-40B4-BE49-F238E27FC236}">
                <a16:creationId xmlns:a16="http://schemas.microsoft.com/office/drawing/2014/main" id="{B3463DD9-AA5C-407F-8B5B-0DD8886DC6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6481502" y="1462881"/>
            <a:ext cx="1905001" cy="333612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9825F513-2116-47C9-8AF9-EF390D6B12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330160" y="215999"/>
            <a:ext cx="1904983" cy="351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14896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nsprechpartner Druck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uppieren 40"/>
          <p:cNvGrpSpPr/>
          <p:nvPr userDrawn="1"/>
        </p:nvGrpSpPr>
        <p:grpSpPr>
          <a:xfrm>
            <a:off x="575556" y="-124966"/>
            <a:ext cx="7416824" cy="108000"/>
            <a:chOff x="575556" y="-124966"/>
            <a:chExt cx="7416824" cy="108000"/>
          </a:xfrm>
        </p:grpSpPr>
        <p:sp>
          <p:nvSpPr>
            <p:cNvPr id="42" name="Freihandform 41"/>
            <p:cNvSpPr/>
            <p:nvPr userDrawn="1"/>
          </p:nvSpPr>
          <p:spPr>
            <a:xfrm>
              <a:off x="575556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" name="Freihandform 42"/>
            <p:cNvSpPr/>
            <p:nvPr userDrawn="1"/>
          </p:nvSpPr>
          <p:spPr>
            <a:xfrm>
              <a:off x="4139952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" name="Freihandform 43"/>
            <p:cNvSpPr/>
            <p:nvPr userDrawn="1"/>
          </p:nvSpPr>
          <p:spPr>
            <a:xfrm>
              <a:off x="4427984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" name="Freihandform 44"/>
            <p:cNvSpPr/>
            <p:nvPr userDrawn="1"/>
          </p:nvSpPr>
          <p:spPr>
            <a:xfrm>
              <a:off x="7992380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6" name="Gruppieren 45"/>
          <p:cNvGrpSpPr/>
          <p:nvPr userDrawn="1"/>
        </p:nvGrpSpPr>
        <p:grpSpPr>
          <a:xfrm>
            <a:off x="575556" y="5160466"/>
            <a:ext cx="7416824" cy="108000"/>
            <a:chOff x="575556" y="5160466"/>
            <a:chExt cx="7416824" cy="108000"/>
          </a:xfrm>
        </p:grpSpPr>
        <p:sp>
          <p:nvSpPr>
            <p:cNvPr id="47" name="Freihandform 46"/>
            <p:cNvSpPr/>
            <p:nvPr userDrawn="1"/>
          </p:nvSpPr>
          <p:spPr bwMode="gray">
            <a:xfrm>
              <a:off x="575556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48" name="Freihandform 47"/>
            <p:cNvSpPr/>
            <p:nvPr userDrawn="1"/>
          </p:nvSpPr>
          <p:spPr bwMode="gray">
            <a:xfrm>
              <a:off x="4139952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49" name="Freihandform 48"/>
            <p:cNvSpPr/>
            <p:nvPr userDrawn="1"/>
          </p:nvSpPr>
          <p:spPr bwMode="gray">
            <a:xfrm>
              <a:off x="4427984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50" name="Freihandform 49"/>
            <p:cNvSpPr/>
            <p:nvPr userDrawn="1"/>
          </p:nvSpPr>
          <p:spPr bwMode="gray">
            <a:xfrm>
              <a:off x="7992380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grpSp>
        <p:nvGrpSpPr>
          <p:cNvPr id="51" name="Gruppieren 50"/>
          <p:cNvGrpSpPr/>
          <p:nvPr userDrawn="1"/>
        </p:nvGrpSpPr>
        <p:grpSpPr bwMode="blackWhite">
          <a:xfrm>
            <a:off x="-165953" y="1448006"/>
            <a:ext cx="144000" cy="3175980"/>
            <a:chOff x="-165953" y="1448006"/>
            <a:chExt cx="144000" cy="3175980"/>
          </a:xfrm>
        </p:grpSpPr>
        <p:sp>
          <p:nvSpPr>
            <p:cNvPr id="52" name="Freihandform 51"/>
            <p:cNvSpPr/>
            <p:nvPr/>
          </p:nvSpPr>
          <p:spPr bwMode="blackWhite">
            <a:xfrm rot="16200000">
              <a:off x="-93953" y="455198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  <p:sp>
          <p:nvSpPr>
            <p:cNvPr id="53" name="Freihandform 52"/>
            <p:cNvSpPr/>
            <p:nvPr/>
          </p:nvSpPr>
          <p:spPr bwMode="blackWhite">
            <a:xfrm rot="16200000">
              <a:off x="-93953" y="137600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</p:grpSp>
      <p:grpSp>
        <p:nvGrpSpPr>
          <p:cNvPr id="54" name="Gruppieren 53"/>
          <p:cNvGrpSpPr/>
          <p:nvPr userDrawn="1"/>
        </p:nvGrpSpPr>
        <p:grpSpPr>
          <a:xfrm>
            <a:off x="9166242" y="1455627"/>
            <a:ext cx="144000" cy="3171780"/>
            <a:chOff x="9166242" y="1455627"/>
            <a:chExt cx="144000" cy="3171780"/>
          </a:xfrm>
        </p:grpSpPr>
        <p:sp>
          <p:nvSpPr>
            <p:cNvPr id="55" name="Freihandform 54"/>
            <p:cNvSpPr/>
            <p:nvPr userDrawn="1"/>
          </p:nvSpPr>
          <p:spPr>
            <a:xfrm rot="16200000">
              <a:off x="9238242" y="455540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56" name="Freihandform 55"/>
            <p:cNvSpPr/>
            <p:nvPr userDrawn="1"/>
          </p:nvSpPr>
          <p:spPr>
            <a:xfrm rot="16200000">
              <a:off x="9238242" y="138362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sp>
        <p:nvSpPr>
          <p:cNvPr id="23" name="Titel 1"/>
          <p:cNvSpPr>
            <a:spLocks noGrp="1"/>
          </p:cNvSpPr>
          <p:nvPr>
            <p:ph type="ctrTitle" hasCustomPrompt="1"/>
          </p:nvPr>
        </p:nvSpPr>
        <p:spPr bwMode="blackWhite">
          <a:xfrm>
            <a:off x="569092" y="1432168"/>
            <a:ext cx="3456000" cy="3168000"/>
          </a:xfrm>
          <a:solidFill>
            <a:schemeClr val="accent3"/>
          </a:solidFill>
        </p:spPr>
        <p:txBody>
          <a:bodyPr lIns="360000" tIns="360000" rIns="270000" bIns="270000">
            <a:no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Ansprechpartner</a:t>
            </a:r>
          </a:p>
        </p:txBody>
      </p:sp>
      <p:sp>
        <p:nvSpPr>
          <p:cNvPr id="24" name="Textplatzhalter 8"/>
          <p:cNvSpPr>
            <a:spLocks noGrp="1"/>
          </p:cNvSpPr>
          <p:nvPr>
            <p:ph type="body" sz="quarter" idx="13" hasCustomPrompt="1"/>
          </p:nvPr>
        </p:nvSpPr>
        <p:spPr bwMode="blackWhite">
          <a:xfrm>
            <a:off x="569092" y="2291338"/>
            <a:ext cx="3420000" cy="184666"/>
          </a:xfrm>
        </p:spPr>
        <p:txBody>
          <a:bodyPr lIns="360000" rIns="270000" anchor="ctr" anchorCtr="0"/>
          <a:lstStyle>
            <a:lvl1pPr marL="0" indent="0"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Vorname Nachname </a:t>
            </a:r>
          </a:p>
        </p:txBody>
      </p:sp>
      <p:sp>
        <p:nvSpPr>
          <p:cNvPr id="25" name="Textplatzhalter 8"/>
          <p:cNvSpPr>
            <a:spLocks noGrp="1"/>
          </p:cNvSpPr>
          <p:nvPr>
            <p:ph type="body" sz="quarter" idx="14" hasCustomPrompt="1"/>
          </p:nvPr>
        </p:nvSpPr>
        <p:spPr bwMode="blackWhite">
          <a:xfrm>
            <a:off x="569092" y="3161978"/>
            <a:ext cx="3420000" cy="184666"/>
          </a:xfrm>
        </p:spPr>
        <p:txBody>
          <a:bodyPr lIns="360000" rIns="270000" anchor="ctr" anchorCtr="0"/>
          <a:lstStyle>
            <a:lvl1pPr marL="0" indent="0"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Vorname Nachname </a:t>
            </a:r>
          </a:p>
        </p:txBody>
      </p:sp>
      <p:sp>
        <p:nvSpPr>
          <p:cNvPr id="26" name="Textplatzhalter 8"/>
          <p:cNvSpPr>
            <a:spLocks noGrp="1"/>
          </p:cNvSpPr>
          <p:nvPr>
            <p:ph type="body" sz="quarter" idx="15" hasCustomPrompt="1"/>
          </p:nvPr>
        </p:nvSpPr>
        <p:spPr bwMode="blackWhite">
          <a:xfrm>
            <a:off x="569092" y="2489091"/>
            <a:ext cx="3420000" cy="184666"/>
          </a:xfrm>
        </p:spPr>
        <p:txBody>
          <a:bodyPr lIns="360000" rIns="270000" anchor="ctr" anchorCtr="0"/>
          <a:lstStyle>
            <a:lvl1pPr marL="0" indent="0">
              <a:spcBef>
                <a:spcPts val="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Funktion</a:t>
            </a:r>
          </a:p>
        </p:txBody>
      </p:sp>
      <p:sp>
        <p:nvSpPr>
          <p:cNvPr id="27" name="Textplatzhalter 8"/>
          <p:cNvSpPr>
            <a:spLocks noGrp="1"/>
          </p:cNvSpPr>
          <p:nvPr>
            <p:ph type="body" sz="quarter" idx="16" hasCustomPrompt="1"/>
          </p:nvPr>
        </p:nvSpPr>
        <p:spPr bwMode="blackWhite">
          <a:xfrm>
            <a:off x="569092" y="2686844"/>
            <a:ext cx="3420000" cy="184666"/>
          </a:xfrm>
        </p:spPr>
        <p:txBody>
          <a:bodyPr lIns="360000" rIns="270000" anchor="ctr" anchorCtr="0"/>
          <a:lstStyle>
            <a:lvl1pPr marL="0" indent="0">
              <a:spcBef>
                <a:spcPts val="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T +49 00 000 000-000</a:t>
            </a:r>
          </a:p>
        </p:txBody>
      </p:sp>
      <p:sp>
        <p:nvSpPr>
          <p:cNvPr id="28" name="Textplatzhalter 8"/>
          <p:cNvSpPr>
            <a:spLocks noGrp="1"/>
          </p:cNvSpPr>
          <p:nvPr>
            <p:ph type="body" sz="quarter" idx="17" hasCustomPrompt="1"/>
          </p:nvPr>
        </p:nvSpPr>
        <p:spPr bwMode="blackWhite">
          <a:xfrm>
            <a:off x="569092" y="2884597"/>
            <a:ext cx="3420000" cy="184666"/>
          </a:xfrm>
        </p:spPr>
        <p:txBody>
          <a:bodyPr lIns="360000" rIns="270000" anchor="ctr" anchorCtr="0"/>
          <a:lstStyle>
            <a:lvl1pPr marL="0" indent="0">
              <a:spcBef>
                <a:spcPts val="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vorname.nachname@westnetz.de</a:t>
            </a:r>
          </a:p>
        </p:txBody>
      </p:sp>
      <p:sp>
        <p:nvSpPr>
          <p:cNvPr id="29" name="Textplatzhalter 8"/>
          <p:cNvSpPr>
            <a:spLocks noGrp="1"/>
          </p:cNvSpPr>
          <p:nvPr>
            <p:ph type="body" sz="quarter" idx="18" hasCustomPrompt="1"/>
          </p:nvPr>
        </p:nvSpPr>
        <p:spPr bwMode="blackWhite">
          <a:xfrm>
            <a:off x="569092" y="3359731"/>
            <a:ext cx="3420000" cy="184666"/>
          </a:xfrm>
        </p:spPr>
        <p:txBody>
          <a:bodyPr lIns="360000" rIns="270000" anchor="ctr" anchorCtr="0"/>
          <a:lstStyle>
            <a:lvl1pPr marL="0" indent="0">
              <a:spcBef>
                <a:spcPts val="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Funktion</a:t>
            </a:r>
          </a:p>
        </p:txBody>
      </p:sp>
      <p:sp>
        <p:nvSpPr>
          <p:cNvPr id="30" name="Textplatzhalter 8"/>
          <p:cNvSpPr>
            <a:spLocks noGrp="1"/>
          </p:cNvSpPr>
          <p:nvPr>
            <p:ph type="body" sz="quarter" idx="19" hasCustomPrompt="1"/>
          </p:nvPr>
        </p:nvSpPr>
        <p:spPr bwMode="blackWhite">
          <a:xfrm>
            <a:off x="569092" y="3557484"/>
            <a:ext cx="3420000" cy="184666"/>
          </a:xfrm>
        </p:spPr>
        <p:txBody>
          <a:bodyPr lIns="360000" rIns="270000" anchor="ctr" anchorCtr="0"/>
          <a:lstStyle>
            <a:lvl1pPr marL="0" indent="0">
              <a:spcBef>
                <a:spcPts val="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T +49 00 000 000-000</a:t>
            </a:r>
          </a:p>
        </p:txBody>
      </p:sp>
      <p:sp>
        <p:nvSpPr>
          <p:cNvPr id="31" name="Textplatzhalter 8"/>
          <p:cNvSpPr>
            <a:spLocks noGrp="1"/>
          </p:cNvSpPr>
          <p:nvPr>
            <p:ph type="body" sz="quarter" idx="20" hasCustomPrompt="1"/>
          </p:nvPr>
        </p:nvSpPr>
        <p:spPr bwMode="blackWhite">
          <a:xfrm>
            <a:off x="569092" y="3755236"/>
            <a:ext cx="3420000" cy="184666"/>
          </a:xfrm>
        </p:spPr>
        <p:txBody>
          <a:bodyPr lIns="360000" rIns="270000" anchor="ctr" anchorCtr="0"/>
          <a:lstStyle>
            <a:lvl1pPr marL="0" indent="0">
              <a:spcBef>
                <a:spcPts val="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vorname.nachname@westnetz.de</a:t>
            </a:r>
          </a:p>
        </p:txBody>
      </p:sp>
      <p:pic>
        <p:nvPicPr>
          <p:cNvPr id="35" name="Grafik 34">
            <a:extLst>
              <a:ext uri="{FF2B5EF4-FFF2-40B4-BE49-F238E27FC236}">
                <a16:creationId xmlns:a16="http://schemas.microsoft.com/office/drawing/2014/main" id="{62C33251-DF7C-431F-BB8E-A79F5D0C1F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6481502" y="1462881"/>
            <a:ext cx="1905001" cy="333612"/>
          </a:xfrm>
          <a:prstGeom prst="rect">
            <a:avLst/>
          </a:prstGeom>
        </p:spPr>
      </p:pic>
      <p:pic>
        <p:nvPicPr>
          <p:cNvPr id="32" name="Grafik 31">
            <a:extLst>
              <a:ext uri="{FF2B5EF4-FFF2-40B4-BE49-F238E27FC236}">
                <a16:creationId xmlns:a16="http://schemas.microsoft.com/office/drawing/2014/main" id="{052E9553-3D94-49CF-87CF-EEA839906EE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330160" y="215999"/>
            <a:ext cx="1904983" cy="351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7792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 Bildschirm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 bwMode="blackWhite">
          <a:xfrm>
            <a:off x="568643" y="2382594"/>
            <a:ext cx="3456000" cy="1728000"/>
          </a:xfrm>
          <a:solidFill>
            <a:srgbClr val="E60055"/>
          </a:solidFill>
        </p:spPr>
        <p:txBody>
          <a:bodyPr lIns="396000" tIns="396000" rIns="396000" bIns="432000">
            <a:noAutofit/>
          </a:bodyPr>
          <a:lstStyle>
            <a:lvl1pPr>
              <a:defRPr sz="2400" b="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de-DE" noProof="0" dirty="0"/>
          </a:p>
        </p:txBody>
      </p:sp>
      <p:grpSp>
        <p:nvGrpSpPr>
          <p:cNvPr id="41" name="Gruppieren 40"/>
          <p:cNvGrpSpPr/>
          <p:nvPr userDrawn="1"/>
        </p:nvGrpSpPr>
        <p:grpSpPr>
          <a:xfrm>
            <a:off x="575556" y="-124966"/>
            <a:ext cx="7416824" cy="108000"/>
            <a:chOff x="575556" y="-124966"/>
            <a:chExt cx="7416824" cy="108000"/>
          </a:xfrm>
        </p:grpSpPr>
        <p:sp>
          <p:nvSpPr>
            <p:cNvPr id="42" name="Freihandform 41"/>
            <p:cNvSpPr/>
            <p:nvPr userDrawn="1"/>
          </p:nvSpPr>
          <p:spPr>
            <a:xfrm>
              <a:off x="575556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  <p:sp>
          <p:nvSpPr>
            <p:cNvPr id="43" name="Freihandform 42"/>
            <p:cNvSpPr/>
            <p:nvPr userDrawn="1"/>
          </p:nvSpPr>
          <p:spPr>
            <a:xfrm>
              <a:off x="4139952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  <p:sp>
          <p:nvSpPr>
            <p:cNvPr id="44" name="Freihandform 43"/>
            <p:cNvSpPr/>
            <p:nvPr userDrawn="1"/>
          </p:nvSpPr>
          <p:spPr>
            <a:xfrm>
              <a:off x="4427984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  <p:sp>
          <p:nvSpPr>
            <p:cNvPr id="45" name="Freihandform 44"/>
            <p:cNvSpPr/>
            <p:nvPr userDrawn="1"/>
          </p:nvSpPr>
          <p:spPr>
            <a:xfrm>
              <a:off x="7992380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</p:grpSp>
      <p:grpSp>
        <p:nvGrpSpPr>
          <p:cNvPr id="46" name="Gruppieren 45"/>
          <p:cNvGrpSpPr/>
          <p:nvPr userDrawn="1"/>
        </p:nvGrpSpPr>
        <p:grpSpPr>
          <a:xfrm>
            <a:off x="575556" y="5160466"/>
            <a:ext cx="7416824" cy="108000"/>
            <a:chOff x="575556" y="5160466"/>
            <a:chExt cx="7416824" cy="108000"/>
          </a:xfrm>
        </p:grpSpPr>
        <p:sp>
          <p:nvSpPr>
            <p:cNvPr id="47" name="Freihandform 46"/>
            <p:cNvSpPr/>
            <p:nvPr userDrawn="1"/>
          </p:nvSpPr>
          <p:spPr bwMode="gray">
            <a:xfrm>
              <a:off x="575556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  <p:sp>
          <p:nvSpPr>
            <p:cNvPr id="48" name="Freihandform 47"/>
            <p:cNvSpPr/>
            <p:nvPr userDrawn="1"/>
          </p:nvSpPr>
          <p:spPr bwMode="gray">
            <a:xfrm>
              <a:off x="4139952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  <p:sp>
          <p:nvSpPr>
            <p:cNvPr id="49" name="Freihandform 48"/>
            <p:cNvSpPr/>
            <p:nvPr userDrawn="1"/>
          </p:nvSpPr>
          <p:spPr bwMode="gray">
            <a:xfrm>
              <a:off x="4427984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  <p:sp>
          <p:nvSpPr>
            <p:cNvPr id="50" name="Freihandform 49"/>
            <p:cNvSpPr/>
            <p:nvPr userDrawn="1"/>
          </p:nvSpPr>
          <p:spPr bwMode="gray">
            <a:xfrm>
              <a:off x="7992380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</p:grpSp>
      <p:grpSp>
        <p:nvGrpSpPr>
          <p:cNvPr id="51" name="Gruppieren 50"/>
          <p:cNvGrpSpPr/>
          <p:nvPr userDrawn="1"/>
        </p:nvGrpSpPr>
        <p:grpSpPr bwMode="blackWhite">
          <a:xfrm>
            <a:off x="-165953" y="1448006"/>
            <a:ext cx="144000" cy="3175980"/>
            <a:chOff x="-165953" y="1448006"/>
            <a:chExt cx="144000" cy="3175980"/>
          </a:xfrm>
        </p:grpSpPr>
        <p:sp>
          <p:nvSpPr>
            <p:cNvPr id="52" name="Freihandform 51"/>
            <p:cNvSpPr/>
            <p:nvPr/>
          </p:nvSpPr>
          <p:spPr bwMode="blackWhite">
            <a:xfrm rot="16200000">
              <a:off x="-93953" y="455198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  <p:sp>
          <p:nvSpPr>
            <p:cNvPr id="53" name="Freihandform 52"/>
            <p:cNvSpPr/>
            <p:nvPr/>
          </p:nvSpPr>
          <p:spPr bwMode="blackWhite">
            <a:xfrm rot="16200000">
              <a:off x="-93953" y="137600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</p:grpSp>
      <p:grpSp>
        <p:nvGrpSpPr>
          <p:cNvPr id="54" name="Gruppieren 53"/>
          <p:cNvGrpSpPr/>
          <p:nvPr userDrawn="1"/>
        </p:nvGrpSpPr>
        <p:grpSpPr>
          <a:xfrm>
            <a:off x="9166242" y="1455627"/>
            <a:ext cx="144000" cy="3171780"/>
            <a:chOff x="9166242" y="1455627"/>
            <a:chExt cx="144000" cy="3171780"/>
          </a:xfrm>
        </p:grpSpPr>
        <p:sp>
          <p:nvSpPr>
            <p:cNvPr id="55" name="Freihandform 54"/>
            <p:cNvSpPr/>
            <p:nvPr userDrawn="1"/>
          </p:nvSpPr>
          <p:spPr>
            <a:xfrm rot="16200000">
              <a:off x="9238242" y="455540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56" name="Freihandform 55"/>
            <p:cNvSpPr/>
            <p:nvPr userDrawn="1"/>
          </p:nvSpPr>
          <p:spPr>
            <a:xfrm rot="16200000">
              <a:off x="9238242" y="138362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pic>
        <p:nvPicPr>
          <p:cNvPr id="24" name="Grafik 23">
            <a:extLst>
              <a:ext uri="{FF2B5EF4-FFF2-40B4-BE49-F238E27FC236}">
                <a16:creationId xmlns:a16="http://schemas.microsoft.com/office/drawing/2014/main" id="{658EA6B6-7EA9-4F20-AFF7-383CB1FEA0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6481502" y="1462881"/>
            <a:ext cx="1905001" cy="333612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3045587D-526A-41A5-8E90-AD7500C6AA0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330160" y="215999"/>
            <a:ext cx="1904979" cy="35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2777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nsprechpartner Bildschirm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uppieren 40"/>
          <p:cNvGrpSpPr/>
          <p:nvPr userDrawn="1"/>
        </p:nvGrpSpPr>
        <p:grpSpPr>
          <a:xfrm>
            <a:off x="575556" y="-124966"/>
            <a:ext cx="7416824" cy="108000"/>
            <a:chOff x="575556" y="-124966"/>
            <a:chExt cx="7416824" cy="108000"/>
          </a:xfrm>
        </p:grpSpPr>
        <p:sp>
          <p:nvSpPr>
            <p:cNvPr id="42" name="Freihandform 41"/>
            <p:cNvSpPr/>
            <p:nvPr userDrawn="1"/>
          </p:nvSpPr>
          <p:spPr>
            <a:xfrm>
              <a:off x="575556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  <p:sp>
          <p:nvSpPr>
            <p:cNvPr id="43" name="Freihandform 42"/>
            <p:cNvSpPr/>
            <p:nvPr userDrawn="1"/>
          </p:nvSpPr>
          <p:spPr>
            <a:xfrm>
              <a:off x="4139952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  <p:sp>
          <p:nvSpPr>
            <p:cNvPr id="44" name="Freihandform 43"/>
            <p:cNvSpPr/>
            <p:nvPr userDrawn="1"/>
          </p:nvSpPr>
          <p:spPr>
            <a:xfrm>
              <a:off x="4427984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  <p:sp>
          <p:nvSpPr>
            <p:cNvPr id="45" name="Freihandform 44"/>
            <p:cNvSpPr/>
            <p:nvPr userDrawn="1"/>
          </p:nvSpPr>
          <p:spPr>
            <a:xfrm>
              <a:off x="7992380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</p:grpSp>
      <p:grpSp>
        <p:nvGrpSpPr>
          <p:cNvPr id="46" name="Gruppieren 45"/>
          <p:cNvGrpSpPr/>
          <p:nvPr userDrawn="1"/>
        </p:nvGrpSpPr>
        <p:grpSpPr>
          <a:xfrm>
            <a:off x="575556" y="5160466"/>
            <a:ext cx="7416824" cy="108000"/>
            <a:chOff x="575556" y="5160466"/>
            <a:chExt cx="7416824" cy="108000"/>
          </a:xfrm>
        </p:grpSpPr>
        <p:sp>
          <p:nvSpPr>
            <p:cNvPr id="47" name="Freihandform 46"/>
            <p:cNvSpPr/>
            <p:nvPr userDrawn="1"/>
          </p:nvSpPr>
          <p:spPr bwMode="gray">
            <a:xfrm>
              <a:off x="575556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  <p:sp>
          <p:nvSpPr>
            <p:cNvPr id="48" name="Freihandform 47"/>
            <p:cNvSpPr/>
            <p:nvPr userDrawn="1"/>
          </p:nvSpPr>
          <p:spPr bwMode="gray">
            <a:xfrm>
              <a:off x="4139952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  <p:sp>
          <p:nvSpPr>
            <p:cNvPr id="49" name="Freihandform 48"/>
            <p:cNvSpPr/>
            <p:nvPr userDrawn="1"/>
          </p:nvSpPr>
          <p:spPr bwMode="gray">
            <a:xfrm>
              <a:off x="4427984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  <p:sp>
          <p:nvSpPr>
            <p:cNvPr id="50" name="Freihandform 49"/>
            <p:cNvSpPr/>
            <p:nvPr userDrawn="1"/>
          </p:nvSpPr>
          <p:spPr bwMode="gray">
            <a:xfrm>
              <a:off x="7992380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</p:grpSp>
      <p:grpSp>
        <p:nvGrpSpPr>
          <p:cNvPr id="51" name="Gruppieren 50"/>
          <p:cNvGrpSpPr/>
          <p:nvPr userDrawn="1"/>
        </p:nvGrpSpPr>
        <p:grpSpPr bwMode="blackWhite">
          <a:xfrm>
            <a:off x="-165953" y="1448006"/>
            <a:ext cx="144000" cy="3175980"/>
            <a:chOff x="-165953" y="1448006"/>
            <a:chExt cx="144000" cy="3175980"/>
          </a:xfrm>
        </p:grpSpPr>
        <p:sp>
          <p:nvSpPr>
            <p:cNvPr id="52" name="Freihandform 51"/>
            <p:cNvSpPr/>
            <p:nvPr/>
          </p:nvSpPr>
          <p:spPr bwMode="blackWhite">
            <a:xfrm rot="16200000">
              <a:off x="-93953" y="455198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  <p:sp>
          <p:nvSpPr>
            <p:cNvPr id="53" name="Freihandform 52"/>
            <p:cNvSpPr/>
            <p:nvPr/>
          </p:nvSpPr>
          <p:spPr bwMode="blackWhite">
            <a:xfrm rot="16200000">
              <a:off x="-93953" y="137600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</p:grpSp>
      <p:grpSp>
        <p:nvGrpSpPr>
          <p:cNvPr id="54" name="Gruppieren 53"/>
          <p:cNvGrpSpPr/>
          <p:nvPr userDrawn="1"/>
        </p:nvGrpSpPr>
        <p:grpSpPr>
          <a:xfrm>
            <a:off x="9166242" y="1455627"/>
            <a:ext cx="144000" cy="3171780"/>
            <a:chOff x="9166242" y="1455627"/>
            <a:chExt cx="144000" cy="3171780"/>
          </a:xfrm>
        </p:grpSpPr>
        <p:sp>
          <p:nvSpPr>
            <p:cNvPr id="55" name="Freihandform 54"/>
            <p:cNvSpPr/>
            <p:nvPr userDrawn="1"/>
          </p:nvSpPr>
          <p:spPr>
            <a:xfrm rot="16200000">
              <a:off x="9238242" y="455540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  <p:sp>
          <p:nvSpPr>
            <p:cNvPr id="56" name="Freihandform 55"/>
            <p:cNvSpPr/>
            <p:nvPr userDrawn="1"/>
          </p:nvSpPr>
          <p:spPr>
            <a:xfrm rot="16200000">
              <a:off x="9238242" y="138362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</p:grpSp>
      <p:sp>
        <p:nvSpPr>
          <p:cNvPr id="23" name="Titel 1"/>
          <p:cNvSpPr>
            <a:spLocks noGrp="1"/>
          </p:cNvSpPr>
          <p:nvPr>
            <p:ph type="ctrTitle" hasCustomPrompt="1"/>
          </p:nvPr>
        </p:nvSpPr>
        <p:spPr bwMode="blackWhite">
          <a:xfrm>
            <a:off x="569092" y="1432168"/>
            <a:ext cx="3456000" cy="3168000"/>
          </a:xfrm>
          <a:solidFill>
            <a:srgbClr val="E60055"/>
          </a:solidFill>
        </p:spPr>
        <p:txBody>
          <a:bodyPr lIns="360000" tIns="360000" rIns="270000" bIns="270000">
            <a:no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Ansprechpartner</a:t>
            </a:r>
          </a:p>
        </p:txBody>
      </p:sp>
      <p:sp>
        <p:nvSpPr>
          <p:cNvPr id="24" name="Textplatzhalter 8"/>
          <p:cNvSpPr>
            <a:spLocks noGrp="1"/>
          </p:cNvSpPr>
          <p:nvPr>
            <p:ph type="body" sz="quarter" idx="13" hasCustomPrompt="1"/>
          </p:nvPr>
        </p:nvSpPr>
        <p:spPr bwMode="blackWhite">
          <a:xfrm>
            <a:off x="569092" y="2291338"/>
            <a:ext cx="3420000" cy="184666"/>
          </a:xfrm>
        </p:spPr>
        <p:txBody>
          <a:bodyPr lIns="360000" rIns="270000" anchor="ctr" anchorCtr="0"/>
          <a:lstStyle>
            <a:lvl1pPr marL="0" indent="0"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Vorname Nachname </a:t>
            </a:r>
          </a:p>
        </p:txBody>
      </p:sp>
      <p:sp>
        <p:nvSpPr>
          <p:cNvPr id="25" name="Textplatzhalter 8"/>
          <p:cNvSpPr>
            <a:spLocks noGrp="1"/>
          </p:cNvSpPr>
          <p:nvPr>
            <p:ph type="body" sz="quarter" idx="14" hasCustomPrompt="1"/>
          </p:nvPr>
        </p:nvSpPr>
        <p:spPr bwMode="blackWhite">
          <a:xfrm>
            <a:off x="569092" y="3161978"/>
            <a:ext cx="3420000" cy="184666"/>
          </a:xfrm>
        </p:spPr>
        <p:txBody>
          <a:bodyPr lIns="360000" rIns="270000" anchor="ctr" anchorCtr="0"/>
          <a:lstStyle>
            <a:lvl1pPr marL="0" indent="0"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Vorname Nachname </a:t>
            </a:r>
          </a:p>
        </p:txBody>
      </p:sp>
      <p:sp>
        <p:nvSpPr>
          <p:cNvPr id="26" name="Textplatzhalter 8"/>
          <p:cNvSpPr>
            <a:spLocks noGrp="1"/>
          </p:cNvSpPr>
          <p:nvPr>
            <p:ph type="body" sz="quarter" idx="15" hasCustomPrompt="1"/>
          </p:nvPr>
        </p:nvSpPr>
        <p:spPr bwMode="blackWhite">
          <a:xfrm>
            <a:off x="569092" y="2489091"/>
            <a:ext cx="3420000" cy="184666"/>
          </a:xfrm>
        </p:spPr>
        <p:txBody>
          <a:bodyPr lIns="360000" rIns="270000" anchor="ctr" anchorCtr="0"/>
          <a:lstStyle>
            <a:lvl1pPr marL="0" indent="0">
              <a:spcBef>
                <a:spcPts val="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Funktion</a:t>
            </a:r>
          </a:p>
        </p:txBody>
      </p:sp>
      <p:sp>
        <p:nvSpPr>
          <p:cNvPr id="27" name="Textplatzhalter 8"/>
          <p:cNvSpPr>
            <a:spLocks noGrp="1"/>
          </p:cNvSpPr>
          <p:nvPr>
            <p:ph type="body" sz="quarter" idx="16" hasCustomPrompt="1"/>
          </p:nvPr>
        </p:nvSpPr>
        <p:spPr bwMode="blackWhite">
          <a:xfrm>
            <a:off x="569092" y="2686844"/>
            <a:ext cx="3420000" cy="184666"/>
          </a:xfrm>
        </p:spPr>
        <p:txBody>
          <a:bodyPr lIns="360000" rIns="270000" anchor="ctr" anchorCtr="0"/>
          <a:lstStyle>
            <a:lvl1pPr marL="0" indent="0">
              <a:spcBef>
                <a:spcPts val="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T +49 00 000 000-000</a:t>
            </a:r>
          </a:p>
        </p:txBody>
      </p:sp>
      <p:sp>
        <p:nvSpPr>
          <p:cNvPr id="28" name="Textplatzhalter 8"/>
          <p:cNvSpPr>
            <a:spLocks noGrp="1"/>
          </p:cNvSpPr>
          <p:nvPr>
            <p:ph type="body" sz="quarter" idx="17" hasCustomPrompt="1"/>
          </p:nvPr>
        </p:nvSpPr>
        <p:spPr bwMode="blackWhite">
          <a:xfrm>
            <a:off x="569092" y="2884597"/>
            <a:ext cx="3420000" cy="184666"/>
          </a:xfrm>
        </p:spPr>
        <p:txBody>
          <a:bodyPr lIns="360000" rIns="270000" anchor="ctr" anchorCtr="0"/>
          <a:lstStyle>
            <a:lvl1pPr marL="0" indent="0">
              <a:spcBef>
                <a:spcPts val="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vorname.nachname@westnetz.de</a:t>
            </a:r>
          </a:p>
        </p:txBody>
      </p:sp>
      <p:sp>
        <p:nvSpPr>
          <p:cNvPr id="29" name="Textplatzhalter 8"/>
          <p:cNvSpPr>
            <a:spLocks noGrp="1"/>
          </p:cNvSpPr>
          <p:nvPr>
            <p:ph type="body" sz="quarter" idx="18" hasCustomPrompt="1"/>
          </p:nvPr>
        </p:nvSpPr>
        <p:spPr bwMode="blackWhite">
          <a:xfrm>
            <a:off x="569092" y="3359731"/>
            <a:ext cx="3420000" cy="184666"/>
          </a:xfrm>
        </p:spPr>
        <p:txBody>
          <a:bodyPr lIns="360000" rIns="270000" anchor="ctr" anchorCtr="0"/>
          <a:lstStyle>
            <a:lvl1pPr marL="0" indent="0">
              <a:spcBef>
                <a:spcPts val="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Funktion</a:t>
            </a:r>
          </a:p>
        </p:txBody>
      </p:sp>
      <p:sp>
        <p:nvSpPr>
          <p:cNvPr id="30" name="Textplatzhalter 8"/>
          <p:cNvSpPr>
            <a:spLocks noGrp="1"/>
          </p:cNvSpPr>
          <p:nvPr>
            <p:ph type="body" sz="quarter" idx="19" hasCustomPrompt="1"/>
          </p:nvPr>
        </p:nvSpPr>
        <p:spPr bwMode="blackWhite">
          <a:xfrm>
            <a:off x="569092" y="3557484"/>
            <a:ext cx="3420000" cy="184666"/>
          </a:xfrm>
        </p:spPr>
        <p:txBody>
          <a:bodyPr lIns="360000" rIns="270000" anchor="ctr" anchorCtr="0"/>
          <a:lstStyle>
            <a:lvl1pPr marL="0" indent="0">
              <a:spcBef>
                <a:spcPts val="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T +49 00 000 000-000</a:t>
            </a:r>
          </a:p>
        </p:txBody>
      </p:sp>
      <p:sp>
        <p:nvSpPr>
          <p:cNvPr id="31" name="Textplatzhalter 8"/>
          <p:cNvSpPr>
            <a:spLocks noGrp="1"/>
          </p:cNvSpPr>
          <p:nvPr>
            <p:ph type="body" sz="quarter" idx="20" hasCustomPrompt="1"/>
          </p:nvPr>
        </p:nvSpPr>
        <p:spPr bwMode="blackWhite">
          <a:xfrm>
            <a:off x="569092" y="3755236"/>
            <a:ext cx="3420000" cy="184666"/>
          </a:xfrm>
        </p:spPr>
        <p:txBody>
          <a:bodyPr lIns="360000" rIns="270000" anchor="ctr" anchorCtr="0"/>
          <a:lstStyle>
            <a:lvl1pPr marL="0" indent="0">
              <a:spcBef>
                <a:spcPts val="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vorname.nachname@westnetz.de</a:t>
            </a:r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83935FDC-A30C-41FC-A6F1-36663112CC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6481502" y="1462881"/>
            <a:ext cx="1905001" cy="333612"/>
          </a:xfrm>
          <a:prstGeom prst="rect">
            <a:avLst/>
          </a:prstGeom>
        </p:spPr>
      </p:pic>
      <p:pic>
        <p:nvPicPr>
          <p:cNvPr id="32" name="Grafik 31">
            <a:extLst>
              <a:ext uri="{FF2B5EF4-FFF2-40B4-BE49-F238E27FC236}">
                <a16:creationId xmlns:a16="http://schemas.microsoft.com/office/drawing/2014/main" id="{CB1C11E4-00F7-4ECD-BDF2-883EF162D30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330160" y="215999"/>
            <a:ext cx="1904979" cy="35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70443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76867BC6-D6F4-4215-B307-CC99816FEBA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300922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76867BC6-D6F4-4215-B307-CC99816FEB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2D86A7AE-DE1C-4633-A0B1-A62E35D6103D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solidFill>
            <a:srgbClr val="64B42D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l">
              <a:spcBef>
                <a:spcPts val="600"/>
              </a:spcBef>
              <a:buFont typeface="Arial" panose="020B0604020202020204" pitchFamily="34" charset="0"/>
              <a:buNone/>
            </a:pPr>
            <a:endParaRPr lang="de-DE" sz="2400" b="0" i="0" baseline="0" dirty="0" err="1">
              <a:solidFill>
                <a:schemeClr val="bg1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5" name="Bildplatzhalter 8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9144000" cy="5143500"/>
          </a:xfrm>
          <a:blipFill>
            <a:blip r:embed="rId6"/>
            <a:stretch>
              <a:fillRect/>
            </a:stretch>
          </a:blipFill>
        </p:spPr>
        <p:txBody>
          <a:bodyPr vert="horz" wrap="square" lIns="0" tIns="0" rIns="0" bIns="0" rtlCol="0" anchor="t">
            <a:noAutofit/>
          </a:bodyPr>
          <a:lstStyle>
            <a:lvl1pPr marL="171450" indent="-171450" algn="ctr">
              <a:buFont typeface="Arial" panose="020B0604020202020204" pitchFamily="34" charset="0"/>
              <a:buNone/>
              <a:defRPr lang="de-DE"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9" name="Titel 1"/>
          <p:cNvSpPr>
            <a:spLocks noGrp="1"/>
          </p:cNvSpPr>
          <p:nvPr>
            <p:ph type="ctrTitle"/>
          </p:nvPr>
        </p:nvSpPr>
        <p:spPr bwMode="blackWhite">
          <a:xfrm>
            <a:off x="569092" y="1432168"/>
            <a:ext cx="3456000" cy="1728000"/>
          </a:xfrm>
          <a:solidFill>
            <a:srgbClr val="64B42D"/>
          </a:solidFill>
        </p:spPr>
        <p:txBody>
          <a:bodyPr lIns="396000" tIns="396000" rIns="396000" bIns="432000">
            <a:noAutofit/>
          </a:bodyPr>
          <a:lstStyle>
            <a:lvl1pPr>
              <a:defRPr sz="2400" b="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55849152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sprechpartner mit Voll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8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9144000" cy="51435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0" rtlCol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de-DE"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3" name="Titel 1"/>
          <p:cNvSpPr>
            <a:spLocks noGrp="1"/>
          </p:cNvSpPr>
          <p:nvPr>
            <p:ph type="ctrTitle" hasCustomPrompt="1"/>
          </p:nvPr>
        </p:nvSpPr>
        <p:spPr bwMode="blackWhite">
          <a:xfrm>
            <a:off x="569092" y="1432168"/>
            <a:ext cx="3456000" cy="3168000"/>
          </a:xfrm>
          <a:solidFill>
            <a:srgbClr val="64B42D"/>
          </a:solidFill>
        </p:spPr>
        <p:txBody>
          <a:bodyPr lIns="360000" tIns="360000" rIns="270000" bIns="270000">
            <a:no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Ansprechpartner</a:t>
            </a:r>
          </a:p>
        </p:txBody>
      </p:sp>
      <p:sp>
        <p:nvSpPr>
          <p:cNvPr id="14" name="Textplatzhalter 8"/>
          <p:cNvSpPr>
            <a:spLocks noGrp="1"/>
          </p:cNvSpPr>
          <p:nvPr>
            <p:ph type="body" sz="quarter" idx="13" hasCustomPrompt="1"/>
          </p:nvPr>
        </p:nvSpPr>
        <p:spPr bwMode="blackWhite">
          <a:xfrm>
            <a:off x="569092" y="2291338"/>
            <a:ext cx="3420000" cy="184666"/>
          </a:xfrm>
          <a:noFill/>
        </p:spPr>
        <p:txBody>
          <a:bodyPr lIns="360000" rIns="270000" anchor="ctr" anchorCtr="0"/>
          <a:lstStyle>
            <a:lvl1pPr marL="0" indent="0"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Vorname Nachname </a:t>
            </a:r>
          </a:p>
        </p:txBody>
      </p:sp>
      <p:sp>
        <p:nvSpPr>
          <p:cNvPr id="15" name="Textplatzhalter 8"/>
          <p:cNvSpPr>
            <a:spLocks noGrp="1"/>
          </p:cNvSpPr>
          <p:nvPr>
            <p:ph type="body" sz="quarter" idx="14" hasCustomPrompt="1"/>
          </p:nvPr>
        </p:nvSpPr>
        <p:spPr bwMode="blackWhite">
          <a:xfrm>
            <a:off x="569092" y="3161978"/>
            <a:ext cx="3420000" cy="184666"/>
          </a:xfrm>
          <a:noFill/>
        </p:spPr>
        <p:txBody>
          <a:bodyPr lIns="360000" rIns="270000" anchor="ctr" anchorCtr="0"/>
          <a:lstStyle>
            <a:lvl1pPr marL="0" indent="0"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Vorname Nachname </a:t>
            </a:r>
          </a:p>
        </p:txBody>
      </p:sp>
      <p:sp>
        <p:nvSpPr>
          <p:cNvPr id="16" name="Textplatzhalter 8"/>
          <p:cNvSpPr>
            <a:spLocks noGrp="1"/>
          </p:cNvSpPr>
          <p:nvPr>
            <p:ph type="body" sz="quarter" idx="15" hasCustomPrompt="1"/>
          </p:nvPr>
        </p:nvSpPr>
        <p:spPr bwMode="blackWhite">
          <a:xfrm>
            <a:off x="569092" y="2489091"/>
            <a:ext cx="3420000" cy="184666"/>
          </a:xfrm>
          <a:noFill/>
        </p:spPr>
        <p:txBody>
          <a:bodyPr lIns="360000" rIns="270000" anchor="ctr" anchorCtr="0"/>
          <a:lstStyle>
            <a:lvl1pPr marL="0" indent="0">
              <a:spcBef>
                <a:spcPts val="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Funktion</a:t>
            </a:r>
          </a:p>
        </p:txBody>
      </p:sp>
      <p:sp>
        <p:nvSpPr>
          <p:cNvPr id="17" name="Textplatzhalter 8"/>
          <p:cNvSpPr>
            <a:spLocks noGrp="1"/>
          </p:cNvSpPr>
          <p:nvPr>
            <p:ph type="body" sz="quarter" idx="16" hasCustomPrompt="1"/>
          </p:nvPr>
        </p:nvSpPr>
        <p:spPr bwMode="blackWhite">
          <a:xfrm>
            <a:off x="569092" y="2686844"/>
            <a:ext cx="3420000" cy="184666"/>
          </a:xfrm>
          <a:noFill/>
        </p:spPr>
        <p:txBody>
          <a:bodyPr lIns="360000" rIns="270000" anchor="ctr" anchorCtr="0"/>
          <a:lstStyle>
            <a:lvl1pPr marL="0" indent="0">
              <a:spcBef>
                <a:spcPts val="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T +49 00 000 000-000</a:t>
            </a:r>
          </a:p>
        </p:txBody>
      </p:sp>
      <p:sp>
        <p:nvSpPr>
          <p:cNvPr id="18" name="Textplatzhalter 8"/>
          <p:cNvSpPr>
            <a:spLocks noGrp="1"/>
          </p:cNvSpPr>
          <p:nvPr>
            <p:ph type="body" sz="quarter" idx="17" hasCustomPrompt="1"/>
          </p:nvPr>
        </p:nvSpPr>
        <p:spPr bwMode="blackWhite">
          <a:xfrm>
            <a:off x="569092" y="2884597"/>
            <a:ext cx="3420000" cy="184666"/>
          </a:xfrm>
          <a:noFill/>
        </p:spPr>
        <p:txBody>
          <a:bodyPr lIns="360000" rIns="270000" anchor="ctr" anchorCtr="0"/>
          <a:lstStyle>
            <a:lvl1pPr marL="0" indent="0">
              <a:spcBef>
                <a:spcPts val="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vorname.nachname@westnetz.de</a:t>
            </a:r>
          </a:p>
        </p:txBody>
      </p:sp>
      <p:sp>
        <p:nvSpPr>
          <p:cNvPr id="19" name="Textplatzhalter 8"/>
          <p:cNvSpPr>
            <a:spLocks noGrp="1"/>
          </p:cNvSpPr>
          <p:nvPr>
            <p:ph type="body" sz="quarter" idx="18" hasCustomPrompt="1"/>
          </p:nvPr>
        </p:nvSpPr>
        <p:spPr bwMode="blackWhite">
          <a:xfrm>
            <a:off x="569092" y="3359731"/>
            <a:ext cx="3420000" cy="184666"/>
          </a:xfrm>
          <a:noFill/>
        </p:spPr>
        <p:txBody>
          <a:bodyPr lIns="360000" rIns="270000" anchor="ctr" anchorCtr="0"/>
          <a:lstStyle>
            <a:lvl1pPr marL="0" indent="0">
              <a:spcBef>
                <a:spcPts val="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Funktion</a:t>
            </a:r>
          </a:p>
        </p:txBody>
      </p:sp>
      <p:sp>
        <p:nvSpPr>
          <p:cNvPr id="20" name="Textplatzhalter 8"/>
          <p:cNvSpPr>
            <a:spLocks noGrp="1"/>
          </p:cNvSpPr>
          <p:nvPr>
            <p:ph type="body" sz="quarter" idx="19" hasCustomPrompt="1"/>
          </p:nvPr>
        </p:nvSpPr>
        <p:spPr bwMode="blackWhite">
          <a:xfrm>
            <a:off x="569092" y="3557484"/>
            <a:ext cx="3420000" cy="184666"/>
          </a:xfrm>
          <a:noFill/>
        </p:spPr>
        <p:txBody>
          <a:bodyPr lIns="360000" rIns="270000" anchor="ctr" anchorCtr="0"/>
          <a:lstStyle>
            <a:lvl1pPr marL="0" indent="0">
              <a:spcBef>
                <a:spcPts val="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T +49 00 000 000-000</a:t>
            </a:r>
          </a:p>
        </p:txBody>
      </p:sp>
      <p:sp>
        <p:nvSpPr>
          <p:cNvPr id="21" name="Textplatzhalter 8"/>
          <p:cNvSpPr>
            <a:spLocks noGrp="1"/>
          </p:cNvSpPr>
          <p:nvPr>
            <p:ph type="body" sz="quarter" idx="20" hasCustomPrompt="1"/>
          </p:nvPr>
        </p:nvSpPr>
        <p:spPr bwMode="blackWhite">
          <a:xfrm>
            <a:off x="569092" y="3755236"/>
            <a:ext cx="3420000" cy="184666"/>
          </a:xfrm>
          <a:noFill/>
        </p:spPr>
        <p:txBody>
          <a:bodyPr lIns="360000" rIns="270000" anchor="ctr" anchorCtr="0"/>
          <a:lstStyle>
            <a:lvl1pPr marL="0" indent="0">
              <a:spcBef>
                <a:spcPts val="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vorname.nachname@westnetz.de</a:t>
            </a:r>
          </a:p>
        </p:txBody>
      </p:sp>
    </p:spTree>
    <p:extLst>
      <p:ext uri="{BB962C8B-B14F-4D97-AF65-F5344CB8AC3E}">
        <p14:creationId xmlns:p14="http://schemas.microsoft.com/office/powerpoint/2010/main" val="251365813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nsprechpartner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ildplatzhalter 8"/>
          <p:cNvSpPr>
            <a:spLocks noGrp="1"/>
          </p:cNvSpPr>
          <p:nvPr>
            <p:ph type="pic" sz="quarter" idx="12"/>
          </p:nvPr>
        </p:nvSpPr>
        <p:spPr>
          <a:xfrm>
            <a:off x="578984" y="1454088"/>
            <a:ext cx="3456000" cy="2844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0" rtlCol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de-DE"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grpSp>
        <p:nvGrpSpPr>
          <p:cNvPr id="41" name="Gruppieren 40"/>
          <p:cNvGrpSpPr/>
          <p:nvPr userDrawn="1"/>
        </p:nvGrpSpPr>
        <p:grpSpPr>
          <a:xfrm>
            <a:off x="575556" y="-124966"/>
            <a:ext cx="7416824" cy="108000"/>
            <a:chOff x="575556" y="-124966"/>
            <a:chExt cx="7416824" cy="108000"/>
          </a:xfrm>
        </p:grpSpPr>
        <p:sp>
          <p:nvSpPr>
            <p:cNvPr id="42" name="Freihandform 41"/>
            <p:cNvSpPr/>
            <p:nvPr userDrawn="1"/>
          </p:nvSpPr>
          <p:spPr>
            <a:xfrm>
              <a:off x="575556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" name="Freihandform 42"/>
            <p:cNvSpPr/>
            <p:nvPr userDrawn="1"/>
          </p:nvSpPr>
          <p:spPr>
            <a:xfrm>
              <a:off x="4139952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" name="Freihandform 43"/>
            <p:cNvSpPr/>
            <p:nvPr userDrawn="1"/>
          </p:nvSpPr>
          <p:spPr>
            <a:xfrm>
              <a:off x="4427984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" name="Freihandform 44"/>
            <p:cNvSpPr/>
            <p:nvPr userDrawn="1"/>
          </p:nvSpPr>
          <p:spPr>
            <a:xfrm>
              <a:off x="7992380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6" name="Gruppieren 45"/>
          <p:cNvGrpSpPr/>
          <p:nvPr userDrawn="1"/>
        </p:nvGrpSpPr>
        <p:grpSpPr>
          <a:xfrm>
            <a:off x="575556" y="5160466"/>
            <a:ext cx="7416824" cy="108000"/>
            <a:chOff x="575556" y="5160466"/>
            <a:chExt cx="7416824" cy="108000"/>
          </a:xfrm>
        </p:grpSpPr>
        <p:sp>
          <p:nvSpPr>
            <p:cNvPr id="47" name="Freihandform 46"/>
            <p:cNvSpPr/>
            <p:nvPr userDrawn="1"/>
          </p:nvSpPr>
          <p:spPr bwMode="gray">
            <a:xfrm>
              <a:off x="575556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48" name="Freihandform 47"/>
            <p:cNvSpPr/>
            <p:nvPr userDrawn="1"/>
          </p:nvSpPr>
          <p:spPr bwMode="gray">
            <a:xfrm>
              <a:off x="4139952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49" name="Freihandform 48"/>
            <p:cNvSpPr/>
            <p:nvPr userDrawn="1"/>
          </p:nvSpPr>
          <p:spPr bwMode="gray">
            <a:xfrm>
              <a:off x="4427984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50" name="Freihandform 49"/>
            <p:cNvSpPr/>
            <p:nvPr userDrawn="1"/>
          </p:nvSpPr>
          <p:spPr bwMode="gray">
            <a:xfrm>
              <a:off x="7992380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grpSp>
        <p:nvGrpSpPr>
          <p:cNvPr id="51" name="Gruppieren 50"/>
          <p:cNvGrpSpPr/>
          <p:nvPr userDrawn="1"/>
        </p:nvGrpSpPr>
        <p:grpSpPr>
          <a:xfrm>
            <a:off x="-165953" y="1448006"/>
            <a:ext cx="144000" cy="3175980"/>
            <a:chOff x="-165953" y="1448006"/>
            <a:chExt cx="144000" cy="3175980"/>
          </a:xfrm>
        </p:grpSpPr>
        <p:sp>
          <p:nvSpPr>
            <p:cNvPr id="52" name="Freihandform 51"/>
            <p:cNvSpPr/>
            <p:nvPr/>
          </p:nvSpPr>
          <p:spPr bwMode="gray">
            <a:xfrm rot="16200000">
              <a:off x="-93953" y="455198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  <p:sp>
          <p:nvSpPr>
            <p:cNvPr id="53" name="Freihandform 52"/>
            <p:cNvSpPr/>
            <p:nvPr/>
          </p:nvSpPr>
          <p:spPr bwMode="gray">
            <a:xfrm rot="16200000">
              <a:off x="-93953" y="137600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</p:grpSp>
      <p:grpSp>
        <p:nvGrpSpPr>
          <p:cNvPr id="54" name="Gruppieren 53"/>
          <p:cNvGrpSpPr/>
          <p:nvPr userDrawn="1"/>
        </p:nvGrpSpPr>
        <p:grpSpPr>
          <a:xfrm>
            <a:off x="9166242" y="1455627"/>
            <a:ext cx="144000" cy="3171780"/>
            <a:chOff x="9166242" y="1455627"/>
            <a:chExt cx="144000" cy="3171780"/>
          </a:xfrm>
        </p:grpSpPr>
        <p:sp>
          <p:nvSpPr>
            <p:cNvPr id="55" name="Freihandform 54"/>
            <p:cNvSpPr/>
            <p:nvPr userDrawn="1"/>
          </p:nvSpPr>
          <p:spPr>
            <a:xfrm rot="16200000">
              <a:off x="9238242" y="455540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56" name="Freihandform 55"/>
            <p:cNvSpPr/>
            <p:nvPr userDrawn="1"/>
          </p:nvSpPr>
          <p:spPr>
            <a:xfrm rot="16200000">
              <a:off x="9238242" y="138362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sp>
        <p:nvSpPr>
          <p:cNvPr id="23" name="Titel 1"/>
          <p:cNvSpPr>
            <a:spLocks noGrp="1"/>
          </p:cNvSpPr>
          <p:nvPr>
            <p:ph type="ctrTitle" hasCustomPrompt="1"/>
          </p:nvPr>
        </p:nvSpPr>
        <p:spPr bwMode="blackWhite">
          <a:xfrm>
            <a:off x="3203848" y="2327340"/>
            <a:ext cx="3456000" cy="2304000"/>
          </a:xfrm>
          <a:solidFill>
            <a:srgbClr val="64B42D"/>
          </a:solidFill>
        </p:spPr>
        <p:txBody>
          <a:bodyPr lIns="360000" tIns="360000" rIns="270000" bIns="270000">
            <a:no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Ansprechpartner</a:t>
            </a:r>
          </a:p>
        </p:txBody>
      </p:sp>
      <p:sp>
        <p:nvSpPr>
          <p:cNvPr id="24" name="Textplatzhalter 8"/>
          <p:cNvSpPr>
            <a:spLocks noGrp="1"/>
          </p:cNvSpPr>
          <p:nvPr>
            <p:ph type="body" sz="quarter" idx="13" hasCustomPrompt="1"/>
          </p:nvPr>
        </p:nvSpPr>
        <p:spPr bwMode="blackWhite">
          <a:xfrm>
            <a:off x="3203848" y="3186512"/>
            <a:ext cx="3420000" cy="184666"/>
          </a:xfrm>
        </p:spPr>
        <p:txBody>
          <a:bodyPr lIns="360000" rIns="270000" anchor="ctr" anchorCtr="0"/>
          <a:lstStyle>
            <a:lvl1pPr marL="0" indent="0"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Vorname Nachname </a:t>
            </a:r>
          </a:p>
        </p:txBody>
      </p:sp>
      <p:sp>
        <p:nvSpPr>
          <p:cNvPr id="26" name="Textplatzhalter 8"/>
          <p:cNvSpPr>
            <a:spLocks noGrp="1"/>
          </p:cNvSpPr>
          <p:nvPr>
            <p:ph type="body" sz="quarter" idx="15" hasCustomPrompt="1"/>
          </p:nvPr>
        </p:nvSpPr>
        <p:spPr bwMode="blackWhite">
          <a:xfrm>
            <a:off x="3203848" y="3384265"/>
            <a:ext cx="3420000" cy="184666"/>
          </a:xfrm>
        </p:spPr>
        <p:txBody>
          <a:bodyPr lIns="360000" rIns="270000" anchor="ctr" anchorCtr="0"/>
          <a:lstStyle>
            <a:lvl1pPr marL="0" indent="0">
              <a:spcBef>
                <a:spcPts val="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Funktion</a:t>
            </a:r>
          </a:p>
        </p:txBody>
      </p:sp>
      <p:sp>
        <p:nvSpPr>
          <p:cNvPr id="27" name="Textplatzhalter 8"/>
          <p:cNvSpPr>
            <a:spLocks noGrp="1"/>
          </p:cNvSpPr>
          <p:nvPr>
            <p:ph type="body" sz="quarter" idx="16" hasCustomPrompt="1"/>
          </p:nvPr>
        </p:nvSpPr>
        <p:spPr bwMode="blackWhite">
          <a:xfrm>
            <a:off x="3203848" y="3582018"/>
            <a:ext cx="3420000" cy="184666"/>
          </a:xfrm>
        </p:spPr>
        <p:txBody>
          <a:bodyPr lIns="360000" rIns="270000" anchor="ctr" anchorCtr="0"/>
          <a:lstStyle>
            <a:lvl1pPr marL="0" indent="0">
              <a:spcBef>
                <a:spcPts val="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T +49 00 000 000-000</a:t>
            </a:r>
          </a:p>
        </p:txBody>
      </p:sp>
      <p:sp>
        <p:nvSpPr>
          <p:cNvPr id="28" name="Textplatzhalter 8"/>
          <p:cNvSpPr>
            <a:spLocks noGrp="1"/>
          </p:cNvSpPr>
          <p:nvPr>
            <p:ph type="body" sz="quarter" idx="17" hasCustomPrompt="1"/>
          </p:nvPr>
        </p:nvSpPr>
        <p:spPr bwMode="blackWhite">
          <a:xfrm>
            <a:off x="3203848" y="3779771"/>
            <a:ext cx="3420000" cy="184666"/>
          </a:xfrm>
        </p:spPr>
        <p:txBody>
          <a:bodyPr lIns="360000" rIns="270000" anchor="ctr" anchorCtr="0"/>
          <a:lstStyle>
            <a:lvl1pPr marL="0" indent="0">
              <a:spcBef>
                <a:spcPts val="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vorname.nachname@westnetz.de</a:t>
            </a:r>
          </a:p>
        </p:txBody>
      </p:sp>
      <p:pic>
        <p:nvPicPr>
          <p:cNvPr id="33" name="Grafik 32">
            <a:extLst>
              <a:ext uri="{FF2B5EF4-FFF2-40B4-BE49-F238E27FC236}">
                <a16:creationId xmlns:a16="http://schemas.microsoft.com/office/drawing/2014/main" id="{638DEA76-0328-4BD5-A8A1-B8940514F5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6481502" y="1462881"/>
            <a:ext cx="1905001" cy="333612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A9F9595F-4DC2-409E-9AED-86300E0DDC9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 bwMode="black">
          <a:xfrm>
            <a:off x="330160" y="215999"/>
            <a:ext cx="1904983" cy="351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30646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Ansprechpartner mit Bild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08E073C1-7380-4C89-99B7-B54793C6B77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561469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08E073C1-7380-4C89-99B7-B54793C6B7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eck 3" hidden="1">
            <a:extLst>
              <a:ext uri="{FF2B5EF4-FFF2-40B4-BE49-F238E27FC236}">
                <a16:creationId xmlns:a16="http://schemas.microsoft.com/office/drawing/2014/main" id="{EE462C7B-B36B-46D9-A448-94A4E6A6C9F1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solidFill>
            <a:srgbClr val="64B42D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l">
              <a:spcBef>
                <a:spcPts val="600"/>
              </a:spcBef>
              <a:buFont typeface="Arial" panose="020B0604020202020204" pitchFamily="34" charset="0"/>
              <a:buNone/>
            </a:pPr>
            <a:endParaRPr lang="de-DE" sz="2600" b="0" i="0" baseline="0" dirty="0" err="1">
              <a:solidFill>
                <a:schemeClr val="bg1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9" name="Bildplatzhalter 8"/>
          <p:cNvSpPr>
            <a:spLocks noGrp="1" noChangeAspect="1"/>
          </p:cNvSpPr>
          <p:nvPr>
            <p:ph type="pic" sz="quarter" idx="12"/>
          </p:nvPr>
        </p:nvSpPr>
        <p:spPr>
          <a:xfrm>
            <a:off x="581844" y="2714400"/>
            <a:ext cx="1512000" cy="1512000"/>
          </a:xfrm>
          <a:prstGeom prst="ellipse">
            <a:avLst/>
          </a:prstGeom>
          <a:blipFill>
            <a:blip r:embed="rId6"/>
            <a:stretch>
              <a:fillRect/>
            </a:stretch>
          </a:blipFill>
          <a:ln w="76200">
            <a:solidFill>
              <a:srgbClr val="E60055"/>
            </a:solidFill>
          </a:ln>
        </p:spPr>
        <p:txBody>
          <a:bodyPr vert="horz" wrap="square" lIns="0" tIns="0" rIns="0" bIns="0" rtlCol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de-DE"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Bildplatzhalter 8"/>
          <p:cNvSpPr>
            <a:spLocks noGrp="1" noChangeAspect="1"/>
          </p:cNvSpPr>
          <p:nvPr>
            <p:ph type="pic" sz="quarter" idx="13"/>
          </p:nvPr>
        </p:nvSpPr>
        <p:spPr>
          <a:xfrm>
            <a:off x="3420000" y="1455738"/>
            <a:ext cx="1512000" cy="1512000"/>
          </a:xfrm>
          <a:prstGeom prst="ellipse">
            <a:avLst/>
          </a:prstGeom>
          <a:blipFill>
            <a:blip r:embed="rId6"/>
            <a:stretch>
              <a:fillRect/>
            </a:stretch>
          </a:blipFill>
          <a:ln w="76200">
            <a:solidFill>
              <a:schemeClr val="accent3"/>
            </a:solidFill>
          </a:ln>
        </p:spPr>
        <p:txBody>
          <a:bodyPr vert="horz" wrap="square" lIns="0" tIns="0" rIns="0" bIns="0" rtlCol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de-DE"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1" name="Textplatzhalter 8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2305485" y="3153600"/>
            <a:ext cx="2880000" cy="184666"/>
          </a:xfrm>
        </p:spPr>
        <p:txBody>
          <a:bodyPr lIns="0" rIns="0" anchor="ctr" anchorCtr="0"/>
          <a:lstStyle>
            <a:lvl1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Vorname Nachname </a:t>
            </a:r>
          </a:p>
        </p:txBody>
      </p:sp>
      <p:sp>
        <p:nvSpPr>
          <p:cNvPr id="12" name="Textplatzhalter 8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2305485" y="3380400"/>
            <a:ext cx="2880000" cy="184666"/>
          </a:xfrm>
        </p:spPr>
        <p:txBody>
          <a:bodyPr lIns="0" rIns="0" anchor="ctr" anchorCtr="0"/>
          <a:lstStyle>
            <a:lvl1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Funktion</a:t>
            </a:r>
          </a:p>
        </p:txBody>
      </p:sp>
      <p:sp>
        <p:nvSpPr>
          <p:cNvPr id="13" name="Textplatzhalter 8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2305485" y="3535200"/>
            <a:ext cx="2880000" cy="184666"/>
          </a:xfrm>
        </p:spPr>
        <p:txBody>
          <a:bodyPr lIns="0" rIns="0" anchor="ctr" anchorCtr="0"/>
          <a:lstStyle>
            <a:lvl1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T +49 00 000 000-000</a:t>
            </a:r>
          </a:p>
        </p:txBody>
      </p:sp>
      <p:sp>
        <p:nvSpPr>
          <p:cNvPr id="14" name="Textplatzhalter 8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2305485" y="3686400"/>
            <a:ext cx="2880000" cy="184666"/>
          </a:xfrm>
        </p:spPr>
        <p:txBody>
          <a:bodyPr lIns="0" rIns="0" anchor="ctr" anchorCtr="0"/>
          <a:lstStyle>
            <a:lvl1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vorname.nachname@westnetz.de</a:t>
            </a:r>
          </a:p>
        </p:txBody>
      </p:sp>
      <p:sp>
        <p:nvSpPr>
          <p:cNvPr id="15" name="Textplatzhalter 8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113486" y="1886400"/>
            <a:ext cx="2880000" cy="184666"/>
          </a:xfrm>
        </p:spPr>
        <p:txBody>
          <a:bodyPr lIns="0" rIns="0" anchor="ctr" anchorCtr="0"/>
          <a:lstStyle>
            <a:lvl1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Vorname Nachname </a:t>
            </a:r>
          </a:p>
        </p:txBody>
      </p:sp>
      <p:sp>
        <p:nvSpPr>
          <p:cNvPr id="16" name="Textplatzhalter 8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113486" y="2116800"/>
            <a:ext cx="2880000" cy="184666"/>
          </a:xfrm>
        </p:spPr>
        <p:txBody>
          <a:bodyPr lIns="0" rIns="0" anchor="ctr" anchorCtr="0"/>
          <a:lstStyle>
            <a:lvl1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Funktion</a:t>
            </a:r>
          </a:p>
        </p:txBody>
      </p:sp>
      <p:sp>
        <p:nvSpPr>
          <p:cNvPr id="17" name="Textplatzhalter 8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113486" y="2271600"/>
            <a:ext cx="2880000" cy="184666"/>
          </a:xfrm>
        </p:spPr>
        <p:txBody>
          <a:bodyPr lIns="0" rIns="0" anchor="ctr" anchorCtr="0"/>
          <a:lstStyle>
            <a:lvl1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T +49 00 000 000-000</a:t>
            </a:r>
          </a:p>
        </p:txBody>
      </p:sp>
      <p:sp>
        <p:nvSpPr>
          <p:cNvPr id="18" name="Textplatzhalter 8"/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5113486" y="2422800"/>
            <a:ext cx="2880000" cy="184666"/>
          </a:xfrm>
        </p:spPr>
        <p:txBody>
          <a:bodyPr lIns="0" rIns="0" anchor="ctr" anchorCtr="0"/>
          <a:lstStyle>
            <a:lvl1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noProof="0" dirty="0"/>
              <a:t>vorname.nachname@westnetz.de</a:t>
            </a:r>
          </a:p>
        </p:txBody>
      </p:sp>
    </p:spTree>
    <p:extLst>
      <p:ext uri="{BB962C8B-B14F-4D97-AF65-F5344CB8AC3E}">
        <p14:creationId xmlns:p14="http://schemas.microsoft.com/office/powerpoint/2010/main" val="329889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3.emf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2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ags" Target="../tags/tag2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A1BC040B-4DAC-43A7-A0EE-CF5DF4146B9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5"/>
            </p:custDataLst>
            <p:extLst>
              <p:ext uri="{D42A27DB-BD31-4B8C-83A1-F6EECF244321}">
                <p14:modId xmlns:p14="http://schemas.microsoft.com/office/powerpoint/2010/main" val="17821677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6" imgW="344" imgH="345" progId="TCLayout.ActiveDocument.1">
                  <p:embed/>
                </p:oleObj>
              </mc:Choice>
              <mc:Fallback>
                <p:oleObj name="think-cell Folie" r:id="rId36" imgW="344" imgH="345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A1BC040B-4DAC-43A7-A0EE-CF5DF4146B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gray">
          <a:xfrm>
            <a:off x="575556" y="531479"/>
            <a:ext cx="6840000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endParaRPr lang="de-DE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575556" y="1403511"/>
            <a:ext cx="7417507" cy="32204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Vierte Ebene</a:t>
            </a:r>
          </a:p>
          <a:p>
            <a:pPr lvl="2"/>
            <a:r>
              <a:rPr lang="de-DE" noProof="0" dirty="0"/>
              <a:t>Fünfte Ebene</a:t>
            </a:r>
          </a:p>
          <a:p>
            <a:pPr lvl="3"/>
            <a:r>
              <a:rPr lang="de-DE" noProof="0" dirty="0"/>
              <a:t>Erste Ebene</a:t>
            </a:r>
          </a:p>
          <a:p>
            <a:pPr lvl="4"/>
            <a:r>
              <a:rPr lang="de-DE" noProof="0" dirty="0"/>
              <a:t>Zweite Ebene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gray">
          <a:xfrm>
            <a:off x="575556" y="4743043"/>
            <a:ext cx="64800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800" b="0">
                <a:solidFill>
                  <a:schemeClr val="tx1"/>
                </a:solidFill>
              </a:defRPr>
            </a:lvl1pPr>
          </a:lstStyle>
          <a:p>
            <a:r>
              <a:rPr lang="de-DE" noProof="0" dirty="0"/>
              <a:t>Westnetz GmbH · Name · TT Monat JJJJ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gray">
          <a:xfrm>
            <a:off x="7332265" y="4743043"/>
            <a:ext cx="588785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F05F51B1-EF07-4A0A-8ED6-43388CBBB34F}" type="slidenum">
              <a:rPr lang="de-DE" noProof="0" smtClean="0"/>
              <a:pPr/>
              <a:t>‹Nr.›</a:t>
            </a:fld>
            <a:endParaRPr lang="de-DE" noProof="0" dirty="0"/>
          </a:p>
        </p:txBody>
      </p:sp>
      <p:grpSp>
        <p:nvGrpSpPr>
          <p:cNvPr id="21" name="Gruppieren 20"/>
          <p:cNvGrpSpPr/>
          <p:nvPr/>
        </p:nvGrpSpPr>
        <p:grpSpPr>
          <a:xfrm>
            <a:off x="575556" y="-124966"/>
            <a:ext cx="7416824" cy="108000"/>
            <a:chOff x="575556" y="-124966"/>
            <a:chExt cx="7416824" cy="108000"/>
          </a:xfrm>
        </p:grpSpPr>
        <p:sp>
          <p:nvSpPr>
            <p:cNvPr id="4" name="Freihandform 3"/>
            <p:cNvSpPr/>
            <p:nvPr userDrawn="1"/>
          </p:nvSpPr>
          <p:spPr>
            <a:xfrm>
              <a:off x="575556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0" name="Freihandform 9"/>
            <p:cNvSpPr/>
            <p:nvPr userDrawn="1"/>
          </p:nvSpPr>
          <p:spPr>
            <a:xfrm>
              <a:off x="4139952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1" name="Freihandform 10"/>
            <p:cNvSpPr/>
            <p:nvPr userDrawn="1"/>
          </p:nvSpPr>
          <p:spPr>
            <a:xfrm>
              <a:off x="4427984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2" name="Freihandform 11"/>
            <p:cNvSpPr/>
            <p:nvPr userDrawn="1"/>
          </p:nvSpPr>
          <p:spPr>
            <a:xfrm>
              <a:off x="7992380" y="-1249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grpSp>
        <p:nvGrpSpPr>
          <p:cNvPr id="45" name="Gruppieren 44"/>
          <p:cNvGrpSpPr/>
          <p:nvPr/>
        </p:nvGrpSpPr>
        <p:grpSpPr>
          <a:xfrm>
            <a:off x="575556" y="5160466"/>
            <a:ext cx="7416824" cy="108000"/>
            <a:chOff x="575556" y="5160466"/>
            <a:chExt cx="7416824" cy="108000"/>
          </a:xfrm>
        </p:grpSpPr>
        <p:sp>
          <p:nvSpPr>
            <p:cNvPr id="15" name="Freihandform 14"/>
            <p:cNvSpPr/>
            <p:nvPr userDrawn="1"/>
          </p:nvSpPr>
          <p:spPr bwMode="gray">
            <a:xfrm>
              <a:off x="575556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  <p:sp>
          <p:nvSpPr>
            <p:cNvPr id="17" name="Freihandform 16"/>
            <p:cNvSpPr/>
            <p:nvPr userDrawn="1"/>
          </p:nvSpPr>
          <p:spPr bwMode="gray">
            <a:xfrm>
              <a:off x="4139952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  <p:sp>
          <p:nvSpPr>
            <p:cNvPr id="18" name="Freihandform 17"/>
            <p:cNvSpPr/>
            <p:nvPr userDrawn="1"/>
          </p:nvSpPr>
          <p:spPr bwMode="gray">
            <a:xfrm>
              <a:off x="4427984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  <p:sp>
          <p:nvSpPr>
            <p:cNvPr id="19" name="Freihandform 18"/>
            <p:cNvSpPr/>
            <p:nvPr userDrawn="1"/>
          </p:nvSpPr>
          <p:spPr bwMode="gray">
            <a:xfrm>
              <a:off x="7992380" y="5160466"/>
              <a:ext cx="0" cy="108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</p:grpSp>
      <p:grpSp>
        <p:nvGrpSpPr>
          <p:cNvPr id="22" name="Gruppieren 21"/>
          <p:cNvGrpSpPr/>
          <p:nvPr/>
        </p:nvGrpSpPr>
        <p:grpSpPr>
          <a:xfrm>
            <a:off x="-165953" y="1448006"/>
            <a:ext cx="144000" cy="3175980"/>
            <a:chOff x="-165953" y="1448006"/>
            <a:chExt cx="144000" cy="3175980"/>
          </a:xfrm>
        </p:grpSpPr>
        <p:sp>
          <p:nvSpPr>
            <p:cNvPr id="23" name="Freihandform 22"/>
            <p:cNvSpPr/>
            <p:nvPr/>
          </p:nvSpPr>
          <p:spPr bwMode="gray">
            <a:xfrm rot="16200000">
              <a:off x="-93953" y="455198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  <p:sp>
          <p:nvSpPr>
            <p:cNvPr id="24" name="Freihandform 23"/>
            <p:cNvSpPr/>
            <p:nvPr/>
          </p:nvSpPr>
          <p:spPr bwMode="gray">
            <a:xfrm rot="16200000">
              <a:off x="-93953" y="1376006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</p:grpSp>
      <p:grpSp>
        <p:nvGrpSpPr>
          <p:cNvPr id="20" name="Gruppieren 19"/>
          <p:cNvGrpSpPr/>
          <p:nvPr/>
        </p:nvGrpSpPr>
        <p:grpSpPr>
          <a:xfrm>
            <a:off x="9166242" y="1455627"/>
            <a:ext cx="144000" cy="3171780"/>
            <a:chOff x="9166242" y="1455627"/>
            <a:chExt cx="144000" cy="3171780"/>
          </a:xfrm>
        </p:grpSpPr>
        <p:sp>
          <p:nvSpPr>
            <p:cNvPr id="26" name="Freihandform 25"/>
            <p:cNvSpPr/>
            <p:nvPr userDrawn="1"/>
          </p:nvSpPr>
          <p:spPr>
            <a:xfrm rot="16200000">
              <a:off x="9238242" y="455540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  <p:sp>
          <p:nvSpPr>
            <p:cNvPr id="48" name="Freihandform 47"/>
            <p:cNvSpPr/>
            <p:nvPr userDrawn="1"/>
          </p:nvSpPr>
          <p:spPr>
            <a:xfrm rot="16200000">
              <a:off x="9238242" y="1383627"/>
              <a:ext cx="0" cy="144000"/>
            </a:xfrm>
            <a:custGeom>
              <a:avLst/>
              <a:gdLst>
                <a:gd name="connsiteX0" fmla="*/ 0 w 0"/>
                <a:gd name="connsiteY0" fmla="*/ 0 h 293299"/>
                <a:gd name="connsiteX1" fmla="*/ 0 w 0"/>
                <a:gd name="connsiteY1" fmla="*/ 293299 h 29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93299">
                  <a:moveTo>
                    <a:pt x="0" y="0"/>
                  </a:moveTo>
                  <a:lnTo>
                    <a:pt x="0" y="29329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</p:grpSp>
      <p:pic>
        <p:nvPicPr>
          <p:cNvPr id="27" name="Grafik 26">
            <a:extLst>
              <a:ext uri="{FF2B5EF4-FFF2-40B4-BE49-F238E27FC236}">
                <a16:creationId xmlns:a16="http://schemas.microsoft.com/office/drawing/2014/main" id="{CBD1BD74-6C52-49D2-AB07-A369E43D4A5A}"/>
              </a:ext>
            </a:extLst>
          </p:cNvPr>
          <p:cNvPicPr>
            <a:picLocks noChangeAspect="1"/>
          </p:cNvPicPr>
          <p:nvPr userDrawn="1"/>
        </p:nvPicPr>
        <p:blipFill>
          <a:blip r:embed="rId38"/>
          <a:stretch>
            <a:fillRect/>
          </a:stretch>
        </p:blipFill>
        <p:spPr bwMode="black">
          <a:xfrm>
            <a:off x="8085600" y="273442"/>
            <a:ext cx="860400" cy="150677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1F8B5DA6-98CE-483A-9E16-DFF6417869FA}"/>
              </a:ext>
            </a:extLst>
          </p:cNvPr>
          <p:cNvPicPr>
            <a:picLocks noChangeAspect="1"/>
          </p:cNvPicPr>
          <p:nvPr userDrawn="1"/>
        </p:nvPicPr>
        <p:blipFill>
          <a:blip r:embed="rId39"/>
          <a:stretch>
            <a:fillRect/>
          </a:stretch>
        </p:blipFill>
        <p:spPr bwMode="black">
          <a:xfrm>
            <a:off x="8084079" y="4710271"/>
            <a:ext cx="861920" cy="159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046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84" r:id="rId3"/>
    <p:sldLayoutId id="2147483716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715" r:id="rId11"/>
    <p:sldLayoutId id="2147483714" r:id="rId12"/>
    <p:sldLayoutId id="2147483691" r:id="rId13"/>
    <p:sldLayoutId id="2147483692" r:id="rId14"/>
    <p:sldLayoutId id="2147483695" r:id="rId15"/>
    <p:sldLayoutId id="2147483696" r:id="rId16"/>
    <p:sldLayoutId id="2147483693" r:id="rId17"/>
    <p:sldLayoutId id="2147483694" r:id="rId18"/>
    <p:sldLayoutId id="2147483699" r:id="rId19"/>
    <p:sldLayoutId id="2147483697" r:id="rId20"/>
    <p:sldLayoutId id="2147483698" r:id="rId21"/>
    <p:sldLayoutId id="2147483700" r:id="rId22"/>
    <p:sldLayoutId id="2147483705" r:id="rId23"/>
    <p:sldLayoutId id="2147483701" r:id="rId24"/>
    <p:sldLayoutId id="2147483702" r:id="rId25"/>
    <p:sldLayoutId id="2147483706" r:id="rId26"/>
    <p:sldLayoutId id="2147483707" r:id="rId27"/>
    <p:sldLayoutId id="2147483708" r:id="rId28"/>
    <p:sldLayoutId id="2147483709" r:id="rId29"/>
    <p:sldLayoutId id="2147483710" r:id="rId30"/>
    <p:sldLayoutId id="2147483711" r:id="rId31"/>
    <p:sldLayoutId id="2147483712" r:id="rId32"/>
    <p:sldLayoutId id="2147483713" r:id="rId3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388" indent="-179388" algn="l" defTabSz="914400" rtl="0" eaLnBrk="1" latinLnBrk="0" hangingPunct="1">
        <a:spcBef>
          <a:spcPts val="300"/>
        </a:spcBef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60363" indent="-180975" algn="l" defTabSz="914400" rtl="0" eaLnBrk="1" latinLnBrk="0" hangingPunct="1">
        <a:spcBef>
          <a:spcPts val="2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38163" indent="-180000" algn="l" defTabSz="914400" rtl="0" eaLnBrk="1" latinLnBrk="0" hangingPunct="1">
        <a:spcBef>
          <a:spcPts val="2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spcBef>
          <a:spcPts val="1000"/>
        </a:spcBef>
        <a:buFont typeface="Arial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spcBef>
          <a:spcPts val="600"/>
        </a:spcBef>
        <a:buFont typeface="Arial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17" userDrawn="1">
          <p15:clr>
            <a:srgbClr val="F26B43"/>
          </p15:clr>
        </p15:guide>
        <p15:guide id="2" pos="363" userDrawn="1">
          <p15:clr>
            <a:srgbClr val="F26B43"/>
          </p15:clr>
        </p15:guide>
        <p15:guide id="3" pos="5035" userDrawn="1">
          <p15:clr>
            <a:srgbClr val="F26B43"/>
          </p15:clr>
        </p15:guide>
        <p15:guide id="4" orient="horz" pos="3952" userDrawn="1">
          <p15:clr>
            <a:srgbClr val="F26B43"/>
          </p15:clr>
        </p15:guide>
        <p15:guide id="5" pos="2608" userDrawn="1">
          <p15:clr>
            <a:srgbClr val="F26B43"/>
          </p15:clr>
        </p15:guide>
        <p15:guide id="6" pos="2789" userDrawn="1">
          <p15:clr>
            <a:srgbClr val="F26B43"/>
          </p15:clr>
        </p15:guide>
        <p15:guide id="7" orient="horz" pos="291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DB36504-9D9D-070F-E3AE-DA9E87281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Westnetz GmbH · Name · TT Monat JJJJ</a:t>
            </a:r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075B4F2-0F41-5B73-1E72-E702CAFF926D}"/>
              </a:ext>
            </a:extLst>
          </p:cNvPr>
          <p:cNvSpPr txBox="1"/>
          <p:nvPr/>
        </p:nvSpPr>
        <p:spPr>
          <a:xfrm>
            <a:off x="4139918" y="2352440"/>
            <a:ext cx="47602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de-DE" sz="2400" b="1" dirty="0">
                <a:solidFill>
                  <a:srgbClr val="00875A"/>
                </a:solidFill>
                <a:latin typeface="+mj-lt"/>
              </a:rPr>
              <a:t>API-Signatur mit </a:t>
            </a:r>
            <a:br>
              <a:rPr lang="de-DE" sz="2400" b="1" dirty="0">
                <a:solidFill>
                  <a:srgbClr val="00875A"/>
                </a:solidFill>
                <a:latin typeface="+mj-lt"/>
              </a:rPr>
            </a:br>
            <a:r>
              <a:rPr lang="de-DE" sz="2400" b="1" dirty="0">
                <a:solidFill>
                  <a:srgbClr val="00875A"/>
                </a:solidFill>
                <a:latin typeface="+mj-lt"/>
              </a:rPr>
              <a:t>HTTP Header </a:t>
            </a:r>
            <a:r>
              <a:rPr lang="de-DE" sz="2400" b="1" dirty="0" err="1">
                <a:solidFill>
                  <a:srgbClr val="00875A"/>
                </a:solidFill>
                <a:latin typeface="+mj-lt"/>
              </a:rPr>
              <a:t>Signature</a:t>
            </a:r>
            <a:r>
              <a:rPr lang="de-DE" sz="2400" b="1" dirty="0">
                <a:solidFill>
                  <a:srgbClr val="00875A"/>
                </a:solidFill>
                <a:latin typeface="+mj-lt"/>
              </a:rPr>
              <a:t> (RFC 9421)</a:t>
            </a:r>
          </a:p>
        </p:txBody>
      </p:sp>
      <p:sp>
        <p:nvSpPr>
          <p:cNvPr id="9" name="Fußzeilenplatzhalter 3">
            <a:extLst>
              <a:ext uri="{FF2B5EF4-FFF2-40B4-BE49-F238E27FC236}">
                <a16:creationId xmlns:a16="http://schemas.microsoft.com/office/drawing/2014/main" id="{BEDE888B-5204-7AAB-F133-DEEB4DF6BCE7}"/>
              </a:ext>
            </a:extLst>
          </p:cNvPr>
          <p:cNvSpPr txBox="1">
            <a:spLocks/>
          </p:cNvSpPr>
          <p:nvPr/>
        </p:nvSpPr>
        <p:spPr bwMode="blackWhite">
          <a:xfrm>
            <a:off x="4163690" y="4254997"/>
            <a:ext cx="4428380" cy="153888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solidFill>
                  <a:schemeClr val="tx1"/>
                </a:solidFill>
              </a:rPr>
              <a:t>Westnetz GmbH · René Hoffmann · 26. Juni 2026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A7A9F02F-D0C8-07B2-3204-F88E6E965D2C}"/>
              </a:ext>
            </a:extLst>
          </p:cNvPr>
          <p:cNvSpPr txBox="1"/>
          <p:nvPr/>
        </p:nvSpPr>
        <p:spPr>
          <a:xfrm>
            <a:off x="4148891" y="3278399"/>
            <a:ext cx="44431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de-DE" sz="2000" dirty="0">
                <a:latin typeface="+mj-lt"/>
              </a:rPr>
              <a:t>AG Regelungen zum Übertragungsweg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B17ACB7F-244A-22C1-D154-47AE719D7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61" y="155036"/>
            <a:ext cx="3456801" cy="4704044"/>
          </a:xfrm>
          <a:prstGeom prst="rect">
            <a:avLst/>
          </a:prstGeom>
          <a:ln w="19050">
            <a:solidFill>
              <a:srgbClr val="C10D1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FDB2DBE2-C1FC-8245-679D-6C30E51AB7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35" y="1889760"/>
            <a:ext cx="2988851" cy="196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994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A07E98-F132-7AFC-6F72-4F878857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555" y="531479"/>
            <a:ext cx="7264079" cy="1329595"/>
          </a:xfr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de-DE" b="1" dirty="0"/>
              <a:t>API-Webservice als Teilnehmer der SM-PKI </a:t>
            </a:r>
            <a:br>
              <a:rPr lang="de-DE" b="1" dirty="0"/>
            </a:br>
            <a:r>
              <a:rPr lang="de-DE" b="1" u="sng" dirty="0"/>
              <a:t>fehlt</a:t>
            </a:r>
            <a:r>
              <a:rPr lang="de-DE" b="1" dirty="0"/>
              <a:t> Payload-Verschlüsselung</a:t>
            </a:r>
            <a:br>
              <a:rPr lang="de-DE" b="1" dirty="0"/>
            </a:br>
            <a:r>
              <a:rPr lang="de-DE" sz="1600" i="1" dirty="0">
                <a:solidFill>
                  <a:srgbClr val="005F69"/>
                </a:solidFill>
              </a:rPr>
              <a:t>Informelles BSI Agreement 2022 für „Mikro-Nachrichten“ übergangsweise</a:t>
            </a:r>
            <a:br>
              <a:rPr lang="de-DE" b="1" dirty="0"/>
            </a:br>
            <a:endParaRPr lang="de-DE" b="1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BFD2A49-ADDF-E0D0-4B22-B192CE15B89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5F51B1-EF07-4A0A-8ED6-43388CBBB34F}" type="slidenum">
              <a:rPr lang="de-DE" noProof="0" smtClean="0"/>
              <a:pPr/>
              <a:t>2</a:t>
            </a:fld>
            <a:endParaRPr lang="de-DE" noProof="0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6BB3663-C07D-EDB4-420C-3F388490E2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>
                <a:solidFill>
                  <a:srgbClr val="005F69"/>
                </a:solidFill>
              </a:rPr>
              <a:t>Sicherungsebenen</a:t>
            </a:r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436B26DA-D6A3-09A6-80DB-054A2B2AACBE}"/>
              </a:ext>
            </a:extLst>
          </p:cNvPr>
          <p:cNvSpPr txBox="1">
            <a:spLocks/>
          </p:cNvSpPr>
          <p:nvPr/>
        </p:nvSpPr>
        <p:spPr>
          <a:xfrm>
            <a:off x="482129" y="1688052"/>
            <a:ext cx="3217327" cy="773247"/>
          </a:xfrm>
          <a:prstGeom prst="rect">
            <a:avLst/>
          </a:prstGeom>
        </p:spPr>
        <p:txBody>
          <a:bodyPr/>
          <a:lstStyle>
            <a:lvl1pPr marL="179388" indent="-179388" algn="l" defTabSz="914400" rtl="0" eaLnBrk="1" latinLnBrk="0" hangingPunct="1">
              <a:spcBef>
                <a:spcPts val="300"/>
              </a:spcBef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363" indent="-180975" algn="l" defTabSz="914400" rtl="0" eaLnBrk="1" latinLnBrk="0" hangingPunct="1">
              <a:spcBef>
                <a:spcPts val="200"/>
              </a:spcBef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8163" indent="-180000" algn="l" defTabSz="914400" rtl="0" eaLnBrk="1" latinLnBrk="0" hangingPunct="1">
              <a:spcBef>
                <a:spcPts val="2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spcBef>
                <a:spcPts val="1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None/>
            </a:pPr>
            <a:r>
              <a:rPr lang="de-DE" sz="1400" i="1" dirty="0"/>
              <a:t>Die </a:t>
            </a:r>
            <a:r>
              <a:rPr lang="de-DE" sz="1400" i="1" u="sng" dirty="0"/>
              <a:t>Korrektur</a:t>
            </a:r>
            <a:r>
              <a:rPr lang="de-DE" sz="1400" i="1" dirty="0"/>
              <a:t> der Signatur des </a:t>
            </a:r>
            <a:br>
              <a:rPr lang="de-DE" sz="1400" i="1" dirty="0"/>
            </a:br>
            <a:r>
              <a:rPr lang="de-DE" sz="1400" i="1" dirty="0"/>
              <a:t>BDEW API-Webservice sollte harmonisch </a:t>
            </a:r>
            <a:br>
              <a:rPr lang="de-DE" sz="1400" i="1" dirty="0"/>
            </a:br>
            <a:r>
              <a:rPr lang="de-DE" sz="1400" i="1" dirty="0"/>
              <a:t>in alle fünf Sicherungsebenen passen:</a:t>
            </a:r>
          </a:p>
          <a:p>
            <a:pPr marL="0" indent="0">
              <a:spcAft>
                <a:spcPts val="600"/>
              </a:spcAft>
              <a:buNone/>
            </a:pPr>
            <a:endParaRPr lang="de-DE" sz="1400" i="1" dirty="0"/>
          </a:p>
          <a:p>
            <a:pPr marL="0" indent="0">
              <a:spcAft>
                <a:spcPts val="600"/>
              </a:spcAft>
              <a:buNone/>
            </a:pPr>
            <a:endParaRPr lang="de-DE" sz="1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84A46F6-BBD6-769E-1682-3B8B0B3FD89A}"/>
              </a:ext>
            </a:extLst>
          </p:cNvPr>
          <p:cNvSpPr txBox="1"/>
          <p:nvPr/>
        </p:nvSpPr>
        <p:spPr>
          <a:xfrm>
            <a:off x="3924178" y="2229902"/>
            <a:ext cx="5219822" cy="2659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100"/>
              </a:spcBef>
            </a:pPr>
            <a:r>
              <a:rPr lang="de-DE" sz="1100" b="1" dirty="0"/>
              <a:t>HTTP/2-Transport</a:t>
            </a:r>
            <a:r>
              <a:rPr lang="de-DE" sz="1100" dirty="0"/>
              <a:t> </a:t>
            </a:r>
            <a:br>
              <a:rPr lang="de-DE" sz="1100" dirty="0"/>
            </a:br>
            <a:r>
              <a:rPr lang="de-DE" sz="1100" dirty="0"/>
              <a:t>RFC 9113 – Framing, Pseudo-Header, Streams | HPACK: RFC 7541 | TLS 1.3: RFC 8446</a:t>
            </a:r>
          </a:p>
          <a:p>
            <a:pPr>
              <a:spcBef>
                <a:spcPts val="1100"/>
              </a:spcBef>
            </a:pPr>
            <a:r>
              <a:rPr lang="de-DE" sz="1100" b="1" dirty="0"/>
              <a:t>HTTP Header Signatur</a:t>
            </a:r>
            <a:r>
              <a:rPr lang="de-DE" sz="1100" dirty="0"/>
              <a:t> </a:t>
            </a:r>
            <a:br>
              <a:rPr lang="de-DE" sz="1100" dirty="0"/>
            </a:br>
            <a:r>
              <a:rPr lang="de-DE" sz="1100" b="1" dirty="0">
                <a:solidFill>
                  <a:srgbClr val="00B050"/>
                </a:solidFill>
              </a:rPr>
              <a:t>RFC 9421 </a:t>
            </a:r>
            <a:r>
              <a:rPr lang="de-DE" sz="1100" dirty="0"/>
              <a:t>HTTP Message </a:t>
            </a:r>
            <a:r>
              <a:rPr lang="de-DE" sz="1100" dirty="0" err="1"/>
              <a:t>Signatures</a:t>
            </a:r>
            <a:r>
              <a:rPr lang="de-DE" sz="1100" dirty="0"/>
              <a:t> | Structured Fields: RFC 8941 | Base64url: RFC 4648</a:t>
            </a:r>
          </a:p>
          <a:p>
            <a:pPr>
              <a:spcBef>
                <a:spcPts val="1100"/>
              </a:spcBef>
            </a:pPr>
            <a:r>
              <a:rPr lang="de-DE" sz="1100" b="1" dirty="0"/>
              <a:t>Content-Digest</a:t>
            </a:r>
            <a:r>
              <a:rPr lang="de-DE" sz="1100" dirty="0"/>
              <a:t> </a:t>
            </a:r>
            <a:br>
              <a:rPr lang="de-DE" sz="1100" dirty="0"/>
            </a:br>
            <a:r>
              <a:rPr lang="de-DE" sz="1100" dirty="0"/>
              <a:t>RFC 9530 – Body-Hash SHA-512, bindet HTTP-Body an Signatur</a:t>
            </a:r>
          </a:p>
          <a:p>
            <a:pPr>
              <a:spcBef>
                <a:spcPts val="1100"/>
              </a:spcBef>
            </a:pPr>
            <a:r>
              <a:rPr lang="de-DE" sz="1100" b="1" dirty="0"/>
              <a:t>Payload-Verschlüsselung</a:t>
            </a:r>
            <a:r>
              <a:rPr lang="de-DE" sz="1100" dirty="0"/>
              <a:t> </a:t>
            </a:r>
            <a:br>
              <a:rPr lang="de-DE" sz="1100" dirty="0"/>
            </a:br>
            <a:r>
              <a:rPr lang="de-DE" sz="1100" dirty="0"/>
              <a:t>JWE – RFC 7516 | Algorithmen: RFC 7518 | Verschachtelt: RFC 7519 JWT </a:t>
            </a:r>
            <a:r>
              <a:rPr lang="de-DE" sz="1100" dirty="0" err="1"/>
              <a:t>cty</a:t>
            </a:r>
            <a:r>
              <a:rPr lang="de-DE" sz="1100" dirty="0"/>
              <a:t>=JWT</a:t>
            </a:r>
          </a:p>
          <a:p>
            <a:pPr>
              <a:spcBef>
                <a:spcPts val="1100"/>
              </a:spcBef>
            </a:pPr>
            <a:r>
              <a:rPr lang="de-DE" sz="1100" b="1" dirty="0"/>
              <a:t>Payload-Signatur </a:t>
            </a:r>
            <a:br>
              <a:rPr lang="de-DE" sz="1100" b="1" dirty="0"/>
            </a:br>
            <a:r>
              <a:rPr lang="de-DE" sz="1100" dirty="0"/>
              <a:t>JWS – RFC 7515 | Algorithmen: RFC 7518 JWA | Schlüssel: RFC 7517 JWK</a:t>
            </a:r>
          </a:p>
          <a:p>
            <a:pPr>
              <a:spcBef>
                <a:spcPts val="1100"/>
              </a:spcBef>
            </a:pPr>
            <a:endParaRPr lang="de-DE" sz="1100" b="1" dirty="0"/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0CAADA29-B2DE-9EF4-651D-81EAD3C83FB7}"/>
              </a:ext>
            </a:extLst>
          </p:cNvPr>
          <p:cNvSpPr/>
          <p:nvPr/>
        </p:nvSpPr>
        <p:spPr bwMode="gray">
          <a:xfrm>
            <a:off x="542422" y="2533039"/>
            <a:ext cx="2785168" cy="1796764"/>
          </a:xfrm>
          <a:prstGeom prst="roundRect">
            <a:avLst>
              <a:gd name="adj" fmla="val 6875"/>
            </a:avLst>
          </a:prstGeom>
          <a:solidFill>
            <a:srgbClr val="FFC000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16000" tIns="0" rIns="180000" bIns="2304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de-DE" sz="1100" b="1" dirty="0">
                <a:solidFill>
                  <a:schemeClr val="tx1"/>
                </a:solidFill>
              </a:rPr>
              <a:t>HTTP/2-Transport</a:t>
            </a:r>
            <a:endParaRPr lang="de-DE" sz="1100" dirty="0">
              <a:solidFill>
                <a:schemeClr val="tx1"/>
              </a:solidFill>
            </a:endParaRP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BBBB4A49-A82C-FA93-6ACA-E50C343C5AC6}"/>
              </a:ext>
            </a:extLst>
          </p:cNvPr>
          <p:cNvSpPr/>
          <p:nvPr/>
        </p:nvSpPr>
        <p:spPr bwMode="gray">
          <a:xfrm>
            <a:off x="649660" y="2784792"/>
            <a:ext cx="2555320" cy="1452022"/>
          </a:xfrm>
          <a:prstGeom prst="roundRect">
            <a:avLst>
              <a:gd name="adj" fmla="val 6875"/>
            </a:avLst>
          </a:prstGeom>
          <a:solidFill>
            <a:srgbClr val="64B42D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16000" tIns="0" rIns="180000" bIns="2304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de-DE" sz="1100" b="1" dirty="0">
                <a:solidFill>
                  <a:schemeClr val="tx1"/>
                </a:solidFill>
              </a:rPr>
              <a:t>HTTP Header Signatur</a:t>
            </a:r>
            <a:endParaRPr lang="de-DE" sz="1100" dirty="0">
              <a:solidFill>
                <a:schemeClr val="tx1"/>
              </a:solidFill>
            </a:endParaRP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7D9AD323-F368-64EE-2217-07C15E5B67DA}"/>
              </a:ext>
            </a:extLst>
          </p:cNvPr>
          <p:cNvSpPr/>
          <p:nvPr/>
        </p:nvSpPr>
        <p:spPr bwMode="gray">
          <a:xfrm>
            <a:off x="787014" y="3036545"/>
            <a:ext cx="2273881" cy="1068532"/>
          </a:xfrm>
          <a:prstGeom prst="roundRect">
            <a:avLst>
              <a:gd name="adj" fmla="val 6875"/>
            </a:avLst>
          </a:prstGeom>
          <a:solidFill>
            <a:srgbClr val="92D050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16000" tIns="0" rIns="180000" bIns="2304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de-DE" sz="1100" b="1" dirty="0">
                <a:solidFill>
                  <a:schemeClr val="tx1"/>
                </a:solidFill>
              </a:rPr>
              <a:t>Content-Digest</a:t>
            </a:r>
            <a:endParaRPr lang="de-DE" sz="1100" dirty="0">
              <a:solidFill>
                <a:schemeClr val="tx1"/>
              </a:solidFill>
            </a:endParaRP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CC6661CA-D8D4-40CE-E6EA-9DDD65DDC8D5}"/>
              </a:ext>
            </a:extLst>
          </p:cNvPr>
          <p:cNvSpPr/>
          <p:nvPr/>
        </p:nvSpPr>
        <p:spPr bwMode="gray">
          <a:xfrm>
            <a:off x="902689" y="3301020"/>
            <a:ext cx="2049718" cy="711067"/>
          </a:xfrm>
          <a:prstGeom prst="roundRect">
            <a:avLst>
              <a:gd name="adj" fmla="val 6875"/>
            </a:avLst>
          </a:prstGeom>
          <a:solidFill>
            <a:srgbClr val="FFFF00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16000" tIns="0" rIns="180000" bIns="2304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de-DE" sz="1100" b="1" dirty="0">
                <a:solidFill>
                  <a:schemeClr val="tx1"/>
                </a:solidFill>
              </a:rPr>
              <a:t>Payload-Verschlüsselung</a:t>
            </a:r>
            <a:endParaRPr lang="de-DE" sz="1100" dirty="0">
              <a:solidFill>
                <a:schemeClr val="tx1"/>
              </a:solidFill>
            </a:endParaRP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3B577A23-8AF4-1521-3010-C1D8EA7622DA}"/>
              </a:ext>
            </a:extLst>
          </p:cNvPr>
          <p:cNvSpPr/>
          <p:nvPr/>
        </p:nvSpPr>
        <p:spPr bwMode="gray">
          <a:xfrm>
            <a:off x="1018364" y="3554888"/>
            <a:ext cx="1779060" cy="348711"/>
          </a:xfrm>
          <a:prstGeom prst="roundRect">
            <a:avLst>
              <a:gd name="adj" fmla="val 6875"/>
            </a:avLst>
          </a:prstGeom>
          <a:solidFill>
            <a:schemeClr val="accent1">
              <a:lumMod val="60000"/>
              <a:lumOff val="40000"/>
            </a:schemeClr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16000" tIns="0" rIns="180000" bIns="2304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de-DE" sz="1100" b="1" dirty="0">
                <a:solidFill>
                  <a:schemeClr val="tx1"/>
                </a:solidFill>
              </a:rPr>
              <a:t>Payload-Signatur</a:t>
            </a:r>
            <a:endParaRPr lang="de-DE" sz="1100" dirty="0">
              <a:solidFill>
                <a:schemeClr val="tx1"/>
              </a:solidFill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A25866F9-655E-F24F-9C7E-E7933763C76E}"/>
              </a:ext>
            </a:extLst>
          </p:cNvPr>
          <p:cNvSpPr txBox="1"/>
          <p:nvPr/>
        </p:nvSpPr>
        <p:spPr>
          <a:xfrm>
            <a:off x="3924174" y="1718402"/>
            <a:ext cx="52198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de-DE" sz="1400" i="1" dirty="0"/>
              <a:t>Nutzung HTTP/2-Transport und Wechsel auf HTTP Header Signatur (höherwertiger als Payload-Signatur, siehe nächste Folie):</a:t>
            </a:r>
          </a:p>
        </p:txBody>
      </p:sp>
    </p:spTree>
    <p:extLst>
      <p:ext uri="{BB962C8B-B14F-4D97-AF65-F5344CB8AC3E}">
        <p14:creationId xmlns:p14="http://schemas.microsoft.com/office/powerpoint/2010/main" val="1514413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480A9AE0-5635-8C00-15B0-83207610C64E}"/>
              </a:ext>
            </a:extLst>
          </p:cNvPr>
          <p:cNvSpPr/>
          <p:nvPr/>
        </p:nvSpPr>
        <p:spPr bwMode="gray">
          <a:xfrm>
            <a:off x="405715" y="1595494"/>
            <a:ext cx="3295393" cy="3064559"/>
          </a:xfrm>
          <a:prstGeom prst="roundRect">
            <a:avLst>
              <a:gd name="adj" fmla="val 6875"/>
            </a:avLst>
          </a:prstGeom>
          <a:solidFill>
            <a:srgbClr val="64B42D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16000" tIns="0" rIns="180000" bIns="2304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de-DE" sz="1100" b="1" dirty="0">
                <a:solidFill>
                  <a:schemeClr val="tx1"/>
                </a:solidFill>
              </a:rPr>
              <a:t>HTTP Header Signatur</a:t>
            </a:r>
            <a:endParaRPr lang="de-DE" sz="1100" dirty="0">
              <a:solidFill>
                <a:schemeClr val="tx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9A07E98-F132-7AFC-6F72-4F878857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556" y="531479"/>
            <a:ext cx="6840000" cy="387798"/>
          </a:xfrm>
        </p:spPr>
        <p:txBody>
          <a:bodyPr/>
          <a:lstStyle/>
          <a:p>
            <a:r>
              <a:rPr lang="de-DE" sz="2800" b="1" dirty="0"/>
              <a:t>HTTP Header </a:t>
            </a:r>
            <a:r>
              <a:rPr lang="de-DE" sz="2800" b="1" dirty="0" err="1"/>
              <a:t>Signature</a:t>
            </a:r>
            <a:r>
              <a:rPr lang="de-DE" sz="2800" b="1" dirty="0"/>
              <a:t>  vs.  Payload </a:t>
            </a:r>
            <a:r>
              <a:rPr lang="de-DE" sz="2800" b="1" dirty="0" err="1"/>
              <a:t>Signature</a:t>
            </a:r>
            <a:endParaRPr lang="de-DE" b="1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BFD2A49-ADDF-E0D0-4B22-B192CE15B89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01632" y="4750792"/>
            <a:ext cx="588785" cy="123111"/>
          </a:xfrm>
        </p:spPr>
        <p:txBody>
          <a:bodyPr/>
          <a:lstStyle/>
          <a:p>
            <a:fld id="{F05F51B1-EF07-4A0A-8ED6-43388CBBB34F}" type="slidenum">
              <a:rPr lang="de-DE" noProof="0" smtClean="0"/>
              <a:pPr/>
              <a:t>3</a:t>
            </a:fld>
            <a:endParaRPr lang="de-DE" noProof="0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6BB3663-C07D-EDB4-420C-3F388490E2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>
                <a:solidFill>
                  <a:srgbClr val="64B42D"/>
                </a:solidFill>
              </a:rPr>
              <a:t>Vergleich 1/2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FB60433-1E0A-1A2D-00BA-0A4C1A3456AE}"/>
              </a:ext>
            </a:extLst>
          </p:cNvPr>
          <p:cNvSpPr/>
          <p:nvPr/>
        </p:nvSpPr>
        <p:spPr>
          <a:xfrm>
            <a:off x="451371" y="2252398"/>
            <a:ext cx="2516611" cy="217410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4AC0DF2C-FFCB-EDB2-D707-821FDA477525}"/>
              </a:ext>
            </a:extLst>
          </p:cNvPr>
          <p:cNvSpPr/>
          <p:nvPr/>
        </p:nvSpPr>
        <p:spPr>
          <a:xfrm>
            <a:off x="796099" y="1905316"/>
            <a:ext cx="2747868" cy="383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de-DE" sz="1100" dirty="0"/>
              <a:t>POST /</a:t>
            </a:r>
            <a:r>
              <a:rPr lang="de-DE" sz="1100" dirty="0" err="1"/>
              <a:t>malo</a:t>
            </a:r>
            <a:r>
              <a:rPr lang="de-DE" sz="1100" dirty="0"/>
              <a:t>/ident HTTP/2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1B24F4AE-1309-3BA9-74B7-51BB2012B0D6}"/>
              </a:ext>
            </a:extLst>
          </p:cNvPr>
          <p:cNvSpPr txBox="1"/>
          <p:nvPr/>
        </p:nvSpPr>
        <p:spPr>
          <a:xfrm>
            <a:off x="789708" y="2362292"/>
            <a:ext cx="2747868" cy="12772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100" dirty="0"/>
              <a:t>Host: mabishub.com</a:t>
            </a:r>
          </a:p>
          <a:p>
            <a:r>
              <a:rPr lang="de-DE" sz="1100" dirty="0"/>
              <a:t>Content-Type: </a:t>
            </a:r>
            <a:r>
              <a:rPr lang="de-DE" sz="1100" dirty="0" err="1"/>
              <a:t>application</a:t>
            </a:r>
            <a:r>
              <a:rPr lang="de-DE" sz="1100" dirty="0"/>
              <a:t>/</a:t>
            </a:r>
            <a:r>
              <a:rPr lang="de-DE" sz="1100" dirty="0" err="1"/>
              <a:t>json</a:t>
            </a:r>
            <a:endParaRPr lang="de-DE" sz="1100" dirty="0"/>
          </a:p>
          <a:p>
            <a:r>
              <a:rPr lang="de-DE" sz="1100" dirty="0" err="1"/>
              <a:t>Accept</a:t>
            </a:r>
            <a:r>
              <a:rPr lang="de-DE" sz="1100" dirty="0"/>
              <a:t>: </a:t>
            </a:r>
            <a:r>
              <a:rPr lang="de-DE" sz="1100" dirty="0" err="1"/>
              <a:t>application</a:t>
            </a:r>
            <a:r>
              <a:rPr lang="de-DE" sz="1100" dirty="0"/>
              <a:t>/</a:t>
            </a:r>
            <a:r>
              <a:rPr lang="de-DE" sz="1100" dirty="0" err="1"/>
              <a:t>json</a:t>
            </a:r>
            <a:endParaRPr lang="de-DE" sz="1100" dirty="0"/>
          </a:p>
          <a:p>
            <a:r>
              <a:rPr lang="de-DE" sz="1100" dirty="0"/>
              <a:t>Date: Sun, 01 Jun 2026 10:15:30 GMT</a:t>
            </a:r>
          </a:p>
          <a:p>
            <a:r>
              <a:rPr lang="de-DE" sz="1100" dirty="0"/>
              <a:t>X-Request-</a:t>
            </a:r>
            <a:r>
              <a:rPr lang="de-DE" sz="1100" dirty="0" err="1"/>
              <a:t>Id</a:t>
            </a:r>
            <a:r>
              <a:rPr lang="de-DE" sz="1100" dirty="0"/>
              <a:t>: 7b5d3e2a-4c1a-4c0b-xd99</a:t>
            </a:r>
          </a:p>
          <a:p>
            <a:r>
              <a:rPr lang="de-DE" sz="1100" dirty="0"/>
              <a:t>X-</a:t>
            </a:r>
            <a:r>
              <a:rPr lang="de-DE" sz="1100" dirty="0" err="1"/>
              <a:t>Api</a:t>
            </a:r>
            <a:r>
              <a:rPr lang="de-DE" sz="1100" dirty="0"/>
              <a:t>-</a:t>
            </a:r>
            <a:r>
              <a:rPr lang="de-DE" sz="1100" dirty="0" err="1"/>
              <a:t>Spec-Ref</a:t>
            </a:r>
            <a:r>
              <a:rPr lang="de-DE" sz="1100" dirty="0"/>
              <a:t>: </a:t>
            </a:r>
            <a:r>
              <a:rPr lang="de-DE" sz="1100" dirty="0" err="1"/>
              <a:t>git:EDI-Energy</a:t>
            </a:r>
            <a:r>
              <a:rPr lang="de-DE" sz="1100" dirty="0"/>
              <a:t>/</a:t>
            </a:r>
            <a:r>
              <a:rPr lang="de-DE" sz="1100" dirty="0" err="1"/>
              <a:t>api-electricity</a:t>
            </a:r>
            <a:endParaRPr lang="de-DE" sz="1100" dirty="0"/>
          </a:p>
          <a:p>
            <a:r>
              <a:rPr lang="de-DE" sz="1100" dirty="0"/>
              <a:t>X-</a:t>
            </a:r>
            <a:r>
              <a:rPr lang="de-DE" sz="1100" dirty="0" err="1"/>
              <a:t>Api</a:t>
            </a:r>
            <a:r>
              <a:rPr lang="de-DE" sz="1100" dirty="0"/>
              <a:t>-</a:t>
            </a:r>
            <a:r>
              <a:rPr lang="de-DE" sz="1100" dirty="0" err="1"/>
              <a:t>Spec</a:t>
            </a:r>
            <a:r>
              <a:rPr lang="de-DE" sz="1100" dirty="0"/>
              <a:t>-Version: 1.2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FC553800-C3EC-E062-67AA-0005A2B0683C}"/>
              </a:ext>
            </a:extLst>
          </p:cNvPr>
          <p:cNvSpPr txBox="1"/>
          <p:nvPr/>
        </p:nvSpPr>
        <p:spPr>
          <a:xfrm>
            <a:off x="792493" y="3719003"/>
            <a:ext cx="2751474" cy="7694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1100" dirty="0"/>
              <a:t>{</a:t>
            </a:r>
          </a:p>
          <a:p>
            <a:r>
              <a:rPr lang="de-DE" sz="1100" dirty="0"/>
              <a:t>  “</a:t>
            </a:r>
            <a:r>
              <a:rPr lang="de-DE" sz="1100" dirty="0" err="1"/>
              <a:t>address</a:t>
            </a:r>
            <a:r>
              <a:rPr lang="de-DE" sz="1100" dirty="0"/>
              <a:t>“: {"</a:t>
            </a:r>
            <a:r>
              <a:rPr lang="de-DE" sz="1100" dirty="0" err="1"/>
              <a:t>zip</a:t>
            </a:r>
            <a:r>
              <a:rPr lang="de-DE" sz="1100" dirty="0"/>
              <a:t>": 80001 },</a:t>
            </a:r>
          </a:p>
          <a:p>
            <a:r>
              <a:rPr lang="de-DE" sz="1100" dirty="0"/>
              <a:t>  “</a:t>
            </a:r>
            <a:r>
              <a:rPr lang="de-DE" sz="1100" dirty="0" err="1"/>
              <a:t>customerNumber</a:t>
            </a:r>
            <a:r>
              <a:rPr lang="de-DE" sz="1100" dirty="0"/>
              <a:t>“: 6024997 </a:t>
            </a:r>
          </a:p>
          <a:p>
            <a:r>
              <a:rPr lang="de-DE" sz="1100" dirty="0"/>
              <a:t>}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D6E075C-9E14-3114-E18B-5BDE70CF00EC}"/>
              </a:ext>
            </a:extLst>
          </p:cNvPr>
          <p:cNvSpPr txBox="1"/>
          <p:nvPr/>
        </p:nvSpPr>
        <p:spPr>
          <a:xfrm rot="16200000">
            <a:off x="43349" y="2899274"/>
            <a:ext cx="1277274" cy="2154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Header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252A6DE-63EA-3D8A-AE4B-8E762D8CDECD}"/>
              </a:ext>
            </a:extLst>
          </p:cNvPr>
          <p:cNvSpPr txBox="1"/>
          <p:nvPr/>
        </p:nvSpPr>
        <p:spPr>
          <a:xfrm rot="16200000">
            <a:off x="495852" y="1989427"/>
            <a:ext cx="383663" cy="21544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URI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66E08519-8804-04F9-368C-A65BF3B05C83}"/>
              </a:ext>
            </a:extLst>
          </p:cNvPr>
          <p:cNvSpPr txBox="1"/>
          <p:nvPr/>
        </p:nvSpPr>
        <p:spPr>
          <a:xfrm rot="16200000">
            <a:off x="303656" y="3994812"/>
            <a:ext cx="769441" cy="21544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Payload</a:t>
            </a:r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362E7524-4457-5B7D-25AE-7D0245742CA7}"/>
              </a:ext>
            </a:extLst>
          </p:cNvPr>
          <p:cNvSpPr/>
          <p:nvPr/>
        </p:nvSpPr>
        <p:spPr bwMode="gray">
          <a:xfrm>
            <a:off x="4082701" y="3454399"/>
            <a:ext cx="3295393" cy="1205653"/>
          </a:xfrm>
          <a:prstGeom prst="roundRect">
            <a:avLst>
              <a:gd name="adj" fmla="val 14144"/>
            </a:avLst>
          </a:prstGeom>
          <a:solidFill>
            <a:schemeClr val="accent1">
              <a:lumMod val="60000"/>
              <a:lumOff val="40000"/>
            </a:schemeClr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16000" tIns="0" rIns="180000" bIns="2304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de-DE" sz="1100" b="1" dirty="0">
                <a:solidFill>
                  <a:schemeClr val="tx1"/>
                </a:solidFill>
              </a:rPr>
              <a:t>Payload-Signatur</a:t>
            </a:r>
            <a:endParaRPr lang="de-DE" sz="1100" dirty="0">
              <a:solidFill>
                <a:schemeClr val="tx1"/>
              </a:solidFill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709FD445-FC9E-8877-696A-C235889EAC94}"/>
              </a:ext>
            </a:extLst>
          </p:cNvPr>
          <p:cNvSpPr txBox="1"/>
          <p:nvPr/>
        </p:nvSpPr>
        <p:spPr>
          <a:xfrm>
            <a:off x="4470093" y="3719986"/>
            <a:ext cx="2751474" cy="7694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1100" dirty="0"/>
              <a:t>{</a:t>
            </a:r>
          </a:p>
          <a:p>
            <a:r>
              <a:rPr lang="de-DE" sz="1100" dirty="0"/>
              <a:t>  “</a:t>
            </a:r>
            <a:r>
              <a:rPr lang="de-DE" sz="1100" dirty="0" err="1"/>
              <a:t>address</a:t>
            </a:r>
            <a:r>
              <a:rPr lang="de-DE" sz="1100" dirty="0"/>
              <a:t>“: {"</a:t>
            </a:r>
            <a:r>
              <a:rPr lang="de-DE" sz="1100" dirty="0" err="1"/>
              <a:t>zip</a:t>
            </a:r>
            <a:r>
              <a:rPr lang="de-DE" sz="1100" dirty="0"/>
              <a:t>": 80001 },</a:t>
            </a:r>
          </a:p>
          <a:p>
            <a:r>
              <a:rPr lang="de-DE" sz="1100" dirty="0"/>
              <a:t>  “</a:t>
            </a:r>
            <a:r>
              <a:rPr lang="de-DE" sz="1100" dirty="0" err="1"/>
              <a:t>customerNumber</a:t>
            </a:r>
            <a:r>
              <a:rPr lang="de-DE" sz="1100" dirty="0"/>
              <a:t>“: 6024997 </a:t>
            </a:r>
          </a:p>
          <a:p>
            <a:r>
              <a:rPr lang="de-DE" sz="1100" dirty="0"/>
              <a:t>}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03F2B9C1-26E9-9BCE-7C1F-D97FA7D3C8CB}"/>
              </a:ext>
            </a:extLst>
          </p:cNvPr>
          <p:cNvSpPr txBox="1"/>
          <p:nvPr/>
        </p:nvSpPr>
        <p:spPr>
          <a:xfrm rot="16200000">
            <a:off x="3981256" y="4002560"/>
            <a:ext cx="769441" cy="21544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Payload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3B6DEFA0-F1C8-91AD-E8A8-F44BCB6205E7}"/>
              </a:ext>
            </a:extLst>
          </p:cNvPr>
          <p:cNvSpPr txBox="1"/>
          <p:nvPr/>
        </p:nvSpPr>
        <p:spPr>
          <a:xfrm>
            <a:off x="4039029" y="1617658"/>
            <a:ext cx="5294212" cy="176971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177800" indent="-1778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200" dirty="0"/>
              <a:t>Anwendung Payload auf andere Funktion möglich (hier „/</a:t>
            </a:r>
            <a:r>
              <a:rPr lang="de-DE" sz="1200" dirty="0" err="1"/>
              <a:t>malo</a:t>
            </a:r>
            <a:r>
              <a:rPr lang="de-DE" sz="1200" dirty="0"/>
              <a:t>/ident“).</a:t>
            </a:r>
          </a:p>
          <a:p>
            <a:pPr marL="177800" indent="-1778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200" dirty="0"/>
              <a:t>Payload Ausführung auf jedem Host möglich.</a:t>
            </a:r>
          </a:p>
          <a:p>
            <a:pPr marL="177800" indent="-1778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200" dirty="0"/>
              <a:t>Kein Replay-Schutz </a:t>
            </a:r>
          </a:p>
          <a:p>
            <a:pPr>
              <a:spcAft>
                <a:spcPts val="600"/>
              </a:spcAft>
            </a:pPr>
            <a:r>
              <a:rPr lang="de-DE" sz="1200" dirty="0"/>
              <a:t>Fazit: 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200" dirty="0"/>
              <a:t>Payload Signatur niemals als „</a:t>
            </a:r>
            <a:r>
              <a:rPr lang="de-DE" sz="1200" dirty="0" err="1"/>
              <a:t>Standalone</a:t>
            </a:r>
            <a:r>
              <a:rPr lang="de-DE" sz="1200" dirty="0"/>
              <a:t>“-Lösung ohne Header Signatur.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200" dirty="0"/>
              <a:t>Payload-Signatur ist nur zusammen mit Payload-Verschlüsselung sinnvoll </a:t>
            </a:r>
            <a:br>
              <a:rPr lang="de-DE" sz="1200" dirty="0"/>
            </a:br>
            <a:r>
              <a:rPr lang="de-DE" sz="1200" dirty="0"/>
              <a:t>(nicht als Message-Signatur vorgesehen).</a:t>
            </a:r>
          </a:p>
        </p:txBody>
      </p:sp>
      <p:sp>
        <p:nvSpPr>
          <p:cNvPr id="19" name="Textplatzhalter 5">
            <a:extLst>
              <a:ext uri="{FF2B5EF4-FFF2-40B4-BE49-F238E27FC236}">
                <a16:creationId xmlns:a16="http://schemas.microsoft.com/office/drawing/2014/main" id="{436B26DA-D6A3-09A6-80DB-054A2B2AACBE}"/>
              </a:ext>
            </a:extLst>
          </p:cNvPr>
          <p:cNvSpPr txBox="1">
            <a:spLocks/>
          </p:cNvSpPr>
          <p:nvPr/>
        </p:nvSpPr>
        <p:spPr>
          <a:xfrm>
            <a:off x="4016190" y="1049346"/>
            <a:ext cx="4856881" cy="517013"/>
          </a:xfrm>
          <a:prstGeom prst="rect">
            <a:avLst/>
          </a:prstGeom>
        </p:spPr>
        <p:txBody>
          <a:bodyPr/>
          <a:lstStyle>
            <a:lvl1pPr marL="179388" indent="-179388" algn="l" defTabSz="914400" rtl="0" eaLnBrk="1" latinLnBrk="0" hangingPunct="1">
              <a:spcBef>
                <a:spcPts val="300"/>
              </a:spcBef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363" indent="-180975" algn="l" defTabSz="914400" rtl="0" eaLnBrk="1" latinLnBrk="0" hangingPunct="1">
              <a:spcBef>
                <a:spcPts val="200"/>
              </a:spcBef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8163" indent="-180000" algn="l" defTabSz="914400" rtl="0" eaLnBrk="1" latinLnBrk="0" hangingPunct="1">
              <a:spcBef>
                <a:spcPts val="2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spcBef>
                <a:spcPts val="1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None/>
            </a:pPr>
            <a:r>
              <a:rPr lang="de-DE" sz="1400" i="1" dirty="0"/>
              <a:t>Payload Signatur erstellt Signatur nur über den Payload.</a:t>
            </a:r>
            <a:br>
              <a:rPr lang="de-DE" sz="1400" i="1" dirty="0"/>
            </a:br>
            <a:r>
              <a:rPr lang="de-DE" sz="1400" i="1" dirty="0"/>
              <a:t>Erhöhtes Sicherheitsrisiko – nur </a:t>
            </a:r>
            <a:r>
              <a:rPr lang="de-DE" sz="1400" b="1" i="1" dirty="0"/>
              <a:t>scheinbare Sicherheit:</a:t>
            </a:r>
            <a:endParaRPr lang="de-DE" sz="900" i="1" dirty="0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33D951A5-D62F-3D1B-7D96-A215A65C9E4B}"/>
              </a:ext>
            </a:extLst>
          </p:cNvPr>
          <p:cNvSpPr txBox="1">
            <a:spLocks/>
          </p:cNvSpPr>
          <p:nvPr/>
        </p:nvSpPr>
        <p:spPr>
          <a:xfrm>
            <a:off x="499760" y="1049346"/>
            <a:ext cx="3455383" cy="485321"/>
          </a:xfrm>
          <a:prstGeom prst="rect">
            <a:avLst/>
          </a:prstGeom>
        </p:spPr>
        <p:txBody>
          <a:bodyPr/>
          <a:lstStyle>
            <a:lvl1pPr marL="179388" indent="-179388" algn="l" defTabSz="914400" rtl="0" eaLnBrk="1" latinLnBrk="0" hangingPunct="1">
              <a:spcBef>
                <a:spcPts val="300"/>
              </a:spcBef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363" indent="-180975" algn="l" defTabSz="914400" rtl="0" eaLnBrk="1" latinLnBrk="0" hangingPunct="1">
              <a:spcBef>
                <a:spcPts val="200"/>
              </a:spcBef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8163" indent="-180000" algn="l" defTabSz="914400" rtl="0" eaLnBrk="1" latinLnBrk="0" hangingPunct="1">
              <a:spcBef>
                <a:spcPts val="2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spcBef>
                <a:spcPts val="1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None/>
            </a:pPr>
            <a:r>
              <a:rPr lang="de-DE" sz="1400" i="1" dirty="0"/>
              <a:t>HTTP Header Signatur erstellt eine </a:t>
            </a:r>
            <a:br>
              <a:rPr lang="de-DE" sz="1400" i="1" dirty="0"/>
            </a:br>
            <a:r>
              <a:rPr lang="de-DE" sz="1400" i="1" dirty="0"/>
              <a:t>Signatur über URI, Header und Payload:</a:t>
            </a:r>
            <a:endParaRPr lang="de-DE" sz="900" i="1" dirty="0"/>
          </a:p>
        </p:txBody>
      </p:sp>
    </p:spTree>
    <p:extLst>
      <p:ext uri="{BB962C8B-B14F-4D97-AF65-F5344CB8AC3E}">
        <p14:creationId xmlns:p14="http://schemas.microsoft.com/office/powerpoint/2010/main" val="4191941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A07E98-F132-7AFC-6F72-4F878857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556" y="531479"/>
            <a:ext cx="6840000" cy="332399"/>
          </a:xfrm>
        </p:spPr>
        <p:txBody>
          <a:bodyPr/>
          <a:lstStyle/>
          <a:p>
            <a:r>
              <a:rPr lang="de-DE" sz="2400" b="1" dirty="0"/>
              <a:t>HTTP Header </a:t>
            </a:r>
            <a:r>
              <a:rPr lang="de-DE" sz="2400" b="1" dirty="0" err="1"/>
              <a:t>Signature</a:t>
            </a:r>
            <a:r>
              <a:rPr lang="de-DE" sz="2400" b="1" dirty="0"/>
              <a:t>  vs.  Payload </a:t>
            </a:r>
            <a:r>
              <a:rPr lang="de-DE" sz="2400" b="1" dirty="0" err="1"/>
              <a:t>Signature</a:t>
            </a:r>
            <a:endParaRPr lang="de-DE" b="1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BFD2A49-ADDF-E0D0-4B22-B192CE15B89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5F51B1-EF07-4A0A-8ED6-43388CBBB34F}" type="slidenum">
              <a:rPr lang="de-DE" noProof="0" smtClean="0"/>
              <a:pPr/>
              <a:t>4</a:t>
            </a:fld>
            <a:endParaRPr lang="de-DE" noProof="0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6BB3663-C07D-EDB4-420C-3F388490E2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>
                <a:solidFill>
                  <a:srgbClr val="64B42D"/>
                </a:solidFill>
              </a:rPr>
              <a:t>Vergleich 2/2</a:t>
            </a:r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436B26DA-D6A3-09A6-80DB-054A2B2AACBE}"/>
              </a:ext>
            </a:extLst>
          </p:cNvPr>
          <p:cNvSpPr txBox="1">
            <a:spLocks/>
          </p:cNvSpPr>
          <p:nvPr/>
        </p:nvSpPr>
        <p:spPr>
          <a:xfrm>
            <a:off x="576263" y="1041144"/>
            <a:ext cx="8103280" cy="809427"/>
          </a:xfrm>
          <a:prstGeom prst="rect">
            <a:avLst/>
          </a:prstGeom>
        </p:spPr>
        <p:txBody>
          <a:bodyPr/>
          <a:lstStyle>
            <a:lvl1pPr marL="179388" indent="-179388" algn="l" defTabSz="914400" rtl="0" eaLnBrk="1" latinLnBrk="0" hangingPunct="1">
              <a:spcBef>
                <a:spcPts val="300"/>
              </a:spcBef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363" indent="-180975" algn="l" defTabSz="914400" rtl="0" eaLnBrk="1" latinLnBrk="0" hangingPunct="1">
              <a:spcBef>
                <a:spcPts val="200"/>
              </a:spcBef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8163" indent="-180000" algn="l" defTabSz="914400" rtl="0" eaLnBrk="1" latinLnBrk="0" hangingPunct="1">
              <a:spcBef>
                <a:spcPts val="2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spcBef>
                <a:spcPts val="1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1" dirty="0"/>
              <a:t>Phase 1:  </a:t>
            </a:r>
            <a:r>
              <a:rPr lang="de-DE" dirty="0"/>
              <a:t>Ansatz „HTTP Header </a:t>
            </a:r>
            <a:r>
              <a:rPr lang="de-DE" dirty="0" err="1"/>
              <a:t>Signature</a:t>
            </a:r>
            <a:r>
              <a:rPr lang="de-DE" dirty="0"/>
              <a:t>“</a:t>
            </a:r>
          </a:p>
          <a:p>
            <a:r>
              <a:rPr lang="de-DE" dirty="0"/>
              <a:t>Phase 2:  Ergänzung um Inhaltsdatensicherung (Payload-Sig. + Payload-Verschlüsselung). </a:t>
            </a:r>
            <a:br>
              <a:rPr lang="de-DE" dirty="0"/>
            </a:br>
            <a:endParaRPr lang="de-DE" sz="1000" dirty="0"/>
          </a:p>
        </p:txBody>
      </p:sp>
      <p:graphicFrame>
        <p:nvGraphicFramePr>
          <p:cNvPr id="11" name="Tabelle 10">
            <a:extLst>
              <a:ext uri="{FF2B5EF4-FFF2-40B4-BE49-F238E27FC236}">
                <a16:creationId xmlns:a16="http://schemas.microsoft.com/office/drawing/2014/main" id="{DEAF6A74-B7BF-393D-47C4-19896F353B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020091"/>
              </p:ext>
            </p:extLst>
          </p:nvPr>
        </p:nvGraphicFramePr>
        <p:xfrm>
          <a:off x="660400" y="1713981"/>
          <a:ext cx="7798098" cy="2926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242457">
                  <a:extLst>
                    <a:ext uri="{9D8B030D-6E8A-4147-A177-3AD203B41FA5}">
                      <a16:colId xmlns:a16="http://schemas.microsoft.com/office/drawing/2014/main" val="2845179637"/>
                    </a:ext>
                  </a:extLst>
                </a:gridCol>
                <a:gridCol w="2546874">
                  <a:extLst>
                    <a:ext uri="{9D8B030D-6E8A-4147-A177-3AD203B41FA5}">
                      <a16:colId xmlns:a16="http://schemas.microsoft.com/office/drawing/2014/main" val="1449008090"/>
                    </a:ext>
                  </a:extLst>
                </a:gridCol>
                <a:gridCol w="3008767">
                  <a:extLst>
                    <a:ext uri="{9D8B030D-6E8A-4147-A177-3AD203B41FA5}">
                      <a16:colId xmlns:a16="http://schemas.microsoft.com/office/drawing/2014/main" val="223354461"/>
                    </a:ext>
                  </a:extLst>
                </a:gridCol>
              </a:tblGrid>
              <a:tr h="27307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 sz="1200" dirty="0">
                          <a:solidFill>
                            <a:srgbClr val="000000"/>
                          </a:solidFill>
                        </a:rPr>
                        <a:t>Ansatz: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/>
                        <a:t>HTTP Header </a:t>
                      </a:r>
                      <a:r>
                        <a:rPr lang="de-DE" sz="1200" dirty="0" err="1"/>
                        <a:t>Signature</a:t>
                      </a:r>
                      <a:endParaRPr lang="de-DE" sz="1200" dirty="0"/>
                    </a:p>
                  </a:txBody>
                  <a:tcPr anchor="ctr">
                    <a:solidFill>
                      <a:srgbClr val="64B4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Payload </a:t>
                      </a:r>
                      <a:r>
                        <a:rPr lang="de-DE" sz="1200" dirty="0" err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Signature</a:t>
                      </a:r>
                      <a:r>
                        <a:rPr lang="de-DE" sz="1200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 (vorab proprietär alleine)</a:t>
                      </a:r>
                    </a:p>
                  </a:txBody>
                  <a:tcPr anchor="ctr">
                    <a:solidFill>
                      <a:srgbClr val="FFC5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1543718"/>
                  </a:ext>
                </a:extLst>
              </a:tr>
              <a:tr h="27307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20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b="1" dirty="0">
                          <a:solidFill>
                            <a:srgbClr val="FFFFFF"/>
                          </a:solidFill>
                        </a:rPr>
                        <a:t>RFC 9421 + RFC 9530</a:t>
                      </a:r>
                    </a:p>
                  </a:txBody>
                  <a:tcPr anchor="ctr">
                    <a:solidFill>
                      <a:srgbClr val="64B4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b="1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RFC 7515</a:t>
                      </a:r>
                    </a:p>
                  </a:txBody>
                  <a:tcPr anchor="ctr">
                    <a:solidFill>
                      <a:srgbClr val="FFC5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9657864"/>
                  </a:ext>
                </a:extLst>
              </a:tr>
              <a:tr h="27307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 sz="1200" dirty="0"/>
                        <a:t>Entwickelt für: 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b="1" dirty="0">
                          <a:solidFill>
                            <a:srgbClr val="FFFFFF"/>
                          </a:solidFill>
                        </a:rPr>
                        <a:t>HTTP-APIs (2024)</a:t>
                      </a:r>
                    </a:p>
                  </a:txBody>
                  <a:tcPr anchor="ctr">
                    <a:solidFill>
                      <a:srgbClr val="64B4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b="1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Token (2015)</a:t>
                      </a:r>
                    </a:p>
                  </a:txBody>
                  <a:tcPr anchor="ctr">
                    <a:solidFill>
                      <a:srgbClr val="FFC5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51623"/>
                  </a:ext>
                </a:extLst>
              </a:tr>
              <a:tr h="273071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/>
                        <a:t>Alter: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b="1" kern="12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2 Jahr</a:t>
                      </a:r>
                    </a:p>
                  </a:txBody>
                  <a:tcPr anchor="ctr">
                    <a:solidFill>
                      <a:srgbClr val="64B42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b="1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11 Jahre</a:t>
                      </a:r>
                    </a:p>
                  </a:txBody>
                  <a:tcPr anchor="ctr">
                    <a:solidFill>
                      <a:srgbClr val="FFC5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4037586"/>
                  </a:ext>
                </a:extLst>
              </a:tr>
              <a:tr h="2730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/>
                        <a:t>Signiert Methode + Pfad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b="1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b="1" dirty="0">
                          <a:solidFill>
                            <a:srgbClr val="A50032"/>
                          </a:solidFill>
                        </a:rPr>
                        <a:t>✗	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893745"/>
                  </a:ext>
                </a:extLst>
              </a:tr>
              <a:tr h="2730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/>
                        <a:t>Signiert Header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b="1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b="1" dirty="0">
                          <a:solidFill>
                            <a:srgbClr val="A50032"/>
                          </a:solidFill>
                        </a:rPr>
                        <a:t>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592249"/>
                  </a:ext>
                </a:extLst>
              </a:tr>
              <a:tr h="2730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/>
                        <a:t>Replay-Schutz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b="1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b="1" dirty="0">
                          <a:solidFill>
                            <a:srgbClr val="A50032"/>
                          </a:solidFill>
                        </a:rPr>
                        <a:t>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0338300"/>
                  </a:ext>
                </a:extLst>
              </a:tr>
              <a:tr h="2730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/>
                        <a:t>HTTP/2-nativ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b="1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b="1" dirty="0">
                          <a:solidFill>
                            <a:srgbClr val="A50032"/>
                          </a:solidFill>
                        </a:rPr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8237836"/>
                  </a:ext>
                </a:extLst>
              </a:tr>
              <a:tr h="2730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/>
                        <a:t>Body-Signatur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/>
                        <a:t>Über Content-Digest (RFC 9530)</a:t>
                      </a:r>
                      <a:br>
                        <a:rPr lang="de-DE" sz="1200" dirty="0"/>
                      </a:br>
                      <a:r>
                        <a:rPr lang="de-DE" sz="1200" kern="1200" dirty="0">
                          <a:solidFill>
                            <a:srgbClr val="00875A"/>
                          </a:solidFill>
                          <a:latin typeface="+mn-lt"/>
                          <a:ea typeface="+mn-ea"/>
                          <a:cs typeface="+mn-cs"/>
                        </a:rPr>
                        <a:t>Entfall proprietärer „</a:t>
                      </a:r>
                      <a:r>
                        <a:rPr lang="de-DE" sz="1200" dirty="0">
                          <a:solidFill>
                            <a:srgbClr val="00875A"/>
                          </a:solidFill>
                        </a:rPr>
                        <a:t>X-BDEW-DIGEST“</a:t>
                      </a:r>
                      <a:endParaRPr lang="de-DE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/>
                        <a:t>Direkt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6410356"/>
                  </a:ext>
                </a:extLst>
              </a:tr>
              <a:tr h="2730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Signaturrelevanter Parameter</a:t>
                      </a:r>
                    </a:p>
                  </a:txBody>
                  <a:tcPr anchor="ctr"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b="1" dirty="0">
                          <a:solidFill>
                            <a:srgbClr val="00B050"/>
                          </a:solidFill>
                        </a:rPr>
                        <a:t>✓  </a:t>
                      </a:r>
                      <a:r>
                        <a:rPr lang="de-DE" sz="1200" b="0" dirty="0">
                          <a:solidFill>
                            <a:srgbClr val="00B050"/>
                          </a:solidFill>
                        </a:rPr>
                        <a:t>Nutzt @Parameter nach RFC</a:t>
                      </a:r>
                      <a:endParaRPr lang="de-DE" sz="1200" b="0" dirty="0"/>
                    </a:p>
                  </a:txBody>
                  <a:tcPr anchor="ctr"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b="1" dirty="0">
                          <a:solidFill>
                            <a:srgbClr val="A50032"/>
                          </a:solidFill>
                        </a:rPr>
                        <a:t>✗  P</a:t>
                      </a:r>
                      <a:r>
                        <a:rPr lang="de-DE" sz="1200" b="1" kern="1200" dirty="0">
                          <a:solidFill>
                            <a:srgbClr val="A50032"/>
                          </a:solidFill>
                          <a:latin typeface="+mn-lt"/>
                          <a:ea typeface="+mn-ea"/>
                          <a:cs typeface="+mn-cs"/>
                        </a:rPr>
                        <a:t>roprietärer JSON-Payload-Kopf (Folie 7)</a:t>
                      </a:r>
                    </a:p>
                  </a:txBody>
                  <a:tcPr anchor="ctr"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3668762"/>
                  </a:ext>
                </a:extLst>
              </a:tr>
            </a:tbl>
          </a:graphicData>
        </a:graphic>
      </p:graphicFrame>
      <p:sp>
        <p:nvSpPr>
          <p:cNvPr id="6" name="Textfeld 5">
            <a:extLst>
              <a:ext uri="{FF2B5EF4-FFF2-40B4-BE49-F238E27FC236}">
                <a16:creationId xmlns:a16="http://schemas.microsoft.com/office/drawing/2014/main" id="{4ABDDD9C-8F47-25B0-96BC-6D7C01ECAAD2}"/>
              </a:ext>
            </a:extLst>
          </p:cNvPr>
          <p:cNvSpPr txBox="1"/>
          <p:nvPr/>
        </p:nvSpPr>
        <p:spPr>
          <a:xfrm rot="20504368">
            <a:off x="-51175" y="2125660"/>
            <a:ext cx="18399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400" dirty="0">
                <a:solidFill>
                  <a:srgbClr val="64B42D"/>
                </a:solidFill>
              </a:rPr>
              <a:t>größtmögliche Standardisierung</a:t>
            </a:r>
          </a:p>
        </p:txBody>
      </p:sp>
    </p:spTree>
    <p:extLst>
      <p:ext uri="{BB962C8B-B14F-4D97-AF65-F5344CB8AC3E}">
        <p14:creationId xmlns:p14="http://schemas.microsoft.com/office/powerpoint/2010/main" val="4206999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echteck: abgerundete Ecken 140">
            <a:extLst>
              <a:ext uri="{FF2B5EF4-FFF2-40B4-BE49-F238E27FC236}">
                <a16:creationId xmlns:a16="http://schemas.microsoft.com/office/drawing/2014/main" id="{4D8C6D43-95AE-92BA-AFAA-C8F9BFFA36DC}"/>
              </a:ext>
            </a:extLst>
          </p:cNvPr>
          <p:cNvSpPr/>
          <p:nvPr/>
        </p:nvSpPr>
        <p:spPr bwMode="gray">
          <a:xfrm>
            <a:off x="6495141" y="907025"/>
            <a:ext cx="2506331" cy="4100588"/>
          </a:xfrm>
          <a:prstGeom prst="roundRect">
            <a:avLst>
              <a:gd name="adj" fmla="val 6875"/>
            </a:avLst>
          </a:prstGeom>
          <a:solidFill>
            <a:srgbClr val="64B42D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16000" tIns="0" rIns="180000" bIns="2304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de-DE" sz="1100" b="1" dirty="0">
                <a:solidFill>
                  <a:schemeClr val="tx1"/>
                </a:solidFill>
              </a:rPr>
              <a:t>HTTP Header Signatur</a:t>
            </a:r>
            <a:endParaRPr lang="de-DE" sz="1100" dirty="0">
              <a:solidFill>
                <a:schemeClr val="tx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9A07E98-F132-7AFC-6F72-4F878857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999" y="465786"/>
            <a:ext cx="6840000" cy="332399"/>
          </a:xfrm>
        </p:spPr>
        <p:txBody>
          <a:bodyPr/>
          <a:lstStyle/>
          <a:p>
            <a:r>
              <a:rPr lang="de-DE" sz="2400" b="1" dirty="0"/>
              <a:t>HTTP Header Signatur (RFC 8785, 9530, 9421)</a:t>
            </a:r>
            <a:endParaRPr lang="de-DE" sz="2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BFD2A49-ADDF-E0D0-4B22-B192CE15B89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47968" y="3985553"/>
            <a:ext cx="588785" cy="123111"/>
          </a:xfrm>
        </p:spPr>
        <p:txBody>
          <a:bodyPr/>
          <a:lstStyle/>
          <a:p>
            <a:fld id="{F05F51B1-EF07-4A0A-8ED6-43388CBBB34F}" type="slidenum">
              <a:rPr lang="de-DE" noProof="0" smtClean="0"/>
              <a:pPr/>
              <a:t>5</a:t>
            </a:fld>
            <a:endParaRPr lang="de-DE" noProof="0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6BB3663-C07D-EDB4-420C-3F388490E2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5999" y="252000"/>
            <a:ext cx="5723201" cy="215444"/>
          </a:xfrm>
        </p:spPr>
        <p:txBody>
          <a:bodyPr/>
          <a:lstStyle/>
          <a:p>
            <a:r>
              <a:rPr lang="de-DE" b="1" dirty="0">
                <a:solidFill>
                  <a:srgbClr val="C81E82"/>
                </a:solidFill>
              </a:rPr>
              <a:t>Kochrezept „Phase I“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B4713D1-3066-52B7-A07D-442A2DA15B63}"/>
              </a:ext>
            </a:extLst>
          </p:cNvPr>
          <p:cNvSpPr/>
          <p:nvPr/>
        </p:nvSpPr>
        <p:spPr>
          <a:xfrm>
            <a:off x="2943871" y="945433"/>
            <a:ext cx="3194845" cy="360332"/>
          </a:xfrm>
          <a:prstGeom prst="rect">
            <a:avLst/>
          </a:prstGeom>
          <a:solidFill>
            <a:srgbClr val="D8D7D6"/>
          </a:solidFill>
          <a:effectLst/>
          <a:scene3d>
            <a:camera prst="orthographicFront"/>
            <a:lightRig rig="threePt" dir="t">
              <a:rot lat="0" lon="0" rev="1200000"/>
            </a:lightRig>
          </a:scene3d>
          <a:sp3d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sz="800" b="1" dirty="0">
                <a:solidFill>
                  <a:schemeClr val="tx1"/>
                </a:solidFill>
              </a:rPr>
              <a:t>RFC 8785 – Kanonisiere den JWS </a:t>
            </a:r>
            <a:r>
              <a:rPr lang="de-DE" sz="800" b="1" dirty="0" err="1">
                <a:solidFill>
                  <a:schemeClr val="tx1"/>
                </a:solidFill>
              </a:rPr>
              <a:t>payload</a:t>
            </a:r>
            <a:endParaRPr lang="de-DE" sz="800" b="1" dirty="0">
              <a:solidFill>
                <a:schemeClr val="tx1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A693542C-D16D-24DD-6605-69D717DC8D8F}"/>
              </a:ext>
            </a:extLst>
          </p:cNvPr>
          <p:cNvSpPr/>
          <p:nvPr/>
        </p:nvSpPr>
        <p:spPr>
          <a:xfrm>
            <a:off x="70472" y="1635196"/>
            <a:ext cx="2516611" cy="217410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279A23E8-7A83-FD5A-FDB6-2BA6410CD6F9}"/>
              </a:ext>
            </a:extLst>
          </p:cNvPr>
          <p:cNvSpPr/>
          <p:nvPr/>
        </p:nvSpPr>
        <p:spPr>
          <a:xfrm>
            <a:off x="415200" y="1212159"/>
            <a:ext cx="1860898" cy="38366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de-DE" sz="800" dirty="0"/>
              <a:t>POST /</a:t>
            </a:r>
            <a:r>
              <a:rPr lang="de-DE" sz="800" dirty="0" err="1"/>
              <a:t>malo</a:t>
            </a:r>
            <a:r>
              <a:rPr lang="de-DE" sz="800" dirty="0"/>
              <a:t>/ident HTTP/2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31842B54-908B-DF57-56DB-7AA2EE8A9CFB}"/>
              </a:ext>
            </a:extLst>
          </p:cNvPr>
          <p:cNvSpPr txBox="1"/>
          <p:nvPr/>
        </p:nvSpPr>
        <p:spPr>
          <a:xfrm>
            <a:off x="408810" y="1640197"/>
            <a:ext cx="1866702" cy="107721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DE" sz="800" dirty="0"/>
              <a:t>Host: mabishub.com</a:t>
            </a:r>
          </a:p>
          <a:p>
            <a:r>
              <a:rPr lang="de-DE" sz="800" dirty="0"/>
              <a:t>Content-Type: </a:t>
            </a:r>
            <a:r>
              <a:rPr lang="de-DE" sz="800" dirty="0" err="1"/>
              <a:t>application</a:t>
            </a:r>
            <a:r>
              <a:rPr lang="de-DE" sz="800" dirty="0"/>
              <a:t>/</a:t>
            </a:r>
            <a:r>
              <a:rPr lang="de-DE" sz="800" dirty="0" err="1"/>
              <a:t>json</a:t>
            </a:r>
            <a:endParaRPr lang="de-DE" sz="800" dirty="0"/>
          </a:p>
          <a:p>
            <a:r>
              <a:rPr lang="de-DE" sz="800" dirty="0" err="1"/>
              <a:t>Accept</a:t>
            </a:r>
            <a:r>
              <a:rPr lang="de-DE" sz="800" dirty="0"/>
              <a:t>: </a:t>
            </a:r>
            <a:r>
              <a:rPr lang="de-DE" sz="800" dirty="0" err="1"/>
              <a:t>application</a:t>
            </a:r>
            <a:r>
              <a:rPr lang="de-DE" sz="800" dirty="0"/>
              <a:t>/</a:t>
            </a:r>
            <a:r>
              <a:rPr lang="de-DE" sz="800" dirty="0" err="1"/>
              <a:t>json</a:t>
            </a:r>
            <a:endParaRPr lang="de-DE" sz="800" dirty="0"/>
          </a:p>
          <a:p>
            <a:r>
              <a:rPr lang="de-DE" sz="800" dirty="0"/>
              <a:t>Date: Sun, 01 Jun 2026 10:15:30 GMT</a:t>
            </a:r>
          </a:p>
          <a:p>
            <a:r>
              <a:rPr lang="de-DE" sz="800" dirty="0"/>
              <a:t>X-Request-</a:t>
            </a:r>
            <a:r>
              <a:rPr lang="de-DE" sz="800" dirty="0" err="1"/>
              <a:t>Id</a:t>
            </a:r>
            <a:r>
              <a:rPr lang="de-DE" sz="800" dirty="0"/>
              <a:t>: 7b5d3e2a-4c1a-4c0b-xd99</a:t>
            </a:r>
          </a:p>
          <a:p>
            <a:r>
              <a:rPr lang="de-DE" sz="800" dirty="0"/>
              <a:t>X-</a:t>
            </a:r>
            <a:r>
              <a:rPr lang="de-DE" sz="800" dirty="0" err="1"/>
              <a:t>Api</a:t>
            </a:r>
            <a:r>
              <a:rPr lang="de-DE" sz="800" dirty="0"/>
              <a:t>-</a:t>
            </a:r>
            <a:r>
              <a:rPr lang="de-DE" sz="800" dirty="0" err="1"/>
              <a:t>Spec-Ref</a:t>
            </a:r>
            <a:r>
              <a:rPr lang="de-DE" sz="800" dirty="0"/>
              <a:t>: </a:t>
            </a:r>
            <a:r>
              <a:rPr lang="de-DE" sz="800" dirty="0" err="1"/>
              <a:t>git:EDI-Energy</a:t>
            </a:r>
            <a:r>
              <a:rPr lang="de-DE" sz="800" dirty="0"/>
              <a:t>/</a:t>
            </a:r>
            <a:r>
              <a:rPr lang="de-DE" sz="800" dirty="0" err="1"/>
              <a:t>api-electricity</a:t>
            </a:r>
            <a:endParaRPr lang="de-DE" sz="800" dirty="0"/>
          </a:p>
          <a:p>
            <a:r>
              <a:rPr lang="de-DE" sz="800" dirty="0"/>
              <a:t>X-</a:t>
            </a:r>
            <a:r>
              <a:rPr lang="de-DE" sz="800" dirty="0" err="1"/>
              <a:t>Api</a:t>
            </a:r>
            <a:r>
              <a:rPr lang="de-DE" sz="800" dirty="0"/>
              <a:t>-</a:t>
            </a:r>
            <a:r>
              <a:rPr lang="de-DE" sz="800" dirty="0" err="1"/>
              <a:t>Spec</a:t>
            </a:r>
            <a:r>
              <a:rPr lang="de-DE" sz="800" dirty="0"/>
              <a:t>-Version: 1.2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A62EE9AC-7843-699F-D443-1DFB1E31B43A}"/>
              </a:ext>
            </a:extLst>
          </p:cNvPr>
          <p:cNvSpPr txBox="1"/>
          <p:nvPr/>
        </p:nvSpPr>
        <p:spPr>
          <a:xfrm>
            <a:off x="411594" y="2779883"/>
            <a:ext cx="1864174" cy="58477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DE" sz="800" dirty="0"/>
              <a:t>{</a:t>
            </a:r>
          </a:p>
          <a:p>
            <a:r>
              <a:rPr lang="de-DE" sz="800" dirty="0"/>
              <a:t>  “</a:t>
            </a:r>
            <a:r>
              <a:rPr lang="de-DE" sz="800" dirty="0" err="1"/>
              <a:t>address</a:t>
            </a:r>
            <a:r>
              <a:rPr lang="de-DE" sz="800" dirty="0"/>
              <a:t>“: {"</a:t>
            </a:r>
            <a:r>
              <a:rPr lang="de-DE" sz="800" dirty="0" err="1"/>
              <a:t>zip</a:t>
            </a:r>
            <a:r>
              <a:rPr lang="de-DE" sz="800" dirty="0"/>
              <a:t>": 80001 },</a:t>
            </a:r>
          </a:p>
          <a:p>
            <a:r>
              <a:rPr lang="de-DE" sz="800" dirty="0"/>
              <a:t>  “</a:t>
            </a:r>
            <a:r>
              <a:rPr lang="de-DE" sz="800" dirty="0" err="1"/>
              <a:t>customerNumber</a:t>
            </a:r>
            <a:r>
              <a:rPr lang="de-DE" sz="800" dirty="0"/>
              <a:t>“: 6024997 </a:t>
            </a:r>
          </a:p>
          <a:p>
            <a:r>
              <a:rPr lang="de-DE" sz="800" dirty="0"/>
              <a:t>}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27C30319-EF9A-923A-62EF-612EB9FBAD3C}"/>
              </a:ext>
            </a:extLst>
          </p:cNvPr>
          <p:cNvSpPr txBox="1"/>
          <p:nvPr/>
        </p:nvSpPr>
        <p:spPr>
          <a:xfrm rot="16200000">
            <a:off x="-234033" y="2066404"/>
            <a:ext cx="1076631" cy="22183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Header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2A862629-C31F-8F61-642E-47503595D84A}"/>
              </a:ext>
            </a:extLst>
          </p:cNvPr>
          <p:cNvSpPr txBox="1"/>
          <p:nvPr/>
        </p:nvSpPr>
        <p:spPr>
          <a:xfrm rot="16200000">
            <a:off x="114953" y="1296270"/>
            <a:ext cx="383663" cy="21544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URI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640F6EFF-8258-9338-11A3-471AC1234DFB}"/>
              </a:ext>
            </a:extLst>
          </p:cNvPr>
          <p:cNvSpPr txBox="1"/>
          <p:nvPr/>
        </p:nvSpPr>
        <p:spPr>
          <a:xfrm rot="16200000">
            <a:off x="15090" y="2963359"/>
            <a:ext cx="584776" cy="21544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Payload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1E19FF6F-E7A6-14E3-DA88-DFCE677EE67F}"/>
              </a:ext>
            </a:extLst>
          </p:cNvPr>
          <p:cNvSpPr/>
          <p:nvPr/>
        </p:nvSpPr>
        <p:spPr>
          <a:xfrm>
            <a:off x="3065914" y="1129066"/>
            <a:ext cx="2802526" cy="160350"/>
          </a:xfrm>
          <a:prstGeom prst="rect">
            <a:avLst/>
          </a:prstGeom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de-DE" sz="800" dirty="0">
                <a:solidFill>
                  <a:schemeClr val="accent1"/>
                </a:solidFill>
              </a:rPr>
              <a:t>{"</a:t>
            </a:r>
            <a:r>
              <a:rPr lang="de-DE" sz="800" dirty="0" err="1">
                <a:solidFill>
                  <a:schemeClr val="accent1"/>
                </a:solidFill>
              </a:rPr>
              <a:t>address</a:t>
            </a:r>
            <a:r>
              <a:rPr lang="de-DE" sz="800" dirty="0">
                <a:solidFill>
                  <a:schemeClr val="accent1"/>
                </a:solidFill>
              </a:rPr>
              <a:t>":{"zip":80001},"customerNumber":6024997}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4AD97B13-04FF-EA73-9104-6708A16B4D38}"/>
              </a:ext>
            </a:extLst>
          </p:cNvPr>
          <p:cNvSpPr/>
          <p:nvPr/>
        </p:nvSpPr>
        <p:spPr>
          <a:xfrm>
            <a:off x="2952172" y="1975436"/>
            <a:ext cx="3194844" cy="740201"/>
          </a:xfrm>
          <a:prstGeom prst="rect">
            <a:avLst/>
          </a:prstGeom>
          <a:solidFill>
            <a:srgbClr val="D8D7D6"/>
          </a:solidFill>
          <a:effectLst/>
          <a:scene3d>
            <a:camera prst="orthographicFront"/>
            <a:lightRig rig="threePt" dir="t">
              <a:rot lat="0" lon="0" rev="1200000"/>
            </a:lightRig>
          </a:scene3d>
          <a:sp3d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sz="800" b="1" dirty="0">
                <a:solidFill>
                  <a:schemeClr val="tx1"/>
                </a:solidFill>
              </a:rPr>
              <a:t>RFC 9421 §2.5 – Felder für Signatur bestimmen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034DD836-48C5-B102-9CA0-E35E50E81D31}"/>
              </a:ext>
            </a:extLst>
          </p:cNvPr>
          <p:cNvSpPr/>
          <p:nvPr/>
        </p:nvSpPr>
        <p:spPr>
          <a:xfrm>
            <a:off x="3043206" y="2179453"/>
            <a:ext cx="3089906" cy="463915"/>
          </a:xfrm>
          <a:prstGeom prst="rect">
            <a:avLst/>
          </a:prstGeom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de-DE" sz="800" u="sng" dirty="0" err="1">
                <a:solidFill>
                  <a:schemeClr val="accent1"/>
                </a:solidFill>
              </a:rPr>
              <a:t>Signature</a:t>
            </a:r>
            <a:r>
              <a:rPr lang="de-DE" sz="800" u="sng" dirty="0">
                <a:solidFill>
                  <a:schemeClr val="accent1"/>
                </a:solidFill>
              </a:rPr>
              <a:t>-Input</a:t>
            </a:r>
            <a:r>
              <a:rPr lang="de-DE" sz="800" dirty="0">
                <a:solidFill>
                  <a:schemeClr val="accent1"/>
                </a:solidFill>
              </a:rPr>
              <a:t>: sig1=("@</a:t>
            </a:r>
            <a:r>
              <a:rPr lang="de-DE" sz="800" dirty="0" err="1">
                <a:solidFill>
                  <a:schemeClr val="accent1"/>
                </a:solidFill>
              </a:rPr>
              <a:t>method</a:t>
            </a:r>
            <a:r>
              <a:rPr lang="de-DE" sz="800" dirty="0">
                <a:solidFill>
                  <a:schemeClr val="accent1"/>
                </a:solidFill>
              </a:rPr>
              <a:t>" "@</a:t>
            </a:r>
            <a:r>
              <a:rPr lang="de-DE" sz="800" dirty="0" err="1">
                <a:solidFill>
                  <a:schemeClr val="accent1"/>
                </a:solidFill>
              </a:rPr>
              <a:t>path</a:t>
            </a:r>
            <a:r>
              <a:rPr lang="de-DE" sz="800" dirty="0">
                <a:solidFill>
                  <a:schemeClr val="accent1"/>
                </a:solidFill>
              </a:rPr>
              <a:t>" "@</a:t>
            </a:r>
            <a:r>
              <a:rPr lang="de-DE" sz="800" dirty="0" err="1">
                <a:solidFill>
                  <a:schemeClr val="accent1"/>
                </a:solidFill>
              </a:rPr>
              <a:t>authority</a:t>
            </a:r>
            <a:r>
              <a:rPr lang="de-DE" sz="800" dirty="0">
                <a:solidFill>
                  <a:schemeClr val="accent1"/>
                </a:solidFill>
              </a:rPr>
              <a:t>" "</a:t>
            </a:r>
            <a:r>
              <a:rPr lang="de-DE" sz="800" dirty="0" err="1">
                <a:solidFill>
                  <a:schemeClr val="accent1"/>
                </a:solidFill>
              </a:rPr>
              <a:t>content</a:t>
            </a:r>
            <a:r>
              <a:rPr lang="de-DE" sz="800" dirty="0">
                <a:solidFill>
                  <a:schemeClr val="accent1"/>
                </a:solidFill>
              </a:rPr>
              <a:t>-type" "</a:t>
            </a:r>
            <a:r>
              <a:rPr lang="de-DE" sz="800" dirty="0" err="1">
                <a:solidFill>
                  <a:schemeClr val="accent1"/>
                </a:solidFill>
              </a:rPr>
              <a:t>content</a:t>
            </a:r>
            <a:r>
              <a:rPr lang="de-DE" sz="800" dirty="0">
                <a:solidFill>
                  <a:schemeClr val="accent1"/>
                </a:solidFill>
              </a:rPr>
              <a:t>-digest" "date" "x-</a:t>
            </a:r>
            <a:r>
              <a:rPr lang="de-DE" sz="800" dirty="0" err="1">
                <a:solidFill>
                  <a:schemeClr val="accent1"/>
                </a:solidFill>
              </a:rPr>
              <a:t>request</a:t>
            </a:r>
            <a:r>
              <a:rPr lang="de-DE" sz="800" dirty="0">
                <a:solidFill>
                  <a:schemeClr val="accent1"/>
                </a:solidFill>
              </a:rPr>
              <a:t>-</a:t>
            </a:r>
            <a:r>
              <a:rPr lang="de-DE" sz="800" dirty="0" err="1">
                <a:solidFill>
                  <a:schemeClr val="accent1"/>
                </a:solidFill>
              </a:rPr>
              <a:t>id</a:t>
            </a:r>
            <a:r>
              <a:rPr lang="de-DE" sz="800" dirty="0">
                <a:solidFill>
                  <a:schemeClr val="accent1"/>
                </a:solidFill>
              </a:rPr>
              <a:t>"); </a:t>
            </a:r>
            <a:r>
              <a:rPr lang="de-DE" sz="800" dirty="0" err="1">
                <a:solidFill>
                  <a:schemeClr val="accent1"/>
                </a:solidFill>
              </a:rPr>
              <a:t>created</a:t>
            </a:r>
            <a:r>
              <a:rPr lang="de-DE" sz="800" dirty="0">
                <a:solidFill>
                  <a:schemeClr val="accent1"/>
                </a:solidFill>
              </a:rPr>
              <a:t>=1738404930; </a:t>
            </a:r>
            <a:r>
              <a:rPr lang="de-DE" sz="800" dirty="0" err="1">
                <a:solidFill>
                  <a:schemeClr val="accent1"/>
                </a:solidFill>
              </a:rPr>
              <a:t>keyid</a:t>
            </a:r>
            <a:r>
              <a:rPr lang="de-DE" sz="800" dirty="0">
                <a:solidFill>
                  <a:schemeClr val="accent1"/>
                </a:solidFill>
              </a:rPr>
              <a:t>="EMT.API.NB-12345"; </a:t>
            </a:r>
            <a:r>
              <a:rPr lang="de-DE" sz="800" dirty="0" err="1">
                <a:solidFill>
                  <a:schemeClr val="accent1"/>
                </a:solidFill>
              </a:rPr>
              <a:t>alg</a:t>
            </a:r>
            <a:r>
              <a:rPr lang="de-DE" sz="800" dirty="0">
                <a:solidFill>
                  <a:schemeClr val="accent1"/>
                </a:solidFill>
              </a:rPr>
              <a:t>="ecdsa-p256-sha256"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F51E81F3-F6E7-8304-DE81-6C9F67629F2E}"/>
              </a:ext>
            </a:extLst>
          </p:cNvPr>
          <p:cNvSpPr/>
          <p:nvPr/>
        </p:nvSpPr>
        <p:spPr>
          <a:xfrm>
            <a:off x="6864245" y="2299350"/>
            <a:ext cx="2516611" cy="217410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de-DE"/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FAA1EE65-2E06-296E-00F2-261D226506FA}"/>
              </a:ext>
            </a:extLst>
          </p:cNvPr>
          <p:cNvSpPr/>
          <p:nvPr/>
        </p:nvSpPr>
        <p:spPr>
          <a:xfrm>
            <a:off x="6852106" y="1162365"/>
            <a:ext cx="2048980" cy="38366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de-DE" sz="800" dirty="0"/>
              <a:t>POST /</a:t>
            </a:r>
            <a:r>
              <a:rPr lang="de-DE" sz="800" dirty="0" err="1"/>
              <a:t>malo</a:t>
            </a:r>
            <a:r>
              <a:rPr lang="de-DE" sz="800" dirty="0"/>
              <a:t>/ident HTTP/2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CF6E1A66-547A-AA01-536E-6A4A98221C09}"/>
              </a:ext>
            </a:extLst>
          </p:cNvPr>
          <p:cNvSpPr txBox="1"/>
          <p:nvPr/>
        </p:nvSpPr>
        <p:spPr>
          <a:xfrm>
            <a:off x="6845715" y="1590403"/>
            <a:ext cx="2055371" cy="95410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de-DE" sz="800" dirty="0"/>
              <a:t>Host: mabishub.com</a:t>
            </a:r>
          </a:p>
          <a:p>
            <a:r>
              <a:rPr lang="de-DE" sz="800" dirty="0"/>
              <a:t>Content-Type: </a:t>
            </a:r>
            <a:r>
              <a:rPr lang="de-DE" sz="800" dirty="0" err="1"/>
              <a:t>application</a:t>
            </a:r>
            <a:r>
              <a:rPr lang="de-DE" sz="800" dirty="0"/>
              <a:t>/</a:t>
            </a:r>
            <a:r>
              <a:rPr lang="de-DE" sz="800" dirty="0" err="1"/>
              <a:t>json</a:t>
            </a:r>
            <a:endParaRPr lang="de-DE" sz="800" dirty="0"/>
          </a:p>
          <a:p>
            <a:r>
              <a:rPr lang="de-DE" sz="800" dirty="0" err="1"/>
              <a:t>Accept</a:t>
            </a:r>
            <a:r>
              <a:rPr lang="de-DE" sz="800" dirty="0"/>
              <a:t>: </a:t>
            </a:r>
            <a:r>
              <a:rPr lang="de-DE" sz="800" dirty="0" err="1"/>
              <a:t>application</a:t>
            </a:r>
            <a:r>
              <a:rPr lang="de-DE" sz="800" dirty="0"/>
              <a:t>/</a:t>
            </a:r>
            <a:r>
              <a:rPr lang="de-DE" sz="800" dirty="0" err="1"/>
              <a:t>json</a:t>
            </a:r>
            <a:endParaRPr lang="de-DE" sz="800" dirty="0"/>
          </a:p>
          <a:p>
            <a:r>
              <a:rPr lang="de-DE" sz="800" dirty="0"/>
              <a:t>Date: Sun, 01 Jun 2026 10:15:30 GMT</a:t>
            </a:r>
          </a:p>
          <a:p>
            <a:r>
              <a:rPr lang="de-DE" sz="800" dirty="0"/>
              <a:t>X-Request-</a:t>
            </a:r>
            <a:r>
              <a:rPr lang="de-DE" sz="800" dirty="0" err="1"/>
              <a:t>Id</a:t>
            </a:r>
            <a:r>
              <a:rPr lang="de-DE" sz="800" dirty="0"/>
              <a:t>: 7b5d3e2a-4c1a-4c0b-xd99</a:t>
            </a:r>
          </a:p>
          <a:p>
            <a:r>
              <a:rPr lang="de-DE" sz="800" dirty="0"/>
              <a:t>X-</a:t>
            </a:r>
            <a:r>
              <a:rPr lang="de-DE" sz="800" dirty="0" err="1"/>
              <a:t>Api</a:t>
            </a:r>
            <a:r>
              <a:rPr lang="de-DE" sz="800" dirty="0"/>
              <a:t>-</a:t>
            </a:r>
            <a:r>
              <a:rPr lang="de-DE" sz="800" dirty="0" err="1"/>
              <a:t>Spec-Ref</a:t>
            </a:r>
            <a:r>
              <a:rPr lang="de-DE" sz="800" dirty="0"/>
              <a:t>: </a:t>
            </a:r>
            <a:r>
              <a:rPr lang="de-DE" sz="800" dirty="0" err="1"/>
              <a:t>git:EDI-Energy</a:t>
            </a:r>
            <a:r>
              <a:rPr lang="de-DE" sz="800" dirty="0"/>
              <a:t>/</a:t>
            </a:r>
            <a:r>
              <a:rPr lang="de-DE" sz="800" dirty="0" err="1"/>
              <a:t>api-electricity</a:t>
            </a:r>
            <a:endParaRPr lang="de-DE" sz="800" dirty="0"/>
          </a:p>
          <a:p>
            <a:r>
              <a:rPr lang="de-DE" sz="800" dirty="0"/>
              <a:t>X-</a:t>
            </a:r>
            <a:r>
              <a:rPr lang="de-DE" sz="800" dirty="0" err="1"/>
              <a:t>Api</a:t>
            </a:r>
            <a:r>
              <a:rPr lang="de-DE" sz="800" dirty="0"/>
              <a:t>-</a:t>
            </a:r>
            <a:r>
              <a:rPr lang="de-DE" sz="800" dirty="0" err="1"/>
              <a:t>Spec</a:t>
            </a:r>
            <a:r>
              <a:rPr lang="de-DE" sz="800" dirty="0"/>
              <a:t>-Version: 1.2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4B180FCB-4281-87C1-A692-C9DCDBCDE25A}"/>
              </a:ext>
            </a:extLst>
          </p:cNvPr>
          <p:cNvSpPr txBox="1"/>
          <p:nvPr/>
        </p:nvSpPr>
        <p:spPr>
          <a:xfrm rot="16200000">
            <a:off x="5411886" y="2808236"/>
            <a:ext cx="2640269" cy="215444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Header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34324D3E-D07A-1E70-D43F-FD0B6EC9A183}"/>
              </a:ext>
            </a:extLst>
          </p:cNvPr>
          <p:cNvSpPr txBox="1"/>
          <p:nvPr/>
        </p:nvSpPr>
        <p:spPr>
          <a:xfrm rot="16200000">
            <a:off x="6544596" y="1246476"/>
            <a:ext cx="383663" cy="215444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URI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9EDC0298-6444-1907-8F44-3322E5085973}"/>
              </a:ext>
            </a:extLst>
          </p:cNvPr>
          <p:cNvSpPr txBox="1"/>
          <p:nvPr/>
        </p:nvSpPr>
        <p:spPr>
          <a:xfrm rot="16200000">
            <a:off x="6439633" y="4461475"/>
            <a:ext cx="587355" cy="215444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Payload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3EAA156A-32C8-545E-C2DB-7B4F7D00A270}"/>
              </a:ext>
            </a:extLst>
          </p:cNvPr>
          <p:cNvSpPr/>
          <p:nvPr/>
        </p:nvSpPr>
        <p:spPr>
          <a:xfrm>
            <a:off x="6852106" y="2583758"/>
            <a:ext cx="2048980" cy="1799918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de-DE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CF0A6A0C-9ED3-8C28-F5BA-F5C1CF24A27D}"/>
              </a:ext>
            </a:extLst>
          </p:cNvPr>
          <p:cNvSpPr/>
          <p:nvPr/>
        </p:nvSpPr>
        <p:spPr>
          <a:xfrm>
            <a:off x="6848295" y="4275520"/>
            <a:ext cx="2063473" cy="58735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de-DE" sz="800"/>
              <a:t>{</a:t>
            </a:r>
          </a:p>
          <a:p>
            <a:r>
              <a:rPr lang="de-DE" sz="800"/>
              <a:t>  “address“: {"zip": 80001 },</a:t>
            </a:r>
          </a:p>
          <a:p>
            <a:r>
              <a:rPr lang="de-DE" sz="800"/>
              <a:t>  “customerNumber“: 6024997 </a:t>
            </a:r>
          </a:p>
          <a:p>
            <a:r>
              <a:rPr lang="de-DE" sz="800"/>
              <a:t>}</a:t>
            </a:r>
            <a:endParaRPr lang="de-DE" sz="800" dirty="0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685A3F9C-2762-91FF-85A9-94DB80BF920F}"/>
              </a:ext>
            </a:extLst>
          </p:cNvPr>
          <p:cNvSpPr/>
          <p:nvPr/>
        </p:nvSpPr>
        <p:spPr>
          <a:xfrm>
            <a:off x="2943827" y="1422315"/>
            <a:ext cx="3195676" cy="467272"/>
          </a:xfrm>
          <a:prstGeom prst="rect">
            <a:avLst/>
          </a:prstGeom>
          <a:solidFill>
            <a:srgbClr val="D8D7D6"/>
          </a:solidFill>
          <a:effectLst/>
          <a:scene3d>
            <a:camera prst="orthographicFront"/>
            <a:lightRig rig="threePt" dir="t">
              <a:rot lat="0" lon="0" rev="1200000"/>
            </a:lightRig>
          </a:scene3d>
          <a:sp3d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sz="800" b="1" dirty="0">
                <a:solidFill>
                  <a:schemeClr val="tx1"/>
                </a:solidFill>
              </a:rPr>
              <a:t>RFC 9530 §2 – BASE64 + SHA-256 – neuer Header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B0877AAA-67FD-18CF-431F-F717F4134EA9}"/>
              </a:ext>
            </a:extLst>
          </p:cNvPr>
          <p:cNvSpPr/>
          <p:nvPr/>
        </p:nvSpPr>
        <p:spPr>
          <a:xfrm>
            <a:off x="3051818" y="1586857"/>
            <a:ext cx="3038905" cy="265750"/>
          </a:xfrm>
          <a:prstGeom prst="rect">
            <a:avLst/>
          </a:prstGeom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de-DE" sz="800" u="sng" dirty="0">
                <a:solidFill>
                  <a:schemeClr val="accent1"/>
                </a:solidFill>
              </a:rPr>
              <a:t>Content-Digest</a:t>
            </a:r>
            <a:r>
              <a:rPr lang="de-DE" sz="800" dirty="0">
                <a:solidFill>
                  <a:schemeClr val="accent1"/>
                </a:solidFill>
              </a:rPr>
              <a:t>: sha-256=:X4vRVA7xH2sP3kLmN8qT1uWzYdFbJcOeGiKpQsSv2nA=:</a:t>
            </a:r>
          </a:p>
        </p:txBody>
      </p:sp>
      <p:cxnSp>
        <p:nvCxnSpPr>
          <p:cNvPr id="40" name="Verbinder: gewinkelt 39">
            <a:extLst>
              <a:ext uri="{FF2B5EF4-FFF2-40B4-BE49-F238E27FC236}">
                <a16:creationId xmlns:a16="http://schemas.microsoft.com/office/drawing/2014/main" id="{C1B359E3-CC8F-957F-9401-69F43CA43F25}"/>
              </a:ext>
            </a:extLst>
          </p:cNvPr>
          <p:cNvCxnSpPr>
            <a:cxnSpLocks/>
            <a:stCxn id="18" idx="3"/>
            <a:endCxn id="7" idx="2"/>
          </p:cNvCxnSpPr>
          <p:nvPr/>
        </p:nvCxnSpPr>
        <p:spPr>
          <a:xfrm flipV="1">
            <a:off x="2275768" y="1097052"/>
            <a:ext cx="464253" cy="1975219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2102F9BA-ED02-2351-B738-B61C10A72138}"/>
              </a:ext>
            </a:extLst>
          </p:cNvPr>
          <p:cNvCxnSpPr>
            <a:cxnSpLocks/>
            <a:stCxn id="6" idx="2"/>
            <a:endCxn id="38" idx="0"/>
          </p:cNvCxnSpPr>
          <p:nvPr/>
        </p:nvCxnSpPr>
        <p:spPr>
          <a:xfrm>
            <a:off x="4541294" y="1305765"/>
            <a:ext cx="371" cy="11655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0432AF23-B5A6-BDD8-143D-C1BCA8EB0DC8}"/>
              </a:ext>
            </a:extLst>
          </p:cNvPr>
          <p:cNvCxnSpPr>
            <a:cxnSpLocks/>
            <a:stCxn id="38" idx="2"/>
            <a:endCxn id="23" idx="0"/>
          </p:cNvCxnSpPr>
          <p:nvPr/>
        </p:nvCxnSpPr>
        <p:spPr>
          <a:xfrm>
            <a:off x="4541665" y="1889587"/>
            <a:ext cx="7929" cy="8584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hteck 42">
            <a:extLst>
              <a:ext uri="{FF2B5EF4-FFF2-40B4-BE49-F238E27FC236}">
                <a16:creationId xmlns:a16="http://schemas.microsoft.com/office/drawing/2014/main" id="{FA6D3934-B7CB-D894-9766-08B64CE293B0}"/>
              </a:ext>
            </a:extLst>
          </p:cNvPr>
          <p:cNvSpPr/>
          <p:nvPr/>
        </p:nvSpPr>
        <p:spPr>
          <a:xfrm>
            <a:off x="2956610" y="2847385"/>
            <a:ext cx="3189027" cy="1268647"/>
          </a:xfrm>
          <a:prstGeom prst="rect">
            <a:avLst/>
          </a:prstGeom>
          <a:solidFill>
            <a:srgbClr val="D8D7D6"/>
          </a:solidFill>
          <a:effectLst/>
          <a:scene3d>
            <a:camera prst="orthographicFront"/>
            <a:lightRig rig="threePt" dir="t">
              <a:rot lat="0" lon="0" rev="1200000"/>
            </a:lightRig>
          </a:scene3d>
          <a:sp3d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sz="800" b="1" dirty="0">
                <a:solidFill>
                  <a:schemeClr val="tx1"/>
                </a:solidFill>
              </a:rPr>
              <a:t>RFC 9421 §2.3 – Signaturstring für die Felder</a:t>
            </a: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3445F021-443B-227F-CBBF-D798309E31C0}"/>
              </a:ext>
            </a:extLst>
          </p:cNvPr>
          <p:cNvSpPr/>
          <p:nvPr/>
        </p:nvSpPr>
        <p:spPr>
          <a:xfrm>
            <a:off x="3035454" y="3060309"/>
            <a:ext cx="3073604" cy="1055723"/>
          </a:xfrm>
          <a:prstGeom prst="rect">
            <a:avLst/>
          </a:prstGeom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de-DE" sz="800" dirty="0">
                <a:solidFill>
                  <a:schemeClr val="accent1"/>
                </a:solidFill>
              </a:rPr>
              <a:t>"@</a:t>
            </a:r>
            <a:r>
              <a:rPr lang="de-DE" sz="800" dirty="0" err="1">
                <a:solidFill>
                  <a:schemeClr val="accent1"/>
                </a:solidFill>
              </a:rPr>
              <a:t>method</a:t>
            </a:r>
            <a:r>
              <a:rPr lang="de-DE" sz="800" dirty="0">
                <a:solidFill>
                  <a:schemeClr val="accent1"/>
                </a:solidFill>
              </a:rPr>
              <a:t>": POST "@</a:t>
            </a:r>
            <a:r>
              <a:rPr lang="de-DE" sz="800" dirty="0" err="1">
                <a:solidFill>
                  <a:schemeClr val="accent1"/>
                </a:solidFill>
              </a:rPr>
              <a:t>path</a:t>
            </a:r>
            <a:r>
              <a:rPr lang="de-DE" sz="800" dirty="0">
                <a:solidFill>
                  <a:schemeClr val="accent1"/>
                </a:solidFill>
              </a:rPr>
              <a:t>"</a:t>
            </a:r>
            <a:r>
              <a:rPr lang="de-DE" sz="800" b="1" dirty="0">
                <a:solidFill>
                  <a:schemeClr val="accent1"/>
                </a:solidFill>
              </a:rPr>
              <a:t>:</a:t>
            </a:r>
            <a:r>
              <a:rPr lang="de-DE" sz="800" dirty="0">
                <a:solidFill>
                  <a:schemeClr val="accent1"/>
                </a:solidFill>
              </a:rPr>
              <a:t> /</a:t>
            </a:r>
            <a:r>
              <a:rPr lang="de-DE" sz="800" dirty="0" err="1">
                <a:solidFill>
                  <a:schemeClr val="accent1"/>
                </a:solidFill>
              </a:rPr>
              <a:t>malo</a:t>
            </a:r>
            <a:r>
              <a:rPr lang="de-DE" sz="800" dirty="0">
                <a:solidFill>
                  <a:schemeClr val="accent1"/>
                </a:solidFill>
              </a:rPr>
              <a:t>/ident "@</a:t>
            </a:r>
            <a:r>
              <a:rPr lang="de-DE" sz="800" dirty="0" err="1">
                <a:solidFill>
                  <a:schemeClr val="accent1"/>
                </a:solidFill>
              </a:rPr>
              <a:t>authority</a:t>
            </a:r>
            <a:r>
              <a:rPr lang="de-DE" sz="800" dirty="0">
                <a:solidFill>
                  <a:schemeClr val="accent1"/>
                </a:solidFill>
              </a:rPr>
              <a:t>"</a:t>
            </a:r>
            <a:r>
              <a:rPr lang="de-DE" sz="800" b="1" dirty="0">
                <a:solidFill>
                  <a:schemeClr val="accent1"/>
                </a:solidFill>
              </a:rPr>
              <a:t>:</a:t>
            </a:r>
            <a:r>
              <a:rPr lang="de-DE" sz="800" dirty="0">
                <a:solidFill>
                  <a:schemeClr val="accent1"/>
                </a:solidFill>
              </a:rPr>
              <a:t> mabishub.com "</a:t>
            </a:r>
            <a:r>
              <a:rPr lang="de-DE" sz="800" dirty="0" err="1">
                <a:solidFill>
                  <a:schemeClr val="accent1"/>
                </a:solidFill>
              </a:rPr>
              <a:t>content</a:t>
            </a:r>
            <a:r>
              <a:rPr lang="de-DE" sz="800" dirty="0">
                <a:solidFill>
                  <a:schemeClr val="accent1"/>
                </a:solidFill>
              </a:rPr>
              <a:t>-type"</a:t>
            </a:r>
            <a:r>
              <a:rPr lang="de-DE" sz="800" b="1" dirty="0">
                <a:solidFill>
                  <a:schemeClr val="accent1"/>
                </a:solidFill>
              </a:rPr>
              <a:t>:</a:t>
            </a:r>
            <a:r>
              <a:rPr lang="de-DE" sz="800" dirty="0">
                <a:solidFill>
                  <a:schemeClr val="accent1"/>
                </a:solidFill>
              </a:rPr>
              <a:t> </a:t>
            </a:r>
            <a:r>
              <a:rPr lang="de-DE" sz="800" dirty="0" err="1">
                <a:solidFill>
                  <a:schemeClr val="accent1"/>
                </a:solidFill>
              </a:rPr>
              <a:t>application</a:t>
            </a:r>
            <a:r>
              <a:rPr lang="de-DE" sz="800" dirty="0">
                <a:solidFill>
                  <a:schemeClr val="accent1"/>
                </a:solidFill>
              </a:rPr>
              <a:t>/</a:t>
            </a:r>
            <a:r>
              <a:rPr lang="de-DE" sz="800" dirty="0" err="1">
                <a:solidFill>
                  <a:schemeClr val="accent1"/>
                </a:solidFill>
              </a:rPr>
              <a:t>json</a:t>
            </a:r>
            <a:r>
              <a:rPr lang="de-DE" sz="800" dirty="0">
                <a:solidFill>
                  <a:schemeClr val="accent1"/>
                </a:solidFill>
              </a:rPr>
              <a:t> "</a:t>
            </a:r>
            <a:r>
              <a:rPr lang="de-DE" sz="800" dirty="0" err="1">
                <a:solidFill>
                  <a:schemeClr val="accent1"/>
                </a:solidFill>
              </a:rPr>
              <a:t>content</a:t>
            </a:r>
            <a:r>
              <a:rPr lang="de-DE" sz="800" dirty="0">
                <a:solidFill>
                  <a:schemeClr val="accent1"/>
                </a:solidFill>
              </a:rPr>
              <a:t>-digest"</a:t>
            </a:r>
            <a:r>
              <a:rPr lang="de-DE" sz="800" b="1" dirty="0">
                <a:solidFill>
                  <a:schemeClr val="accent1"/>
                </a:solidFill>
              </a:rPr>
              <a:t>: </a:t>
            </a:r>
            <a:r>
              <a:rPr lang="de-DE" sz="800" dirty="0">
                <a:solidFill>
                  <a:schemeClr val="accent1"/>
                </a:solidFill>
              </a:rPr>
              <a:t>sha-256=:X4vRVA7xH2sP3kLmN8qT1uWzYdFbJcOeGiKpQsSv2nA=: "date"</a:t>
            </a:r>
            <a:r>
              <a:rPr lang="de-DE" sz="800" b="1" dirty="0">
                <a:solidFill>
                  <a:schemeClr val="accent1"/>
                </a:solidFill>
              </a:rPr>
              <a:t>:</a:t>
            </a:r>
            <a:r>
              <a:rPr lang="de-DE" sz="800" dirty="0">
                <a:solidFill>
                  <a:schemeClr val="accent1"/>
                </a:solidFill>
              </a:rPr>
              <a:t> Sun, 01 Feb 2026 10:15:30 GMT "x-</a:t>
            </a:r>
            <a:r>
              <a:rPr lang="de-DE" sz="800" dirty="0" err="1">
                <a:solidFill>
                  <a:schemeClr val="accent1"/>
                </a:solidFill>
              </a:rPr>
              <a:t>request</a:t>
            </a:r>
            <a:r>
              <a:rPr lang="de-DE" sz="800" dirty="0">
                <a:solidFill>
                  <a:schemeClr val="accent1"/>
                </a:solidFill>
              </a:rPr>
              <a:t>-</a:t>
            </a:r>
            <a:r>
              <a:rPr lang="de-DE" sz="800" dirty="0" err="1">
                <a:solidFill>
                  <a:schemeClr val="accent1"/>
                </a:solidFill>
              </a:rPr>
              <a:t>id</a:t>
            </a:r>
            <a:r>
              <a:rPr lang="de-DE" sz="800" dirty="0">
                <a:solidFill>
                  <a:schemeClr val="accent1"/>
                </a:solidFill>
              </a:rPr>
              <a:t>": 7b5d3e2a-4c1a-4c0b-xd99 "@</a:t>
            </a:r>
            <a:r>
              <a:rPr lang="de-DE" sz="800" dirty="0" err="1">
                <a:solidFill>
                  <a:schemeClr val="accent1"/>
                </a:solidFill>
              </a:rPr>
              <a:t>signature-params</a:t>
            </a:r>
            <a:r>
              <a:rPr lang="de-DE" sz="800" dirty="0">
                <a:solidFill>
                  <a:schemeClr val="accent1"/>
                </a:solidFill>
              </a:rPr>
              <a:t>": ("@</a:t>
            </a:r>
            <a:r>
              <a:rPr lang="de-DE" sz="800" dirty="0" err="1">
                <a:solidFill>
                  <a:schemeClr val="accent1"/>
                </a:solidFill>
              </a:rPr>
              <a:t>method</a:t>
            </a:r>
            <a:r>
              <a:rPr lang="de-DE" sz="800" dirty="0">
                <a:solidFill>
                  <a:schemeClr val="accent1"/>
                </a:solidFill>
              </a:rPr>
              <a:t>" "@</a:t>
            </a:r>
            <a:r>
              <a:rPr lang="de-DE" sz="800" dirty="0" err="1">
                <a:solidFill>
                  <a:schemeClr val="accent1"/>
                </a:solidFill>
              </a:rPr>
              <a:t>path</a:t>
            </a:r>
            <a:r>
              <a:rPr lang="de-DE" sz="800" dirty="0">
                <a:solidFill>
                  <a:schemeClr val="accent1"/>
                </a:solidFill>
              </a:rPr>
              <a:t>" "@</a:t>
            </a:r>
            <a:r>
              <a:rPr lang="de-DE" sz="800" dirty="0" err="1">
                <a:solidFill>
                  <a:schemeClr val="accent1"/>
                </a:solidFill>
              </a:rPr>
              <a:t>authority</a:t>
            </a:r>
            <a:r>
              <a:rPr lang="de-DE" sz="800" dirty="0">
                <a:solidFill>
                  <a:schemeClr val="accent1"/>
                </a:solidFill>
              </a:rPr>
              <a:t>" "</a:t>
            </a:r>
            <a:r>
              <a:rPr lang="de-DE" sz="800" dirty="0" err="1">
                <a:solidFill>
                  <a:schemeClr val="accent1"/>
                </a:solidFill>
              </a:rPr>
              <a:t>content</a:t>
            </a:r>
            <a:r>
              <a:rPr lang="de-DE" sz="800" dirty="0">
                <a:solidFill>
                  <a:schemeClr val="accent1"/>
                </a:solidFill>
              </a:rPr>
              <a:t>-type" "</a:t>
            </a:r>
            <a:r>
              <a:rPr lang="de-DE" sz="800" dirty="0" err="1">
                <a:solidFill>
                  <a:schemeClr val="accent1"/>
                </a:solidFill>
              </a:rPr>
              <a:t>content</a:t>
            </a:r>
            <a:r>
              <a:rPr lang="de-DE" sz="800" dirty="0">
                <a:solidFill>
                  <a:schemeClr val="accent1"/>
                </a:solidFill>
              </a:rPr>
              <a:t>-digest" "date" "x-</a:t>
            </a:r>
            <a:r>
              <a:rPr lang="de-DE" sz="800" dirty="0" err="1">
                <a:solidFill>
                  <a:schemeClr val="accent1"/>
                </a:solidFill>
              </a:rPr>
              <a:t>request</a:t>
            </a:r>
            <a:r>
              <a:rPr lang="de-DE" sz="800" dirty="0">
                <a:solidFill>
                  <a:schemeClr val="accent1"/>
                </a:solidFill>
              </a:rPr>
              <a:t>-</a:t>
            </a:r>
            <a:r>
              <a:rPr lang="de-DE" sz="800" dirty="0" err="1">
                <a:solidFill>
                  <a:schemeClr val="accent1"/>
                </a:solidFill>
              </a:rPr>
              <a:t>id</a:t>
            </a:r>
            <a:r>
              <a:rPr lang="de-DE" sz="800" dirty="0">
                <a:solidFill>
                  <a:schemeClr val="accent1"/>
                </a:solidFill>
              </a:rPr>
              <a:t>"); </a:t>
            </a:r>
            <a:r>
              <a:rPr lang="de-DE" sz="800" dirty="0" err="1">
                <a:solidFill>
                  <a:schemeClr val="accent1"/>
                </a:solidFill>
              </a:rPr>
              <a:t>created</a:t>
            </a:r>
            <a:r>
              <a:rPr lang="de-DE" sz="800" dirty="0">
                <a:solidFill>
                  <a:schemeClr val="accent1"/>
                </a:solidFill>
              </a:rPr>
              <a:t>=1738404930;keyid="EMT.API.NB-12345";alg="ecdsa-p256-sha256</a:t>
            </a:r>
          </a:p>
        </p:txBody>
      </p: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2E7B1634-E0A1-ECCA-B343-A4755CEF92F7}"/>
              </a:ext>
            </a:extLst>
          </p:cNvPr>
          <p:cNvCxnSpPr>
            <a:cxnSpLocks/>
            <a:stCxn id="23" idx="2"/>
            <a:endCxn id="43" idx="0"/>
          </p:cNvCxnSpPr>
          <p:nvPr/>
        </p:nvCxnSpPr>
        <p:spPr>
          <a:xfrm>
            <a:off x="4549594" y="2715637"/>
            <a:ext cx="1530" cy="13174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hteck 45">
            <a:extLst>
              <a:ext uri="{FF2B5EF4-FFF2-40B4-BE49-F238E27FC236}">
                <a16:creationId xmlns:a16="http://schemas.microsoft.com/office/drawing/2014/main" id="{B08CCED2-B0F8-51B1-7287-1E090FD92983}"/>
              </a:ext>
            </a:extLst>
          </p:cNvPr>
          <p:cNvSpPr/>
          <p:nvPr/>
        </p:nvSpPr>
        <p:spPr>
          <a:xfrm>
            <a:off x="2950583" y="4210206"/>
            <a:ext cx="3196433" cy="854066"/>
          </a:xfrm>
          <a:prstGeom prst="rect">
            <a:avLst/>
          </a:prstGeom>
          <a:solidFill>
            <a:srgbClr val="D8D7D6"/>
          </a:solidFill>
          <a:effectLst/>
          <a:scene3d>
            <a:camera prst="orthographicFront"/>
            <a:lightRig rig="threePt" dir="t">
              <a:rot lat="0" lon="0" rev="1200000"/>
            </a:lightRig>
          </a:scene3d>
          <a:sp3d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sz="800" b="1" dirty="0">
                <a:solidFill>
                  <a:schemeClr val="tx1"/>
                </a:solidFill>
              </a:rPr>
              <a:t>RFC 9421 §3.3 – Signatur berechnen</a:t>
            </a: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45826E8F-F689-FC60-4E9C-7BD0C26D4382}"/>
              </a:ext>
            </a:extLst>
          </p:cNvPr>
          <p:cNvSpPr/>
          <p:nvPr/>
        </p:nvSpPr>
        <p:spPr>
          <a:xfrm>
            <a:off x="2978939" y="4414571"/>
            <a:ext cx="3154173" cy="621902"/>
          </a:xfrm>
          <a:prstGeom prst="rect">
            <a:avLst/>
          </a:prstGeom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de-DE" sz="800" dirty="0"/>
              <a:t>ECDSA: P-256 + SHA-256 + privater SM-PKI Schlüssel</a:t>
            </a:r>
          </a:p>
          <a:p>
            <a:r>
              <a:rPr lang="de-DE" sz="800" dirty="0"/>
              <a:t>BASE64:</a:t>
            </a:r>
          </a:p>
          <a:p>
            <a:r>
              <a:rPr lang="de-DE" sz="800" b="1" dirty="0" err="1">
                <a:solidFill>
                  <a:schemeClr val="accent1"/>
                </a:solidFill>
              </a:rPr>
              <a:t>Signature</a:t>
            </a:r>
            <a:r>
              <a:rPr lang="de-DE" sz="800" b="1" dirty="0">
                <a:solidFill>
                  <a:schemeClr val="accent1"/>
                </a:solidFill>
              </a:rPr>
              <a:t>: </a:t>
            </a:r>
            <a:r>
              <a:rPr lang="de-DE" sz="800" dirty="0">
                <a:solidFill>
                  <a:schemeClr val="accent1"/>
                </a:solidFill>
              </a:rPr>
              <a:t>sig1=:MEUCIQCx9vK2pX8mRtLsNwQzYcFbJdOeGiKpAsSv3nB1 uWzYdAIgAP4vRVA7xH2sP3kLmN8qT1uWzYdFbJcOeGiKpQsSv2nABC:</a:t>
            </a:r>
          </a:p>
        </p:txBody>
      </p: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D4796FD9-48DD-06ED-1A49-2FF0AB4CCDE0}"/>
              </a:ext>
            </a:extLst>
          </p:cNvPr>
          <p:cNvCxnSpPr>
            <a:cxnSpLocks/>
            <a:stCxn id="43" idx="2"/>
            <a:endCxn id="46" idx="0"/>
          </p:cNvCxnSpPr>
          <p:nvPr/>
        </p:nvCxnSpPr>
        <p:spPr>
          <a:xfrm flipH="1">
            <a:off x="4548800" y="4116032"/>
            <a:ext cx="2324" cy="9417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feld 49">
            <a:extLst>
              <a:ext uri="{FF2B5EF4-FFF2-40B4-BE49-F238E27FC236}">
                <a16:creationId xmlns:a16="http://schemas.microsoft.com/office/drawing/2014/main" id="{01201842-F742-196B-5E99-A158C66E9EFA}"/>
              </a:ext>
            </a:extLst>
          </p:cNvPr>
          <p:cNvSpPr txBox="1"/>
          <p:nvPr/>
        </p:nvSpPr>
        <p:spPr>
          <a:xfrm>
            <a:off x="6845714" y="2543322"/>
            <a:ext cx="2066055" cy="169277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DE" sz="800" b="1" dirty="0">
                <a:solidFill>
                  <a:srgbClr val="FF0000"/>
                </a:solidFill>
              </a:rPr>
              <a:t>Content-Digest: </a:t>
            </a:r>
            <a:r>
              <a:rPr lang="de-DE" sz="800" dirty="0">
                <a:solidFill>
                  <a:srgbClr val="FF0000"/>
                </a:solidFill>
              </a:rPr>
              <a:t>sha-256=:X4vRVA7xH2sP3kLmN8qT1uWzYdFbJcOeGiKpQsSv2nA=: </a:t>
            </a:r>
          </a:p>
          <a:p>
            <a:r>
              <a:rPr lang="de-DE" sz="800" b="1" dirty="0" err="1">
                <a:solidFill>
                  <a:srgbClr val="FF0000"/>
                </a:solidFill>
              </a:rPr>
              <a:t>Signature</a:t>
            </a:r>
            <a:r>
              <a:rPr lang="de-DE" sz="800" b="1" dirty="0">
                <a:solidFill>
                  <a:srgbClr val="FF0000"/>
                </a:solidFill>
              </a:rPr>
              <a:t>-Input: </a:t>
            </a:r>
            <a:r>
              <a:rPr lang="de-DE" sz="800" dirty="0">
                <a:solidFill>
                  <a:srgbClr val="FF0000"/>
                </a:solidFill>
              </a:rPr>
              <a:t>sig1=("@</a:t>
            </a:r>
            <a:r>
              <a:rPr lang="de-DE" sz="800" dirty="0" err="1">
                <a:solidFill>
                  <a:srgbClr val="FF0000"/>
                </a:solidFill>
              </a:rPr>
              <a:t>method</a:t>
            </a:r>
            <a:r>
              <a:rPr lang="de-DE" sz="800" dirty="0">
                <a:solidFill>
                  <a:srgbClr val="FF0000"/>
                </a:solidFill>
              </a:rPr>
              <a:t>“: POST "@</a:t>
            </a:r>
            <a:r>
              <a:rPr lang="de-DE" sz="800" dirty="0" err="1">
                <a:solidFill>
                  <a:srgbClr val="FF0000"/>
                </a:solidFill>
              </a:rPr>
              <a:t>path</a:t>
            </a:r>
            <a:r>
              <a:rPr lang="de-DE" sz="800" dirty="0">
                <a:solidFill>
                  <a:srgbClr val="FF0000"/>
                </a:solidFill>
              </a:rPr>
              <a:t>“:  /</a:t>
            </a:r>
            <a:r>
              <a:rPr lang="de-DE" sz="800" dirty="0" err="1">
                <a:solidFill>
                  <a:srgbClr val="FF0000"/>
                </a:solidFill>
              </a:rPr>
              <a:t>malo</a:t>
            </a:r>
            <a:r>
              <a:rPr lang="de-DE" sz="800" dirty="0">
                <a:solidFill>
                  <a:srgbClr val="FF0000"/>
                </a:solidFill>
              </a:rPr>
              <a:t>/ident "@</a:t>
            </a:r>
            <a:r>
              <a:rPr lang="de-DE" sz="800" dirty="0" err="1">
                <a:solidFill>
                  <a:srgbClr val="FF0000"/>
                </a:solidFill>
              </a:rPr>
              <a:t>authority</a:t>
            </a:r>
            <a:r>
              <a:rPr lang="de-DE" sz="800" dirty="0">
                <a:solidFill>
                  <a:srgbClr val="FF0000"/>
                </a:solidFill>
              </a:rPr>
              <a:t>“: mabishub.com "</a:t>
            </a:r>
            <a:r>
              <a:rPr lang="de-DE" sz="800" dirty="0" err="1">
                <a:solidFill>
                  <a:srgbClr val="FF0000"/>
                </a:solidFill>
              </a:rPr>
              <a:t>content</a:t>
            </a:r>
            <a:r>
              <a:rPr lang="de-DE" sz="800" dirty="0">
                <a:solidFill>
                  <a:srgbClr val="FF0000"/>
                </a:solidFill>
              </a:rPr>
              <a:t>-type“: </a:t>
            </a:r>
            <a:r>
              <a:rPr lang="de-DE" sz="800" dirty="0" err="1">
                <a:solidFill>
                  <a:srgbClr val="FF0000"/>
                </a:solidFill>
              </a:rPr>
              <a:t>application</a:t>
            </a:r>
            <a:r>
              <a:rPr lang="de-DE" sz="800" dirty="0">
                <a:solidFill>
                  <a:srgbClr val="FF0000"/>
                </a:solidFill>
              </a:rPr>
              <a:t>/</a:t>
            </a:r>
            <a:r>
              <a:rPr lang="de-DE" sz="800" dirty="0" err="1">
                <a:solidFill>
                  <a:srgbClr val="FF0000"/>
                </a:solidFill>
              </a:rPr>
              <a:t>json</a:t>
            </a:r>
            <a:r>
              <a:rPr lang="de-DE" sz="800" dirty="0">
                <a:solidFill>
                  <a:srgbClr val="FF0000"/>
                </a:solidFill>
              </a:rPr>
              <a:t> ……......…); </a:t>
            </a:r>
            <a:r>
              <a:rPr lang="de-DE" sz="800" dirty="0" err="1">
                <a:solidFill>
                  <a:srgbClr val="FF0000"/>
                </a:solidFill>
              </a:rPr>
              <a:t>created</a:t>
            </a:r>
            <a:r>
              <a:rPr lang="de-DE" sz="800" dirty="0">
                <a:solidFill>
                  <a:srgbClr val="FF0000"/>
                </a:solidFill>
              </a:rPr>
              <a:t>=………..</a:t>
            </a:r>
            <a:br>
              <a:rPr lang="de-DE" sz="800" dirty="0">
                <a:solidFill>
                  <a:srgbClr val="FF0000"/>
                </a:solidFill>
              </a:rPr>
            </a:br>
            <a:r>
              <a:rPr lang="de-DE" sz="800" dirty="0">
                <a:solidFill>
                  <a:srgbClr val="FF0000"/>
                </a:solidFill>
              </a:rPr>
              <a:t>; </a:t>
            </a:r>
            <a:r>
              <a:rPr lang="de-DE" sz="800" dirty="0" err="1">
                <a:solidFill>
                  <a:srgbClr val="FF0000"/>
                </a:solidFill>
              </a:rPr>
              <a:t>alg</a:t>
            </a:r>
            <a:r>
              <a:rPr lang="de-DE" sz="800" dirty="0">
                <a:solidFill>
                  <a:srgbClr val="FF0000"/>
                </a:solidFill>
              </a:rPr>
              <a:t>="ecdsa-p256-sha256"</a:t>
            </a:r>
          </a:p>
          <a:p>
            <a:r>
              <a:rPr lang="de-DE" sz="800" b="1" dirty="0" err="1">
                <a:solidFill>
                  <a:srgbClr val="FF0000"/>
                </a:solidFill>
              </a:rPr>
              <a:t>Signature</a:t>
            </a:r>
            <a:r>
              <a:rPr lang="de-DE" sz="800" b="1" dirty="0">
                <a:solidFill>
                  <a:srgbClr val="FF0000"/>
                </a:solidFill>
              </a:rPr>
              <a:t>: </a:t>
            </a:r>
            <a:r>
              <a:rPr lang="de-DE" sz="800" dirty="0">
                <a:solidFill>
                  <a:srgbClr val="FF0000"/>
                </a:solidFill>
              </a:rPr>
              <a:t>sig1=:MEUCIQCx9vK2pX8mRtLsNwQzYcFbJdOeGiKpAsSv3nB1uWzYdA IgAP4vRVA7xH2sP3kLmN8qT1uWzYdFbJcOeGiKpQsSv2nABC:</a:t>
            </a:r>
          </a:p>
        </p:txBody>
      </p:sp>
      <p:cxnSp>
        <p:nvCxnSpPr>
          <p:cNvPr id="52" name="Verbinder: gewinkelt 51">
            <a:extLst>
              <a:ext uri="{FF2B5EF4-FFF2-40B4-BE49-F238E27FC236}">
                <a16:creationId xmlns:a16="http://schemas.microsoft.com/office/drawing/2014/main" id="{47AD6C2F-B651-A6AF-6E11-76820DCB9B58}"/>
              </a:ext>
            </a:extLst>
          </p:cNvPr>
          <p:cNvCxnSpPr>
            <a:cxnSpLocks/>
            <a:stCxn id="38" idx="3"/>
          </p:cNvCxnSpPr>
          <p:nvPr/>
        </p:nvCxnSpPr>
        <p:spPr>
          <a:xfrm>
            <a:off x="6139503" y="1655951"/>
            <a:ext cx="724556" cy="101554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Verbinder: gewinkelt 54">
            <a:extLst>
              <a:ext uri="{FF2B5EF4-FFF2-40B4-BE49-F238E27FC236}">
                <a16:creationId xmlns:a16="http://schemas.microsoft.com/office/drawing/2014/main" id="{A1E4D4A5-1EE5-5D63-7EBB-2AA5333B3194}"/>
              </a:ext>
            </a:extLst>
          </p:cNvPr>
          <p:cNvCxnSpPr>
            <a:cxnSpLocks/>
          </p:cNvCxnSpPr>
          <p:nvPr/>
        </p:nvCxnSpPr>
        <p:spPr>
          <a:xfrm flipV="1">
            <a:off x="6127682" y="3060309"/>
            <a:ext cx="736563" cy="3701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Verbinder: gewinkelt 55">
            <a:extLst>
              <a:ext uri="{FF2B5EF4-FFF2-40B4-BE49-F238E27FC236}">
                <a16:creationId xmlns:a16="http://schemas.microsoft.com/office/drawing/2014/main" id="{E5292EB3-41EF-0D4D-DFB4-CB8688704960}"/>
              </a:ext>
            </a:extLst>
          </p:cNvPr>
          <p:cNvCxnSpPr>
            <a:cxnSpLocks/>
            <a:stCxn id="47" idx="3"/>
          </p:cNvCxnSpPr>
          <p:nvPr/>
        </p:nvCxnSpPr>
        <p:spPr>
          <a:xfrm flipV="1">
            <a:off x="6133112" y="3795625"/>
            <a:ext cx="814876" cy="9298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llipse 6">
            <a:extLst>
              <a:ext uri="{FF2B5EF4-FFF2-40B4-BE49-F238E27FC236}">
                <a16:creationId xmlns:a16="http://schemas.microsoft.com/office/drawing/2014/main" id="{2F3E3C20-C70A-9C5C-B4FA-6A31C28CA563}"/>
              </a:ext>
            </a:extLst>
          </p:cNvPr>
          <p:cNvSpPr/>
          <p:nvPr/>
        </p:nvSpPr>
        <p:spPr>
          <a:xfrm>
            <a:off x="2740021" y="949980"/>
            <a:ext cx="281354" cy="294143"/>
          </a:xfrm>
          <a:prstGeom prst="ellipse">
            <a:avLst/>
          </a:prstGeom>
          <a:solidFill>
            <a:srgbClr val="D27300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8A7F6E3C-0D74-F3A9-DF2F-AD9DF55DD403}"/>
              </a:ext>
            </a:extLst>
          </p:cNvPr>
          <p:cNvSpPr/>
          <p:nvPr/>
        </p:nvSpPr>
        <p:spPr>
          <a:xfrm>
            <a:off x="2716469" y="1429382"/>
            <a:ext cx="281354" cy="294143"/>
          </a:xfrm>
          <a:prstGeom prst="ellipse">
            <a:avLst/>
          </a:prstGeom>
          <a:solidFill>
            <a:srgbClr val="D27300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661CDED6-F99A-190C-0920-CFE5E46AD110}"/>
              </a:ext>
            </a:extLst>
          </p:cNvPr>
          <p:cNvSpPr/>
          <p:nvPr/>
        </p:nvSpPr>
        <p:spPr>
          <a:xfrm>
            <a:off x="2716469" y="2123454"/>
            <a:ext cx="281354" cy="294143"/>
          </a:xfrm>
          <a:prstGeom prst="ellipse">
            <a:avLst/>
          </a:prstGeom>
          <a:solidFill>
            <a:srgbClr val="D27300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36065BAC-3BB5-49CF-7528-3F0682CBB550}"/>
              </a:ext>
            </a:extLst>
          </p:cNvPr>
          <p:cNvSpPr/>
          <p:nvPr/>
        </p:nvSpPr>
        <p:spPr>
          <a:xfrm>
            <a:off x="2723639" y="2859779"/>
            <a:ext cx="281354" cy="294143"/>
          </a:xfrm>
          <a:prstGeom prst="ellipse">
            <a:avLst/>
          </a:prstGeom>
          <a:solidFill>
            <a:srgbClr val="D27300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991D316B-36FD-6B2D-DD14-5FC94A0E8D99}"/>
              </a:ext>
            </a:extLst>
          </p:cNvPr>
          <p:cNvSpPr/>
          <p:nvPr/>
        </p:nvSpPr>
        <p:spPr>
          <a:xfrm>
            <a:off x="2740021" y="4210206"/>
            <a:ext cx="281354" cy="294143"/>
          </a:xfrm>
          <a:prstGeom prst="ellipse">
            <a:avLst/>
          </a:prstGeom>
          <a:solidFill>
            <a:srgbClr val="D27300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54" name="Ellipse 153">
            <a:extLst>
              <a:ext uri="{FF2B5EF4-FFF2-40B4-BE49-F238E27FC236}">
                <a16:creationId xmlns:a16="http://schemas.microsoft.com/office/drawing/2014/main" id="{6C400705-C6BD-BE6E-6462-C77A097609A5}"/>
              </a:ext>
            </a:extLst>
          </p:cNvPr>
          <p:cNvSpPr/>
          <p:nvPr/>
        </p:nvSpPr>
        <p:spPr>
          <a:xfrm>
            <a:off x="6381486" y="2766166"/>
            <a:ext cx="281354" cy="294143"/>
          </a:xfrm>
          <a:prstGeom prst="ellipse">
            <a:avLst/>
          </a:prstGeom>
          <a:solidFill>
            <a:srgbClr val="D27300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887A6F01-2F9A-57FE-D835-EB6CEC3A4125}"/>
              </a:ext>
            </a:extLst>
          </p:cNvPr>
          <p:cNvSpPr txBox="1"/>
          <p:nvPr/>
        </p:nvSpPr>
        <p:spPr>
          <a:xfrm>
            <a:off x="7047968" y="47041"/>
            <a:ext cx="2039558" cy="73866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de-DE" sz="1050" dirty="0"/>
              <a:t>Mit RFC 9530 wird der heutige </a:t>
            </a:r>
            <a:br>
              <a:rPr lang="de-DE" sz="1050" dirty="0"/>
            </a:br>
            <a:r>
              <a:rPr lang="de-DE" sz="1050" dirty="0"/>
              <a:t>„</a:t>
            </a:r>
            <a:r>
              <a:rPr lang="de-DE" sz="1050" b="1" dirty="0"/>
              <a:t>X-BDEW-DIGEST</a:t>
            </a:r>
            <a:r>
              <a:rPr lang="de-DE" sz="1050" dirty="0"/>
              <a:t>“ (im Header) durch den standardisierten „Content-Digest“ ersetzt (Folie 7).</a:t>
            </a:r>
          </a:p>
        </p:txBody>
      </p:sp>
      <p:sp>
        <p:nvSpPr>
          <p:cNvPr id="8" name="Foliennummernplatzhalter 3">
            <a:extLst>
              <a:ext uri="{FF2B5EF4-FFF2-40B4-BE49-F238E27FC236}">
                <a16:creationId xmlns:a16="http://schemas.microsoft.com/office/drawing/2014/main" id="{755E186F-6D9F-6DB6-F333-031E9C35FE80}"/>
              </a:ext>
            </a:extLst>
          </p:cNvPr>
          <p:cNvSpPr txBox="1">
            <a:spLocks/>
          </p:cNvSpPr>
          <p:nvPr/>
        </p:nvSpPr>
        <p:spPr bwMode="gray">
          <a:xfrm>
            <a:off x="6048213" y="4849907"/>
            <a:ext cx="588785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F05F51B1-EF07-4A0A-8ED6-43388CBBB34F}" type="slidenum">
              <a:rPr lang="de-DE" smtClean="0"/>
              <a:pPr algn="ctr"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89387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hteck 39">
            <a:extLst>
              <a:ext uri="{FF2B5EF4-FFF2-40B4-BE49-F238E27FC236}">
                <a16:creationId xmlns:a16="http://schemas.microsoft.com/office/drawing/2014/main" id="{DE6395A0-230C-A602-B840-B5BFB43AE52F}"/>
              </a:ext>
            </a:extLst>
          </p:cNvPr>
          <p:cNvSpPr/>
          <p:nvPr/>
        </p:nvSpPr>
        <p:spPr>
          <a:xfrm>
            <a:off x="6774201" y="3124701"/>
            <a:ext cx="2048980" cy="188287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de-DE">
              <a:ln>
                <a:solidFill>
                  <a:schemeClr val="bg1">
                    <a:lumMod val="65000"/>
                  </a:schemeClr>
                </a:solidFill>
              </a:ln>
            </a:endParaRPr>
          </a:p>
        </p:txBody>
      </p:sp>
      <p:sp>
        <p:nvSpPr>
          <p:cNvPr id="60" name="Rechteck: abgerundete Ecken 59">
            <a:extLst>
              <a:ext uri="{FF2B5EF4-FFF2-40B4-BE49-F238E27FC236}">
                <a16:creationId xmlns:a16="http://schemas.microsoft.com/office/drawing/2014/main" id="{8279A2B7-0065-EAE8-15C0-166B2F10DA67}"/>
              </a:ext>
            </a:extLst>
          </p:cNvPr>
          <p:cNvSpPr/>
          <p:nvPr/>
        </p:nvSpPr>
        <p:spPr bwMode="gray">
          <a:xfrm>
            <a:off x="6429472" y="863878"/>
            <a:ext cx="2516612" cy="4211820"/>
          </a:xfrm>
          <a:prstGeom prst="roundRect">
            <a:avLst>
              <a:gd name="adj" fmla="val 6875"/>
            </a:avLst>
          </a:prstGeom>
          <a:solidFill>
            <a:srgbClr val="64B42D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16000" tIns="0" rIns="180000" bIns="2304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de-DE" sz="1100" b="1" dirty="0">
                <a:solidFill>
                  <a:schemeClr val="tx1"/>
                </a:solidFill>
              </a:rPr>
              <a:t>HTTP Header Signatur (Phase 2)</a:t>
            </a:r>
            <a:endParaRPr lang="de-DE" sz="1100" dirty="0">
              <a:solidFill>
                <a:schemeClr val="tx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9A07E98-F132-7AFC-6F72-4F878857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555" y="531479"/>
            <a:ext cx="7243339" cy="332399"/>
          </a:xfrm>
        </p:spPr>
        <p:txBody>
          <a:bodyPr/>
          <a:lstStyle/>
          <a:p>
            <a:r>
              <a:rPr lang="de-DE" sz="2400" b="1" dirty="0"/>
              <a:t>Payload-Signatur (RFC 7518, 8785, 7515) 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6BB3663-C07D-EDB4-420C-3F388490E2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b="1" dirty="0">
                <a:solidFill>
                  <a:srgbClr val="C81E82"/>
                </a:solidFill>
              </a:rPr>
              <a:t>Kochrezept „Phase II“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87D4D059-F446-85FD-9106-04E73258BA92}"/>
              </a:ext>
            </a:extLst>
          </p:cNvPr>
          <p:cNvSpPr txBox="1">
            <a:spLocks/>
          </p:cNvSpPr>
          <p:nvPr/>
        </p:nvSpPr>
        <p:spPr>
          <a:xfrm>
            <a:off x="499759" y="962262"/>
            <a:ext cx="8148295" cy="485321"/>
          </a:xfrm>
          <a:prstGeom prst="rect">
            <a:avLst/>
          </a:prstGeom>
        </p:spPr>
        <p:txBody>
          <a:bodyPr/>
          <a:lstStyle>
            <a:lvl1pPr marL="179388" indent="-179388" algn="l" defTabSz="914400" rtl="0" eaLnBrk="1" latinLnBrk="0" hangingPunct="1">
              <a:spcBef>
                <a:spcPts val="300"/>
              </a:spcBef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363" indent="-180975" algn="l" defTabSz="914400" rtl="0" eaLnBrk="1" latinLnBrk="0" hangingPunct="1">
              <a:spcBef>
                <a:spcPts val="200"/>
              </a:spcBef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8163" indent="-180000" algn="l" defTabSz="914400" rtl="0" eaLnBrk="1" latinLnBrk="0" hangingPunct="1">
              <a:spcBef>
                <a:spcPts val="2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spcBef>
                <a:spcPts val="1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None/>
            </a:pPr>
            <a:r>
              <a:rPr lang="de-DE" sz="1400" b="1" i="1" dirty="0"/>
              <a:t>Für die Phase II </a:t>
            </a:r>
            <a:r>
              <a:rPr lang="de-DE" sz="1400" i="1" dirty="0"/>
              <a:t>(Inhaltsdatensicherung nach BSI, also eine </a:t>
            </a:r>
            <a:br>
              <a:rPr lang="de-DE" sz="1400" i="1" dirty="0"/>
            </a:br>
            <a:r>
              <a:rPr lang="de-DE" sz="1400" i="1" dirty="0"/>
              <a:t>Kombination Payload-Signatur + Payload-Verschlüsselung)</a:t>
            </a:r>
            <a:br>
              <a:rPr lang="de-DE" sz="1400" i="1" dirty="0"/>
            </a:br>
            <a:r>
              <a:rPr lang="de-DE" sz="1400" b="1" i="1" dirty="0"/>
              <a:t>sollte die Inhaltsdatensicherung nach RFC erfolgen:</a:t>
            </a:r>
            <a:endParaRPr lang="de-DE" sz="900" b="1" i="1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63E0241C-1125-7204-9443-1E647681617E}"/>
              </a:ext>
            </a:extLst>
          </p:cNvPr>
          <p:cNvCxnSpPr>
            <a:cxnSpLocks/>
          </p:cNvCxnSpPr>
          <p:nvPr/>
        </p:nvCxnSpPr>
        <p:spPr>
          <a:xfrm>
            <a:off x="3722976" y="2723686"/>
            <a:ext cx="0" cy="110217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hteck 7">
            <a:extLst>
              <a:ext uri="{FF2B5EF4-FFF2-40B4-BE49-F238E27FC236}">
                <a16:creationId xmlns:a16="http://schemas.microsoft.com/office/drawing/2014/main" id="{5D37694A-E374-1676-E17E-C8FEF585F134}"/>
              </a:ext>
            </a:extLst>
          </p:cNvPr>
          <p:cNvSpPr/>
          <p:nvPr/>
        </p:nvSpPr>
        <p:spPr>
          <a:xfrm>
            <a:off x="3252234" y="3118413"/>
            <a:ext cx="2639555" cy="553355"/>
          </a:xfrm>
          <a:prstGeom prst="rect">
            <a:avLst/>
          </a:prstGeom>
          <a:solidFill>
            <a:srgbClr val="D8D7D6"/>
          </a:solidFill>
          <a:effectLst/>
          <a:scene3d>
            <a:camera prst="orthographicFront"/>
            <a:lightRig rig="threePt" dir="t">
              <a:rot lat="0" lon="0" rev="1200000"/>
            </a:lightRig>
          </a:scene3d>
          <a:sp3d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sz="800" b="1" dirty="0">
                <a:solidFill>
                  <a:schemeClr val="tx1"/>
                </a:solidFill>
                <a:effectLst/>
              </a:rPr>
              <a:t>RFC 8785 – </a:t>
            </a:r>
            <a:r>
              <a:rPr lang="de-DE" sz="800" b="1" u="sng" dirty="0">
                <a:solidFill>
                  <a:schemeClr val="tx1"/>
                </a:solidFill>
                <a:effectLst/>
              </a:rPr>
              <a:t>Kanonisiere</a:t>
            </a:r>
            <a:r>
              <a:rPr lang="de-DE" sz="800" b="1" dirty="0">
                <a:solidFill>
                  <a:schemeClr val="tx1"/>
                </a:solidFill>
                <a:effectLst/>
              </a:rPr>
              <a:t> den JWS </a:t>
            </a:r>
            <a:r>
              <a:rPr lang="de-DE" sz="800" b="1" dirty="0" err="1">
                <a:solidFill>
                  <a:schemeClr val="tx1"/>
                </a:solidFill>
                <a:effectLst/>
              </a:rPr>
              <a:t>payload</a:t>
            </a:r>
            <a:endParaRPr lang="de-DE" sz="8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2285D809-CB05-D9E0-BA5B-D3135DAFEFD3}"/>
              </a:ext>
            </a:extLst>
          </p:cNvPr>
          <p:cNvSpPr/>
          <p:nvPr/>
        </p:nvSpPr>
        <p:spPr>
          <a:xfrm>
            <a:off x="3252235" y="1799864"/>
            <a:ext cx="2647060" cy="1186977"/>
          </a:xfrm>
          <a:prstGeom prst="rect">
            <a:avLst/>
          </a:prstGeom>
          <a:solidFill>
            <a:srgbClr val="D8D7D6"/>
          </a:solidFill>
          <a:effectLst/>
          <a:scene3d>
            <a:camera prst="orthographicFront"/>
            <a:lightRig rig="threePt" dir="t">
              <a:rot lat="0" lon="0" rev="1200000"/>
            </a:lightRig>
          </a:scene3d>
          <a:sp3d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sz="800" b="1" dirty="0">
                <a:solidFill>
                  <a:schemeClr val="tx1"/>
                </a:solidFill>
                <a:effectLst/>
              </a:rPr>
              <a:t>RFC 7518 §4  – füge </a:t>
            </a:r>
            <a:r>
              <a:rPr lang="de-DE" sz="800" b="1" u="sng" dirty="0">
                <a:solidFill>
                  <a:schemeClr val="tx1"/>
                </a:solidFill>
                <a:effectLst/>
              </a:rPr>
              <a:t>JWS </a:t>
            </a:r>
            <a:r>
              <a:rPr lang="de-DE" sz="800" b="1" u="sng" dirty="0" err="1">
                <a:solidFill>
                  <a:schemeClr val="tx1"/>
                </a:solidFill>
                <a:effectLst/>
              </a:rPr>
              <a:t>Protected</a:t>
            </a:r>
            <a:r>
              <a:rPr lang="de-DE" sz="800" b="1" u="sng" dirty="0">
                <a:solidFill>
                  <a:schemeClr val="tx1"/>
                </a:solidFill>
                <a:effectLst/>
              </a:rPr>
              <a:t> Header</a:t>
            </a:r>
          </a:p>
          <a:p>
            <a:pPr algn="ctr"/>
            <a:r>
              <a:rPr lang="de-DE" sz="800" b="1" dirty="0">
                <a:solidFill>
                  <a:schemeClr val="tx1"/>
                </a:solidFill>
                <a:effectLst/>
              </a:rPr>
              <a:t> mit Standard-Felden an den Payload an</a:t>
            </a:r>
            <a:endParaRPr lang="de-DE" sz="800" dirty="0">
              <a:solidFill>
                <a:schemeClr val="tx1"/>
              </a:solidFill>
              <a:effectLst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277B51B3-213B-DF76-D2EE-93CF98A7D4A7}"/>
              </a:ext>
            </a:extLst>
          </p:cNvPr>
          <p:cNvSpPr/>
          <p:nvPr/>
        </p:nvSpPr>
        <p:spPr>
          <a:xfrm>
            <a:off x="3367020" y="2134992"/>
            <a:ext cx="2190068" cy="854700"/>
          </a:xfrm>
          <a:prstGeom prst="rect">
            <a:avLst/>
          </a:prstGeom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de-DE" sz="800" dirty="0">
                <a:solidFill>
                  <a:schemeClr val="accent1"/>
                </a:solidFill>
              </a:rPr>
              <a:t>{</a:t>
            </a:r>
          </a:p>
          <a:p>
            <a:r>
              <a:rPr lang="de-DE" sz="800" dirty="0">
                <a:solidFill>
                  <a:schemeClr val="accent1"/>
                </a:solidFill>
              </a:rPr>
              <a:t>"</a:t>
            </a:r>
            <a:r>
              <a:rPr lang="de-DE" sz="800" dirty="0" err="1">
                <a:solidFill>
                  <a:schemeClr val="accent1"/>
                </a:solidFill>
              </a:rPr>
              <a:t>alg</a:t>
            </a:r>
            <a:r>
              <a:rPr lang="de-DE" sz="800" dirty="0">
                <a:solidFill>
                  <a:schemeClr val="accent1"/>
                </a:solidFill>
              </a:rPr>
              <a:t>": "ES256", </a:t>
            </a:r>
          </a:p>
          <a:p>
            <a:r>
              <a:rPr lang="de-DE" sz="800" dirty="0">
                <a:solidFill>
                  <a:schemeClr val="accent1"/>
                </a:solidFill>
              </a:rPr>
              <a:t>"typ": "JWS", </a:t>
            </a:r>
          </a:p>
          <a:p>
            <a:r>
              <a:rPr lang="de-DE" sz="800" b="1" dirty="0">
                <a:solidFill>
                  <a:schemeClr val="accent1"/>
                </a:solidFill>
              </a:rPr>
              <a:t>"</a:t>
            </a:r>
            <a:r>
              <a:rPr lang="de-DE" sz="800" b="1" dirty="0" err="1">
                <a:solidFill>
                  <a:schemeClr val="accent1"/>
                </a:solidFill>
              </a:rPr>
              <a:t>kid</a:t>
            </a:r>
            <a:r>
              <a:rPr lang="de-DE" sz="800" b="1" dirty="0">
                <a:solidFill>
                  <a:schemeClr val="accent1"/>
                </a:solidFill>
              </a:rPr>
              <a:t>": "EMT.API.NB-12345", </a:t>
            </a:r>
          </a:p>
          <a:p>
            <a:r>
              <a:rPr lang="de-DE" sz="800" b="1" dirty="0">
                <a:solidFill>
                  <a:schemeClr val="accent1"/>
                </a:solidFill>
              </a:rPr>
              <a:t>"x5u":"https://makocerts.de/</a:t>
            </a:r>
            <a:r>
              <a:rPr lang="de-DE" sz="800" b="1" dirty="0" err="1">
                <a:solidFill>
                  <a:schemeClr val="accent1"/>
                </a:solidFill>
              </a:rPr>
              <a:t>certs</a:t>
            </a:r>
            <a:r>
              <a:rPr lang="de-DE" sz="800" b="1" dirty="0">
                <a:solidFill>
                  <a:schemeClr val="accent1"/>
                </a:solidFill>
              </a:rPr>
              <a:t>/</a:t>
            </a:r>
            <a:r>
              <a:rPr lang="de-DE" sz="800" b="1" dirty="0" err="1">
                <a:solidFill>
                  <a:schemeClr val="accent1"/>
                </a:solidFill>
              </a:rPr>
              <a:t>current</a:t>
            </a:r>
            <a:r>
              <a:rPr lang="de-DE" sz="800" dirty="0">
                <a:solidFill>
                  <a:schemeClr val="accent1"/>
                </a:solidFill>
              </a:rPr>
              <a:t>" </a:t>
            </a:r>
          </a:p>
          <a:p>
            <a:r>
              <a:rPr lang="de-DE" sz="800" dirty="0">
                <a:solidFill>
                  <a:schemeClr val="accent1"/>
                </a:solidFill>
              </a:rPr>
              <a:t>},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78D24925-5A17-25C2-5620-C65882F58DDE}"/>
              </a:ext>
            </a:extLst>
          </p:cNvPr>
          <p:cNvSpPr/>
          <p:nvPr/>
        </p:nvSpPr>
        <p:spPr>
          <a:xfrm>
            <a:off x="3266283" y="3327070"/>
            <a:ext cx="2455735" cy="319659"/>
          </a:xfrm>
          <a:prstGeom prst="rect">
            <a:avLst/>
          </a:prstGeom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de-DE" sz="800" dirty="0">
                <a:solidFill>
                  <a:schemeClr val="accent1"/>
                </a:solidFill>
              </a:rPr>
              <a:t>{"</a:t>
            </a:r>
            <a:r>
              <a:rPr lang="de-DE" sz="800" dirty="0" err="1">
                <a:solidFill>
                  <a:schemeClr val="accent1"/>
                </a:solidFill>
              </a:rPr>
              <a:t>address</a:t>
            </a:r>
            <a:r>
              <a:rPr lang="de-DE" sz="800" dirty="0">
                <a:solidFill>
                  <a:schemeClr val="accent1"/>
                </a:solidFill>
              </a:rPr>
              <a:t>":{"zip":80001},"customerNumber":6024997}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ABBC625D-CE9F-67E4-D9F4-F35A2DB4E062}"/>
              </a:ext>
            </a:extLst>
          </p:cNvPr>
          <p:cNvSpPr/>
          <p:nvPr/>
        </p:nvSpPr>
        <p:spPr>
          <a:xfrm>
            <a:off x="3252234" y="3835948"/>
            <a:ext cx="2639555" cy="1209767"/>
          </a:xfrm>
          <a:prstGeom prst="rect">
            <a:avLst/>
          </a:prstGeom>
          <a:solidFill>
            <a:srgbClr val="D8D7D6"/>
          </a:solidFill>
          <a:effectLst/>
          <a:scene3d>
            <a:camera prst="orthographicFront"/>
            <a:lightRig rig="threePt" dir="t">
              <a:rot lat="0" lon="0" rev="1200000"/>
            </a:lightRig>
          </a:scene3d>
          <a:sp3d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sz="800" b="1" dirty="0">
                <a:solidFill>
                  <a:schemeClr val="tx1"/>
                </a:solidFill>
                <a:effectLst/>
              </a:rPr>
              <a:t>RFC 7515 §3,5 – JWS Signaturverfahren anwenden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273FFDC5-27D1-F189-2873-4A4511AA4798}"/>
              </a:ext>
            </a:extLst>
          </p:cNvPr>
          <p:cNvSpPr/>
          <p:nvPr/>
        </p:nvSpPr>
        <p:spPr>
          <a:xfrm>
            <a:off x="3372730" y="4160488"/>
            <a:ext cx="2354997" cy="415614"/>
          </a:xfrm>
          <a:prstGeom prst="rect">
            <a:avLst/>
          </a:prstGeom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de-DE" sz="800" dirty="0"/>
              <a:t>ECDSA(SHA256( BASE64URL(JWS </a:t>
            </a:r>
            <a:r>
              <a:rPr lang="de-DE" sz="800" dirty="0" err="1"/>
              <a:t>Protected</a:t>
            </a:r>
            <a:r>
              <a:rPr lang="de-DE" sz="800" dirty="0"/>
              <a:t> Header) + "." + BASE64URL(JWS Payload) ), </a:t>
            </a:r>
            <a:r>
              <a:rPr lang="de-DE" sz="800" dirty="0" err="1"/>
              <a:t>privater_schlüssel</a:t>
            </a:r>
            <a:r>
              <a:rPr lang="de-DE" sz="800" dirty="0"/>
              <a:t>)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055AE9CC-7531-B3F9-D04D-BAC4C22AA131}"/>
              </a:ext>
            </a:extLst>
          </p:cNvPr>
          <p:cNvSpPr/>
          <p:nvPr/>
        </p:nvSpPr>
        <p:spPr>
          <a:xfrm>
            <a:off x="3372730" y="4516626"/>
            <a:ext cx="2354997" cy="524422"/>
          </a:xfrm>
          <a:prstGeom prst="rect">
            <a:avLst/>
          </a:prstGeom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de-DE" sz="800" dirty="0">
                <a:solidFill>
                  <a:schemeClr val="accent1"/>
                </a:solidFill>
              </a:rPr>
              <a:t>MEYCIQDn7vK2pX8mRtLsNwQzYcFbJdOeGiKpAsSv3nB1uWzYdAIhAP4vRVA7 xH2sP3kLmN8qT1uWzYdFbJcOeGiKpQsSv2nABC</a:t>
            </a:r>
            <a:endParaRPr lang="de-DE" sz="800" dirty="0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C5B139D2-8E9F-8A4E-9861-F584475D9156}"/>
              </a:ext>
            </a:extLst>
          </p:cNvPr>
          <p:cNvSpPr/>
          <p:nvPr/>
        </p:nvSpPr>
        <p:spPr>
          <a:xfrm>
            <a:off x="3072857" y="1762018"/>
            <a:ext cx="281354" cy="294143"/>
          </a:xfrm>
          <a:prstGeom prst="ellipse">
            <a:avLst/>
          </a:prstGeom>
          <a:solidFill>
            <a:srgbClr val="D27300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9EA9225A-15A6-EFC5-C14E-522692D22E96}"/>
              </a:ext>
            </a:extLst>
          </p:cNvPr>
          <p:cNvSpPr/>
          <p:nvPr/>
        </p:nvSpPr>
        <p:spPr>
          <a:xfrm>
            <a:off x="3082549" y="3085237"/>
            <a:ext cx="281354" cy="294143"/>
          </a:xfrm>
          <a:prstGeom prst="ellipse">
            <a:avLst/>
          </a:prstGeom>
          <a:solidFill>
            <a:srgbClr val="D27300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2</a:t>
            </a:r>
          </a:p>
        </p:txBody>
      </p:sp>
      <p:cxnSp>
        <p:nvCxnSpPr>
          <p:cNvPr id="25" name="Verbinder: gewinkelt 24">
            <a:extLst>
              <a:ext uri="{FF2B5EF4-FFF2-40B4-BE49-F238E27FC236}">
                <a16:creationId xmlns:a16="http://schemas.microsoft.com/office/drawing/2014/main" id="{61D58A92-9305-1445-B1E4-144E271057AF}"/>
              </a:ext>
            </a:extLst>
          </p:cNvPr>
          <p:cNvCxnSpPr>
            <a:cxnSpLocks/>
          </p:cNvCxnSpPr>
          <p:nvPr/>
        </p:nvCxnSpPr>
        <p:spPr>
          <a:xfrm flipV="1">
            <a:off x="2381250" y="3489194"/>
            <a:ext cx="895275" cy="640897"/>
          </a:xfrm>
          <a:prstGeom prst="bentConnector3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Ellipse 25">
            <a:extLst>
              <a:ext uri="{FF2B5EF4-FFF2-40B4-BE49-F238E27FC236}">
                <a16:creationId xmlns:a16="http://schemas.microsoft.com/office/drawing/2014/main" id="{BED634DB-38FF-9FCC-BE17-2C97846E0B69}"/>
              </a:ext>
            </a:extLst>
          </p:cNvPr>
          <p:cNvSpPr/>
          <p:nvPr/>
        </p:nvSpPr>
        <p:spPr>
          <a:xfrm>
            <a:off x="3094925" y="3819464"/>
            <a:ext cx="281354" cy="294143"/>
          </a:xfrm>
          <a:prstGeom prst="ellipse">
            <a:avLst/>
          </a:prstGeom>
          <a:solidFill>
            <a:srgbClr val="D27300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D792D826-295B-F8E5-2F65-6564CCA95C23}"/>
              </a:ext>
            </a:extLst>
          </p:cNvPr>
          <p:cNvCxnSpPr>
            <a:cxnSpLocks/>
            <a:stCxn id="8" idx="2"/>
            <a:endCxn id="20" idx="0"/>
          </p:cNvCxnSpPr>
          <p:nvPr/>
        </p:nvCxnSpPr>
        <p:spPr>
          <a:xfrm>
            <a:off x="4572012" y="3671768"/>
            <a:ext cx="0" cy="16418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hteck 29">
            <a:extLst>
              <a:ext uri="{FF2B5EF4-FFF2-40B4-BE49-F238E27FC236}">
                <a16:creationId xmlns:a16="http://schemas.microsoft.com/office/drawing/2014/main" id="{BA61327E-B8DE-58E8-4148-D9CABB754698}"/>
              </a:ext>
            </a:extLst>
          </p:cNvPr>
          <p:cNvSpPr/>
          <p:nvPr/>
        </p:nvSpPr>
        <p:spPr>
          <a:xfrm>
            <a:off x="6774201" y="1150441"/>
            <a:ext cx="2048980" cy="38366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de-DE" sz="800" dirty="0"/>
              <a:t>POST /</a:t>
            </a:r>
            <a:r>
              <a:rPr lang="de-DE" sz="800" dirty="0" err="1"/>
              <a:t>malo</a:t>
            </a:r>
            <a:r>
              <a:rPr lang="de-DE" sz="800" dirty="0"/>
              <a:t>/ident HTTP/2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A49B17E5-394F-E4E0-CE05-5B8DE4F813A9}"/>
              </a:ext>
            </a:extLst>
          </p:cNvPr>
          <p:cNvSpPr txBox="1"/>
          <p:nvPr/>
        </p:nvSpPr>
        <p:spPr>
          <a:xfrm>
            <a:off x="6774201" y="1593449"/>
            <a:ext cx="2055371" cy="95410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de-DE" sz="800" dirty="0"/>
              <a:t>Host: mabishub.com</a:t>
            </a:r>
          </a:p>
          <a:p>
            <a:r>
              <a:rPr lang="de-DE" sz="800" dirty="0"/>
              <a:t>Content-Type: </a:t>
            </a:r>
            <a:r>
              <a:rPr lang="de-DE" sz="800" dirty="0" err="1"/>
              <a:t>application</a:t>
            </a:r>
            <a:r>
              <a:rPr lang="de-DE" sz="800" dirty="0"/>
              <a:t>/</a:t>
            </a:r>
            <a:r>
              <a:rPr lang="de-DE" sz="800" dirty="0" err="1">
                <a:solidFill>
                  <a:schemeClr val="accent1"/>
                </a:solidFill>
              </a:rPr>
              <a:t>jose+</a:t>
            </a:r>
            <a:r>
              <a:rPr lang="de-DE" sz="800" dirty="0" err="1"/>
              <a:t>json</a:t>
            </a:r>
            <a:endParaRPr lang="de-DE" sz="800" dirty="0"/>
          </a:p>
          <a:p>
            <a:r>
              <a:rPr lang="de-DE" sz="800" dirty="0" err="1"/>
              <a:t>Accept</a:t>
            </a:r>
            <a:r>
              <a:rPr lang="de-DE" sz="800" dirty="0"/>
              <a:t>: </a:t>
            </a:r>
            <a:r>
              <a:rPr lang="de-DE" sz="800" dirty="0" err="1"/>
              <a:t>application</a:t>
            </a:r>
            <a:r>
              <a:rPr lang="de-DE" sz="800" dirty="0"/>
              <a:t>/</a:t>
            </a:r>
            <a:r>
              <a:rPr lang="de-DE" sz="800" dirty="0" err="1"/>
              <a:t>json</a:t>
            </a:r>
            <a:endParaRPr lang="de-DE" sz="800" dirty="0"/>
          </a:p>
          <a:p>
            <a:r>
              <a:rPr lang="de-DE" sz="800" dirty="0"/>
              <a:t>Date: Sun, 01 Jun 2026 10:15:30 GMT</a:t>
            </a:r>
          </a:p>
          <a:p>
            <a:r>
              <a:rPr lang="de-DE" sz="800" dirty="0"/>
              <a:t>X-Request-</a:t>
            </a:r>
            <a:r>
              <a:rPr lang="de-DE" sz="800" dirty="0" err="1"/>
              <a:t>Id</a:t>
            </a:r>
            <a:r>
              <a:rPr lang="de-DE" sz="800" dirty="0"/>
              <a:t>: 7b5d3e2a-4c1a-4c0b-xd99</a:t>
            </a:r>
          </a:p>
          <a:p>
            <a:r>
              <a:rPr lang="de-DE" sz="800" dirty="0"/>
              <a:t>X-</a:t>
            </a:r>
            <a:r>
              <a:rPr lang="de-DE" sz="800" dirty="0" err="1"/>
              <a:t>Api</a:t>
            </a:r>
            <a:r>
              <a:rPr lang="de-DE" sz="800" dirty="0"/>
              <a:t>-</a:t>
            </a:r>
            <a:r>
              <a:rPr lang="de-DE" sz="800" dirty="0" err="1"/>
              <a:t>Spec-Ref</a:t>
            </a:r>
            <a:r>
              <a:rPr lang="de-DE" sz="800" dirty="0"/>
              <a:t>: </a:t>
            </a:r>
            <a:r>
              <a:rPr lang="de-DE" sz="800" dirty="0" err="1"/>
              <a:t>git:EDI-Energy</a:t>
            </a:r>
            <a:r>
              <a:rPr lang="de-DE" sz="800" dirty="0"/>
              <a:t>/</a:t>
            </a:r>
            <a:r>
              <a:rPr lang="de-DE" sz="800" dirty="0" err="1"/>
              <a:t>api-electricity</a:t>
            </a:r>
            <a:endParaRPr lang="de-DE" sz="800" dirty="0"/>
          </a:p>
          <a:p>
            <a:r>
              <a:rPr lang="de-DE" sz="800" dirty="0"/>
              <a:t>X-</a:t>
            </a:r>
            <a:r>
              <a:rPr lang="de-DE" sz="800" dirty="0" err="1"/>
              <a:t>Api</a:t>
            </a:r>
            <a:r>
              <a:rPr lang="de-DE" sz="800" dirty="0"/>
              <a:t>-</a:t>
            </a:r>
            <a:r>
              <a:rPr lang="de-DE" sz="800" dirty="0" err="1"/>
              <a:t>Spec</a:t>
            </a:r>
            <a:r>
              <a:rPr lang="de-DE" sz="800" dirty="0"/>
              <a:t>-Version: 1.2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CAA3E85B-FFBB-3489-F11C-6C0E1C95C52C}"/>
              </a:ext>
            </a:extLst>
          </p:cNvPr>
          <p:cNvSpPr txBox="1"/>
          <p:nvPr/>
        </p:nvSpPr>
        <p:spPr>
          <a:xfrm rot="16200000">
            <a:off x="5954751" y="2191063"/>
            <a:ext cx="1410672" cy="2154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Header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477DBF45-0311-6892-A0B2-44F9A4FECBE1}"/>
              </a:ext>
            </a:extLst>
          </p:cNvPr>
          <p:cNvSpPr txBox="1"/>
          <p:nvPr/>
        </p:nvSpPr>
        <p:spPr>
          <a:xfrm rot="16200000">
            <a:off x="6473954" y="1234552"/>
            <a:ext cx="383663" cy="2154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URI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171076E4-E382-909E-ABDD-98E5E62ED8EF}"/>
              </a:ext>
            </a:extLst>
          </p:cNvPr>
          <p:cNvSpPr txBox="1"/>
          <p:nvPr/>
        </p:nvSpPr>
        <p:spPr>
          <a:xfrm rot="16200000">
            <a:off x="5749794" y="3940999"/>
            <a:ext cx="1833369" cy="2154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Payload String mit .-Notation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0E3F23F5-B28C-F606-8B90-843B1D6E4BF9}"/>
              </a:ext>
            </a:extLst>
          </p:cNvPr>
          <p:cNvSpPr/>
          <p:nvPr/>
        </p:nvSpPr>
        <p:spPr>
          <a:xfrm>
            <a:off x="6323775" y="2094989"/>
            <a:ext cx="281354" cy="294143"/>
          </a:xfrm>
          <a:prstGeom prst="ellipse">
            <a:avLst/>
          </a:prstGeom>
          <a:solidFill>
            <a:srgbClr val="D27300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37D3F767-EB64-914B-F9C6-CA0ADCBA299B}"/>
              </a:ext>
            </a:extLst>
          </p:cNvPr>
          <p:cNvSpPr txBox="1"/>
          <p:nvPr/>
        </p:nvSpPr>
        <p:spPr>
          <a:xfrm>
            <a:off x="7044279" y="3134625"/>
            <a:ext cx="1778902" cy="70788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DE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eyJhbGciOiJFUzI1NiIsInR5cCI6IkpXUyIsImtpZCI6IkVNVC5BUEkuTkItMTIzNDUiLCJ4NXUiOiJodHRwczovL3ZlcnplaWNobmlzLm5ldHpiZXRyZWliZXIuZGUvY2VydHMvY3VycmVudCJ9</a:t>
            </a:r>
            <a:r>
              <a:rPr lang="de-DE" sz="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8F13A1F0-C500-25AC-DD1C-34B03FD1025C}"/>
              </a:ext>
            </a:extLst>
          </p:cNvPr>
          <p:cNvSpPr txBox="1"/>
          <p:nvPr/>
        </p:nvSpPr>
        <p:spPr>
          <a:xfrm>
            <a:off x="7044277" y="3880461"/>
            <a:ext cx="1778903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DE" sz="800" dirty="0">
                <a:solidFill>
                  <a:schemeClr val="accent4">
                    <a:lumMod val="50000"/>
                  </a:schemeClr>
                </a:solidFill>
              </a:rPr>
              <a:t>eyJhZGRyZXNzIjp7InppcCI6ODAwMDF9LCJjdXN0b21lck51bWJlciI6NjAyNDk5N30</a:t>
            </a:r>
            <a:r>
              <a:rPr lang="de-DE" sz="800" dirty="0">
                <a:solidFill>
                  <a:schemeClr val="accent1"/>
                </a:solidFill>
              </a:rPr>
              <a:t>.</a:t>
            </a:r>
            <a:endParaRPr lang="de-DE" sz="800" dirty="0"/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BCC85049-FDE2-0366-4E8E-A87C865E0ECD}"/>
              </a:ext>
            </a:extLst>
          </p:cNvPr>
          <p:cNvSpPr txBox="1"/>
          <p:nvPr/>
        </p:nvSpPr>
        <p:spPr>
          <a:xfrm>
            <a:off x="7044279" y="4381458"/>
            <a:ext cx="1778901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DE" sz="800" dirty="0">
                <a:solidFill>
                  <a:schemeClr val="accent1"/>
                </a:solidFill>
              </a:rPr>
              <a:t>MEYCIQDn7vK2pX8mRtLsNwQzYcFbJdOeGiKpAsSv3nB1uWzYdAIhAP4vRVA7xH2sP3kLmN8qT1uWzYdFbJcOeGiKpQsSv2nABC</a:t>
            </a:r>
            <a:endParaRPr lang="de-DE" sz="800" dirty="0"/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3E3BE0C4-9783-E07A-8C6E-0387A0101B50}"/>
              </a:ext>
            </a:extLst>
          </p:cNvPr>
          <p:cNvSpPr txBox="1"/>
          <p:nvPr/>
        </p:nvSpPr>
        <p:spPr>
          <a:xfrm rot="16200000">
            <a:off x="6581319" y="3379552"/>
            <a:ext cx="710473" cy="2154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JWS Header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62320663-2381-0DC5-F6D3-E9C573A2568C}"/>
              </a:ext>
            </a:extLst>
          </p:cNvPr>
          <p:cNvSpPr txBox="1"/>
          <p:nvPr/>
        </p:nvSpPr>
        <p:spPr>
          <a:xfrm rot="16200000">
            <a:off x="6707973" y="4002828"/>
            <a:ext cx="461666" cy="2154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800" dirty="0" err="1"/>
              <a:t>payld</a:t>
            </a:r>
            <a:endParaRPr lang="de-DE" sz="800" dirty="0"/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968BDB87-B8C0-70BE-16D3-D63A62799194}"/>
              </a:ext>
            </a:extLst>
          </p:cNvPr>
          <p:cNvSpPr txBox="1"/>
          <p:nvPr/>
        </p:nvSpPr>
        <p:spPr>
          <a:xfrm rot="16200000">
            <a:off x="6644168" y="4565296"/>
            <a:ext cx="584775" cy="2154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Signatur</a:t>
            </a:r>
          </a:p>
        </p:txBody>
      </p:sp>
      <p:cxnSp>
        <p:nvCxnSpPr>
          <p:cNvPr id="44" name="Verbinder: gewinkelt 43">
            <a:extLst>
              <a:ext uri="{FF2B5EF4-FFF2-40B4-BE49-F238E27FC236}">
                <a16:creationId xmlns:a16="http://schemas.microsoft.com/office/drawing/2014/main" id="{5CB4BCC4-8544-FC67-E287-752969615785}"/>
              </a:ext>
            </a:extLst>
          </p:cNvPr>
          <p:cNvCxnSpPr>
            <a:cxnSpLocks/>
            <a:endCxn id="41" idx="0"/>
          </p:cNvCxnSpPr>
          <p:nvPr/>
        </p:nvCxnSpPr>
        <p:spPr>
          <a:xfrm>
            <a:off x="5719768" y="2784074"/>
            <a:ext cx="1109066" cy="70320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Ellipse 44">
            <a:extLst>
              <a:ext uri="{FF2B5EF4-FFF2-40B4-BE49-F238E27FC236}">
                <a16:creationId xmlns:a16="http://schemas.microsoft.com/office/drawing/2014/main" id="{2DB171BD-1338-2A6E-84DC-0580B394E13C}"/>
              </a:ext>
            </a:extLst>
          </p:cNvPr>
          <p:cNvSpPr/>
          <p:nvPr/>
        </p:nvSpPr>
        <p:spPr>
          <a:xfrm>
            <a:off x="6267394" y="3943219"/>
            <a:ext cx="281354" cy="294143"/>
          </a:xfrm>
          <a:prstGeom prst="ellipse">
            <a:avLst/>
          </a:prstGeom>
          <a:solidFill>
            <a:srgbClr val="D27300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5</a:t>
            </a:r>
          </a:p>
        </p:txBody>
      </p:sp>
      <p:cxnSp>
        <p:nvCxnSpPr>
          <p:cNvPr id="46" name="Verbinder: gewinkelt 45">
            <a:extLst>
              <a:ext uri="{FF2B5EF4-FFF2-40B4-BE49-F238E27FC236}">
                <a16:creationId xmlns:a16="http://schemas.microsoft.com/office/drawing/2014/main" id="{6976A48F-5727-CAAD-B0B6-5F073955679A}"/>
              </a:ext>
            </a:extLst>
          </p:cNvPr>
          <p:cNvCxnSpPr>
            <a:cxnSpLocks/>
            <a:stCxn id="19" idx="3"/>
            <a:endCxn id="42" idx="0"/>
          </p:cNvCxnSpPr>
          <p:nvPr/>
        </p:nvCxnSpPr>
        <p:spPr>
          <a:xfrm>
            <a:off x="5722018" y="3486900"/>
            <a:ext cx="1109066" cy="62365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Verbinder: gewinkelt 47">
            <a:extLst>
              <a:ext uri="{FF2B5EF4-FFF2-40B4-BE49-F238E27FC236}">
                <a16:creationId xmlns:a16="http://schemas.microsoft.com/office/drawing/2014/main" id="{7968FEB1-DA73-3C59-2CAC-6ABAFC213642}"/>
              </a:ext>
            </a:extLst>
          </p:cNvPr>
          <p:cNvCxnSpPr>
            <a:cxnSpLocks/>
            <a:stCxn id="22" idx="3"/>
            <a:endCxn id="43" idx="0"/>
          </p:cNvCxnSpPr>
          <p:nvPr/>
        </p:nvCxnSpPr>
        <p:spPr>
          <a:xfrm flipV="1">
            <a:off x="5727727" y="4673018"/>
            <a:ext cx="1101107" cy="1058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02206244-38C2-7C8B-714B-FAB8C6A9D59D}"/>
              </a:ext>
            </a:extLst>
          </p:cNvPr>
          <p:cNvSpPr txBox="1"/>
          <p:nvPr/>
        </p:nvSpPr>
        <p:spPr>
          <a:xfrm>
            <a:off x="5891789" y="88312"/>
            <a:ext cx="3192046" cy="670005"/>
          </a:xfrm>
          <a:prstGeom prst="rect">
            <a:avLst/>
          </a:prstGeom>
          <a:solidFill>
            <a:srgbClr val="D27300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algn="ctr"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de-DE" sz="1050" dirty="0"/>
              <a:t>Hinweis: Diese Folie ist auf Anschaulichkeit optimiert: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de-DE" sz="1050" dirty="0"/>
              <a:t>Demonstration Nutzung RFC 7515 nach Standard.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de-DE" sz="1050" dirty="0"/>
              <a:t>Ein Programmierer geht von Innen nach außen vor, d.h. zuerst diese Folie und dann die vorherige Folie. 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1E36491A-3EE4-E841-5940-B440CFE8ADB3}"/>
              </a:ext>
            </a:extLst>
          </p:cNvPr>
          <p:cNvSpPr/>
          <p:nvPr/>
        </p:nvSpPr>
        <p:spPr bwMode="gray">
          <a:xfrm>
            <a:off x="173474" y="1724410"/>
            <a:ext cx="2506331" cy="2860838"/>
          </a:xfrm>
          <a:prstGeom prst="roundRect">
            <a:avLst>
              <a:gd name="adj" fmla="val 6875"/>
            </a:avLst>
          </a:prstGeom>
          <a:solidFill>
            <a:srgbClr val="64B42D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16000" tIns="0" rIns="180000" bIns="2304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de-DE" sz="1100" b="1" dirty="0">
                <a:solidFill>
                  <a:schemeClr val="tx1"/>
                </a:solidFill>
              </a:rPr>
              <a:t>HTTP Header Signatur (Phase 1)</a:t>
            </a:r>
            <a:endParaRPr lang="de-DE" sz="1100" dirty="0">
              <a:solidFill>
                <a:schemeClr val="tx1"/>
              </a:solidFill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6F9F35D7-9AB9-CC74-0176-D2F3AE193BF9}"/>
              </a:ext>
            </a:extLst>
          </p:cNvPr>
          <p:cNvSpPr/>
          <p:nvPr/>
        </p:nvSpPr>
        <p:spPr>
          <a:xfrm>
            <a:off x="530439" y="1979750"/>
            <a:ext cx="2048980" cy="38366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de-DE" sz="800" dirty="0"/>
              <a:t>POST /</a:t>
            </a:r>
            <a:r>
              <a:rPr lang="de-DE" sz="800" dirty="0" err="1"/>
              <a:t>malo</a:t>
            </a:r>
            <a:r>
              <a:rPr lang="de-DE" sz="800" dirty="0"/>
              <a:t>/ident HTTP/2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2D6D2480-0C24-4690-A6BE-834DCE31B8F6}"/>
              </a:ext>
            </a:extLst>
          </p:cNvPr>
          <p:cNvSpPr txBox="1"/>
          <p:nvPr/>
        </p:nvSpPr>
        <p:spPr>
          <a:xfrm>
            <a:off x="524048" y="2407788"/>
            <a:ext cx="2055371" cy="95410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de-DE" sz="800" dirty="0"/>
              <a:t>Host: mabishub.com</a:t>
            </a:r>
          </a:p>
          <a:p>
            <a:r>
              <a:rPr lang="de-DE" sz="800" dirty="0"/>
              <a:t>Content-Type: </a:t>
            </a:r>
            <a:r>
              <a:rPr lang="de-DE" sz="800" dirty="0" err="1"/>
              <a:t>application</a:t>
            </a:r>
            <a:r>
              <a:rPr lang="de-DE" sz="800" dirty="0"/>
              <a:t>/</a:t>
            </a:r>
            <a:r>
              <a:rPr lang="de-DE" sz="800" dirty="0" err="1"/>
              <a:t>json</a:t>
            </a:r>
            <a:endParaRPr lang="de-DE" sz="800" dirty="0"/>
          </a:p>
          <a:p>
            <a:r>
              <a:rPr lang="de-DE" sz="800" dirty="0" err="1"/>
              <a:t>Accept</a:t>
            </a:r>
            <a:r>
              <a:rPr lang="de-DE" sz="800" dirty="0"/>
              <a:t>: </a:t>
            </a:r>
            <a:r>
              <a:rPr lang="de-DE" sz="800" dirty="0" err="1"/>
              <a:t>application</a:t>
            </a:r>
            <a:r>
              <a:rPr lang="de-DE" sz="800" dirty="0"/>
              <a:t>/</a:t>
            </a:r>
            <a:r>
              <a:rPr lang="de-DE" sz="800" dirty="0" err="1"/>
              <a:t>json</a:t>
            </a:r>
            <a:endParaRPr lang="de-DE" sz="800" dirty="0"/>
          </a:p>
          <a:p>
            <a:r>
              <a:rPr lang="de-DE" sz="800" dirty="0"/>
              <a:t>Date: Sun, 01 Jun 2026 10:15:30 GMT</a:t>
            </a:r>
          </a:p>
          <a:p>
            <a:r>
              <a:rPr lang="de-DE" sz="800" dirty="0"/>
              <a:t>X-Request-</a:t>
            </a:r>
            <a:r>
              <a:rPr lang="de-DE" sz="800" dirty="0" err="1"/>
              <a:t>Id</a:t>
            </a:r>
            <a:r>
              <a:rPr lang="de-DE" sz="800" dirty="0"/>
              <a:t>: 7b5d3e2a-4c1a-4c0b-xd99</a:t>
            </a:r>
          </a:p>
          <a:p>
            <a:r>
              <a:rPr lang="de-DE" sz="800" dirty="0"/>
              <a:t>X-</a:t>
            </a:r>
            <a:r>
              <a:rPr lang="de-DE" sz="800" dirty="0" err="1"/>
              <a:t>Api</a:t>
            </a:r>
            <a:r>
              <a:rPr lang="de-DE" sz="800" dirty="0"/>
              <a:t>-</a:t>
            </a:r>
            <a:r>
              <a:rPr lang="de-DE" sz="800" dirty="0" err="1"/>
              <a:t>Spec-Ref</a:t>
            </a:r>
            <a:r>
              <a:rPr lang="de-DE" sz="800" dirty="0"/>
              <a:t>: </a:t>
            </a:r>
            <a:r>
              <a:rPr lang="de-DE" sz="800" dirty="0" err="1"/>
              <a:t>git:EDI-Energy</a:t>
            </a:r>
            <a:r>
              <a:rPr lang="de-DE" sz="800" dirty="0"/>
              <a:t>/</a:t>
            </a:r>
            <a:r>
              <a:rPr lang="de-DE" sz="800" dirty="0" err="1"/>
              <a:t>api-electricity</a:t>
            </a:r>
            <a:endParaRPr lang="de-DE" sz="800" dirty="0"/>
          </a:p>
          <a:p>
            <a:r>
              <a:rPr lang="de-DE" sz="800" dirty="0"/>
              <a:t>X-</a:t>
            </a:r>
            <a:r>
              <a:rPr lang="de-DE" sz="800" dirty="0" err="1"/>
              <a:t>Api</a:t>
            </a:r>
            <a:r>
              <a:rPr lang="de-DE" sz="800" dirty="0"/>
              <a:t>-</a:t>
            </a:r>
            <a:r>
              <a:rPr lang="de-DE" sz="800" dirty="0" err="1"/>
              <a:t>Spec</a:t>
            </a:r>
            <a:r>
              <a:rPr lang="de-DE" sz="800" dirty="0"/>
              <a:t>-Version: 1.2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37C8C88A-824A-CC48-51EF-6B088C4D9765}"/>
              </a:ext>
            </a:extLst>
          </p:cNvPr>
          <p:cNvSpPr txBox="1"/>
          <p:nvPr/>
        </p:nvSpPr>
        <p:spPr>
          <a:xfrm rot="16200000">
            <a:off x="-294228" y="3010068"/>
            <a:ext cx="1409163" cy="215444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Header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882D8742-B3BF-FCD1-0296-38DC4BFB80D6}"/>
              </a:ext>
            </a:extLst>
          </p:cNvPr>
          <p:cNvSpPr txBox="1"/>
          <p:nvPr/>
        </p:nvSpPr>
        <p:spPr>
          <a:xfrm rot="16200000">
            <a:off x="222929" y="2063861"/>
            <a:ext cx="383663" cy="215444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URI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59628284-CC81-416F-4DF0-61307CD99249}"/>
              </a:ext>
            </a:extLst>
          </p:cNvPr>
          <p:cNvSpPr txBox="1"/>
          <p:nvPr/>
        </p:nvSpPr>
        <p:spPr>
          <a:xfrm rot="16200000">
            <a:off x="107284" y="4069915"/>
            <a:ext cx="587355" cy="215444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Payload</a:t>
            </a: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AAA2FDC7-85C8-4C57-5949-BFEA62D79814}"/>
              </a:ext>
            </a:extLst>
          </p:cNvPr>
          <p:cNvSpPr/>
          <p:nvPr/>
        </p:nvSpPr>
        <p:spPr>
          <a:xfrm>
            <a:off x="530439" y="2651843"/>
            <a:ext cx="2048980" cy="1799918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de-DE"/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429AA65F-ADCE-3F79-7E57-5003BC718B3D}"/>
              </a:ext>
            </a:extLst>
          </p:cNvPr>
          <p:cNvSpPr/>
          <p:nvPr/>
        </p:nvSpPr>
        <p:spPr>
          <a:xfrm>
            <a:off x="515946" y="3883960"/>
            <a:ext cx="2063473" cy="58735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de-DE" sz="800" dirty="0"/>
              <a:t>{</a:t>
            </a:r>
          </a:p>
          <a:p>
            <a:r>
              <a:rPr lang="de-DE" sz="800" dirty="0"/>
              <a:t>  “address“: {"</a:t>
            </a:r>
            <a:r>
              <a:rPr lang="de-DE" sz="800" dirty="0" err="1"/>
              <a:t>zip</a:t>
            </a:r>
            <a:r>
              <a:rPr lang="de-DE" sz="800" dirty="0"/>
              <a:t>": 80001 },</a:t>
            </a:r>
          </a:p>
          <a:p>
            <a:r>
              <a:rPr lang="de-DE" sz="800" dirty="0"/>
              <a:t>  “</a:t>
            </a:r>
            <a:r>
              <a:rPr lang="de-DE" sz="800" dirty="0" err="1"/>
              <a:t>customerNumber</a:t>
            </a:r>
            <a:r>
              <a:rPr lang="de-DE" sz="800" dirty="0"/>
              <a:t>“: 6024997 </a:t>
            </a:r>
          </a:p>
          <a:p>
            <a:r>
              <a:rPr lang="de-DE" sz="800" dirty="0"/>
              <a:t>}</a:t>
            </a: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5F5973B1-3AE0-635E-79A8-AAF0D151DB2C}"/>
              </a:ext>
            </a:extLst>
          </p:cNvPr>
          <p:cNvSpPr txBox="1"/>
          <p:nvPr/>
        </p:nvSpPr>
        <p:spPr>
          <a:xfrm>
            <a:off x="524048" y="3360707"/>
            <a:ext cx="2048980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DE" sz="800" b="1" dirty="0"/>
              <a:t>Content-Digest: </a:t>
            </a:r>
            <a:r>
              <a:rPr lang="de-DE" sz="800" dirty="0"/>
              <a:t>…</a:t>
            </a:r>
            <a:br>
              <a:rPr lang="de-DE" sz="800" dirty="0"/>
            </a:br>
            <a:r>
              <a:rPr lang="de-DE" sz="800" b="1" dirty="0" err="1"/>
              <a:t>Signature</a:t>
            </a:r>
            <a:r>
              <a:rPr lang="de-DE" sz="800" b="1" dirty="0"/>
              <a:t>-Input: ….</a:t>
            </a:r>
            <a:endParaRPr lang="de-DE" sz="800" dirty="0"/>
          </a:p>
          <a:p>
            <a:r>
              <a:rPr lang="de-DE" sz="800" b="1" dirty="0" err="1"/>
              <a:t>Signature</a:t>
            </a:r>
            <a:r>
              <a:rPr lang="de-DE" sz="800" b="1" dirty="0"/>
              <a:t>: ….</a:t>
            </a:r>
            <a:endParaRPr lang="de-DE" sz="800" dirty="0"/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E04A2B4C-56AB-4B33-63E9-4BB43556BC19}"/>
              </a:ext>
            </a:extLst>
          </p:cNvPr>
          <p:cNvSpPr txBox="1"/>
          <p:nvPr/>
        </p:nvSpPr>
        <p:spPr>
          <a:xfrm>
            <a:off x="6767809" y="2542456"/>
            <a:ext cx="2075575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DE" sz="800" b="1" dirty="0"/>
              <a:t>Content-Digest: </a:t>
            </a:r>
            <a:r>
              <a:rPr lang="de-DE" sz="800" dirty="0"/>
              <a:t>…</a:t>
            </a:r>
            <a:br>
              <a:rPr lang="de-DE" sz="800" dirty="0"/>
            </a:br>
            <a:r>
              <a:rPr lang="de-DE" sz="800" b="1" dirty="0" err="1"/>
              <a:t>Signature</a:t>
            </a:r>
            <a:r>
              <a:rPr lang="de-DE" sz="800" b="1" dirty="0"/>
              <a:t>-Input: ….</a:t>
            </a:r>
            <a:endParaRPr lang="de-DE" sz="800" dirty="0"/>
          </a:p>
          <a:p>
            <a:r>
              <a:rPr lang="de-DE" sz="800" b="1" dirty="0" err="1"/>
              <a:t>Signature</a:t>
            </a:r>
            <a:r>
              <a:rPr lang="de-DE" sz="800" b="1" dirty="0"/>
              <a:t>: ….</a:t>
            </a:r>
            <a:endParaRPr lang="de-DE" sz="800" dirty="0"/>
          </a:p>
        </p:txBody>
      </p:sp>
      <p:sp>
        <p:nvSpPr>
          <p:cNvPr id="3" name="Foliennummernplatzhalter 3">
            <a:extLst>
              <a:ext uri="{FF2B5EF4-FFF2-40B4-BE49-F238E27FC236}">
                <a16:creationId xmlns:a16="http://schemas.microsoft.com/office/drawing/2014/main" id="{F40AE057-EFB6-0FD2-4E53-8B8D3343A88D}"/>
              </a:ext>
            </a:extLst>
          </p:cNvPr>
          <p:cNvSpPr txBox="1">
            <a:spLocks/>
          </p:cNvSpPr>
          <p:nvPr/>
        </p:nvSpPr>
        <p:spPr bwMode="gray">
          <a:xfrm>
            <a:off x="6048213" y="4849907"/>
            <a:ext cx="588785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F05F51B1-EF07-4A0A-8ED6-43388CBBB34F}" type="slidenum">
              <a:rPr lang="de-DE" smtClean="0"/>
              <a:pPr algn="ctr"/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65613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hteck: abgerundete Ecken 61">
            <a:extLst>
              <a:ext uri="{FF2B5EF4-FFF2-40B4-BE49-F238E27FC236}">
                <a16:creationId xmlns:a16="http://schemas.microsoft.com/office/drawing/2014/main" id="{239145D6-348F-E4AC-A8F7-60BD889355E1}"/>
              </a:ext>
            </a:extLst>
          </p:cNvPr>
          <p:cNvSpPr/>
          <p:nvPr/>
        </p:nvSpPr>
        <p:spPr bwMode="gray">
          <a:xfrm>
            <a:off x="3704098" y="2496726"/>
            <a:ext cx="3153905" cy="1873413"/>
          </a:xfrm>
          <a:prstGeom prst="roundRect">
            <a:avLst>
              <a:gd name="adj" fmla="val 10270"/>
            </a:avLst>
          </a:prstGeom>
          <a:solidFill>
            <a:schemeClr val="accent1">
              <a:lumMod val="60000"/>
              <a:lumOff val="40000"/>
            </a:schemeClr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16000" tIns="0" rIns="180000" bIns="2304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de-DE" sz="1100" b="1" dirty="0">
                <a:solidFill>
                  <a:schemeClr val="tx1"/>
                </a:solidFill>
              </a:rPr>
              <a:t>Payload-Signatur</a:t>
            </a:r>
            <a:endParaRPr lang="de-DE" sz="1100" dirty="0">
              <a:solidFill>
                <a:schemeClr val="tx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5B06A9D-95BF-0682-29CF-B531038A1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531479"/>
            <a:ext cx="8220364" cy="332399"/>
          </a:xfrm>
        </p:spPr>
        <p:txBody>
          <a:bodyPr/>
          <a:lstStyle/>
          <a:p>
            <a:r>
              <a:rPr lang="de-DE" sz="2400" dirty="0"/>
              <a:t>„RFC Standards“      vs.   „RFC Versatzstücke“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36AB01B-8E20-4415-BAB6-9482E1C9F01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>
                <a:solidFill>
                  <a:schemeClr val="accent3"/>
                </a:solidFill>
              </a:rPr>
              <a:t>Backup: Großbeispiel auf einem Blick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0DD8C944-3562-CAEC-735C-A2CBFEBFE89C}"/>
              </a:ext>
            </a:extLst>
          </p:cNvPr>
          <p:cNvSpPr/>
          <p:nvPr/>
        </p:nvSpPr>
        <p:spPr>
          <a:xfrm>
            <a:off x="4039083" y="1174292"/>
            <a:ext cx="2727877" cy="38366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de-DE" sz="800" dirty="0"/>
              <a:t>POST //</a:t>
            </a:r>
            <a:r>
              <a:rPr lang="de-DE" sz="800" dirty="0" err="1"/>
              <a:t>maloId</a:t>
            </a:r>
            <a:r>
              <a:rPr lang="de-DE" sz="800" dirty="0"/>
              <a:t>/</a:t>
            </a:r>
            <a:r>
              <a:rPr lang="de-DE" sz="800" dirty="0" err="1"/>
              <a:t>request</a:t>
            </a:r>
            <a:r>
              <a:rPr lang="de-DE" sz="800" dirty="0"/>
              <a:t>/v2 HTTP/1.1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DEB35232-1853-CC1B-FBD1-E44B4B07BD13}"/>
              </a:ext>
            </a:extLst>
          </p:cNvPr>
          <p:cNvSpPr txBox="1"/>
          <p:nvPr/>
        </p:nvSpPr>
        <p:spPr>
          <a:xfrm>
            <a:off x="4039083" y="1606466"/>
            <a:ext cx="2727877" cy="70788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DE" sz="800" dirty="0"/>
              <a:t>Content-Type: </a:t>
            </a:r>
            <a:r>
              <a:rPr lang="de-DE" sz="800" dirty="0" err="1"/>
              <a:t>application</a:t>
            </a:r>
            <a:r>
              <a:rPr lang="de-DE" sz="800" dirty="0"/>
              <a:t>/</a:t>
            </a:r>
            <a:r>
              <a:rPr lang="de-DE" sz="800" dirty="0" err="1"/>
              <a:t>json</a:t>
            </a:r>
            <a:endParaRPr lang="de-DE" sz="800" dirty="0"/>
          </a:p>
          <a:p>
            <a:r>
              <a:rPr lang="de-DE" sz="800" dirty="0" err="1"/>
              <a:t>Accept</a:t>
            </a:r>
            <a:r>
              <a:rPr lang="de-DE" sz="800" dirty="0"/>
              <a:t>: </a:t>
            </a:r>
            <a:r>
              <a:rPr lang="de-DE" sz="800" dirty="0" err="1"/>
              <a:t>application</a:t>
            </a:r>
            <a:r>
              <a:rPr lang="de-DE" sz="800" dirty="0"/>
              <a:t>/</a:t>
            </a:r>
            <a:r>
              <a:rPr lang="de-DE" sz="800" dirty="0" err="1"/>
              <a:t>json</a:t>
            </a:r>
            <a:endParaRPr lang="de-DE" sz="800" dirty="0"/>
          </a:p>
          <a:p>
            <a:r>
              <a:rPr lang="de-DE" sz="800" dirty="0">
                <a:solidFill>
                  <a:srgbClr val="C81E82"/>
                </a:solidFill>
              </a:rPr>
              <a:t>X-BDEW-DIGEST: MEYCIQDn7vK2pX8mRtLsNwQzYcFbJdOeGiKpAsSv3nB1uWzYdAIhAP4vRVA7xH2sP3kLmN8qT1uWzYdFbJcOeGiKpQsSv2nA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B7E68D2B-F060-19BE-E908-94D14468182C}"/>
              </a:ext>
            </a:extLst>
          </p:cNvPr>
          <p:cNvSpPr txBox="1"/>
          <p:nvPr/>
        </p:nvSpPr>
        <p:spPr>
          <a:xfrm rot="16200000">
            <a:off x="3577418" y="1852687"/>
            <a:ext cx="707886" cy="21544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Header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472E1E3E-2807-8189-9B9F-542020D5D91E}"/>
              </a:ext>
            </a:extLst>
          </p:cNvPr>
          <p:cNvSpPr txBox="1"/>
          <p:nvPr/>
        </p:nvSpPr>
        <p:spPr>
          <a:xfrm rot="16200000">
            <a:off x="3740072" y="1258913"/>
            <a:ext cx="382579" cy="21544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URI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B700C08D-830D-0ADF-38EE-6BC692572CAC}"/>
              </a:ext>
            </a:extLst>
          </p:cNvPr>
          <p:cNvSpPr txBox="1"/>
          <p:nvPr/>
        </p:nvSpPr>
        <p:spPr>
          <a:xfrm rot="16200000">
            <a:off x="3202103" y="3401040"/>
            <a:ext cx="1465602" cy="214279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Payload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8F5CAB3F-DF5D-6EA6-BB1E-513083C25400}"/>
              </a:ext>
            </a:extLst>
          </p:cNvPr>
          <p:cNvSpPr/>
          <p:nvPr/>
        </p:nvSpPr>
        <p:spPr>
          <a:xfrm>
            <a:off x="7374849" y="2570221"/>
            <a:ext cx="2048980" cy="1799918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de-DE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BE0A082D-CFAF-A019-8AC5-8145F30FF090}"/>
              </a:ext>
            </a:extLst>
          </p:cNvPr>
          <p:cNvSpPr/>
          <p:nvPr/>
        </p:nvSpPr>
        <p:spPr>
          <a:xfrm>
            <a:off x="4042906" y="2779710"/>
            <a:ext cx="2732095" cy="1461272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de-DE" sz="800" dirty="0">
                <a:solidFill>
                  <a:srgbClr val="C81E82"/>
                </a:solidFill>
              </a:rPr>
              <a:t>{</a:t>
            </a:r>
            <a:r>
              <a:rPr lang="de-DE" sz="800" dirty="0" err="1">
                <a:solidFill>
                  <a:srgbClr val="C81E82"/>
                </a:solidFill>
              </a:rPr>
              <a:t>meta</a:t>
            </a:r>
            <a:r>
              <a:rPr lang="de-DE" sz="800" dirty="0">
                <a:solidFill>
                  <a:srgbClr val="C81E82"/>
                </a:solidFill>
              </a:rPr>
              <a:t>:{"</a:t>
            </a:r>
            <a:r>
              <a:rPr lang="de-DE" sz="800" dirty="0" err="1">
                <a:solidFill>
                  <a:srgbClr val="C81E82"/>
                </a:solidFill>
              </a:rPr>
              <a:t>senderId</a:t>
            </a:r>
            <a:r>
              <a:rPr lang="de-DE" sz="800" dirty="0">
                <a:solidFill>
                  <a:srgbClr val="C81E82"/>
                </a:solidFill>
              </a:rPr>
              <a:t>": "1234567890123", "</a:t>
            </a:r>
            <a:r>
              <a:rPr lang="de-DE" sz="800" dirty="0" err="1">
                <a:solidFill>
                  <a:srgbClr val="C81E82"/>
                </a:solidFill>
              </a:rPr>
              <a:t>receiverId</a:t>
            </a:r>
            <a:r>
              <a:rPr lang="de-DE" sz="800" dirty="0">
                <a:solidFill>
                  <a:srgbClr val="C81E82"/>
                </a:solidFill>
              </a:rPr>
              <a:t>": "9999999999999","transactionId": "12345678-1234-1234-1234-123456789012","initialTransactionId": "12345678-1234-1234-1234-123456789012", "</a:t>
            </a:r>
            <a:r>
              <a:rPr lang="de-DE" sz="800" dirty="0" err="1">
                <a:solidFill>
                  <a:srgbClr val="C81E82"/>
                </a:solidFill>
              </a:rPr>
              <a:t>referenceId</a:t>
            </a:r>
            <a:r>
              <a:rPr lang="de-DE" sz="800" dirty="0">
                <a:solidFill>
                  <a:srgbClr val="C81E82"/>
                </a:solidFill>
              </a:rPr>
              <a:t>": "12345678-1234-1234-1234123456789012","creationDateTime": "2026-04-01 12:00:00.000000Z",</a:t>
            </a:r>
          </a:p>
          <a:p>
            <a:r>
              <a:rPr lang="de-DE" sz="800" dirty="0">
                <a:solidFill>
                  <a:srgbClr val="FF0000"/>
                </a:solidFill>
              </a:rPr>
              <a:t>},</a:t>
            </a:r>
          </a:p>
          <a:p>
            <a:r>
              <a:rPr lang="de-DE" sz="800" dirty="0"/>
              <a:t>"</a:t>
            </a:r>
            <a:r>
              <a:rPr lang="de-DE" sz="800" dirty="0" err="1"/>
              <a:t>data</a:t>
            </a:r>
            <a:r>
              <a:rPr lang="de-DE" sz="800" dirty="0"/>
              <a:t>": </a:t>
            </a:r>
          </a:p>
          <a:p>
            <a:r>
              <a:rPr lang="de-DE" sz="800" dirty="0"/>
              <a:t>{ “</a:t>
            </a:r>
            <a:r>
              <a:rPr lang="de-DE" sz="800" dirty="0" err="1"/>
              <a:t>address</a:t>
            </a:r>
            <a:r>
              <a:rPr lang="de-DE" sz="800" dirty="0"/>
              <a:t>“: {"</a:t>
            </a:r>
            <a:r>
              <a:rPr lang="de-DE" sz="800" dirty="0" err="1"/>
              <a:t>zip</a:t>
            </a:r>
            <a:r>
              <a:rPr lang="de-DE" sz="800" dirty="0"/>
              <a:t>": 80001 }, “</a:t>
            </a:r>
            <a:r>
              <a:rPr lang="de-DE" sz="800" dirty="0" err="1"/>
              <a:t>customerNumber</a:t>
            </a:r>
            <a:r>
              <a:rPr lang="de-DE" sz="800" dirty="0"/>
              <a:t>“: 6024997 </a:t>
            </a:r>
          </a:p>
          <a:p>
            <a:r>
              <a:rPr lang="de-DE" sz="800" dirty="0"/>
              <a:t>}</a:t>
            </a:r>
          </a:p>
          <a:p>
            <a:r>
              <a:rPr lang="de-DE" sz="800" dirty="0">
                <a:solidFill>
                  <a:srgbClr val="C81E82"/>
                </a:solidFill>
              </a:rPr>
              <a:t>},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DDE130E9-0549-0283-362F-62A0B26D3800}"/>
              </a:ext>
            </a:extLst>
          </p:cNvPr>
          <p:cNvSpPr txBox="1"/>
          <p:nvPr/>
        </p:nvSpPr>
        <p:spPr>
          <a:xfrm>
            <a:off x="6858003" y="1613507"/>
            <a:ext cx="2067760" cy="707886"/>
          </a:xfrm>
          <a:prstGeom prst="rect">
            <a:avLst/>
          </a:prstGeom>
          <a:solidFill>
            <a:srgbClr val="FFFF00"/>
          </a:solidFill>
        </p:spPr>
        <p:txBody>
          <a:bodyPr wrap="square" rIns="0" rtlCol="0">
            <a:spAutoFit/>
          </a:bodyPr>
          <a:lstStyle/>
          <a:p>
            <a:pPr>
              <a:spcBef>
                <a:spcPts val="600"/>
              </a:spcBef>
            </a:pPr>
            <a:r>
              <a:rPr lang="de-DE" sz="1000" dirty="0">
                <a:highlight>
                  <a:srgbClr val="FFFF00"/>
                </a:highlight>
              </a:rPr>
              <a:t>Mit RFC 9530 wird der heutige </a:t>
            </a:r>
            <a:r>
              <a:rPr lang="de-DE" sz="1000" i="1" dirty="0">
                <a:highlight>
                  <a:srgbClr val="FFFF00"/>
                </a:highlight>
              </a:rPr>
              <a:t>proprietäre </a:t>
            </a:r>
            <a:r>
              <a:rPr lang="de-DE" sz="1000" dirty="0">
                <a:highlight>
                  <a:srgbClr val="FFFF00"/>
                </a:highlight>
              </a:rPr>
              <a:t>„</a:t>
            </a:r>
            <a:r>
              <a:rPr lang="de-DE" sz="1000" dirty="0">
                <a:solidFill>
                  <a:srgbClr val="C81E82"/>
                </a:solidFill>
                <a:highlight>
                  <a:srgbClr val="FFFF00"/>
                </a:highlight>
              </a:rPr>
              <a:t>X-BDEW-DIGEST</a:t>
            </a:r>
            <a:r>
              <a:rPr lang="de-DE" sz="1000" dirty="0">
                <a:highlight>
                  <a:srgbClr val="FFFF00"/>
                </a:highlight>
              </a:rPr>
              <a:t>“ ersetzt durch standardisierten „</a:t>
            </a:r>
            <a:r>
              <a:rPr lang="de-DE" sz="1000" dirty="0">
                <a:solidFill>
                  <a:srgbClr val="00875A"/>
                </a:solidFill>
                <a:highlight>
                  <a:srgbClr val="FFFF00"/>
                </a:highlight>
              </a:rPr>
              <a:t>Content-Digest</a:t>
            </a:r>
            <a:r>
              <a:rPr lang="de-DE" sz="1000" dirty="0">
                <a:highlight>
                  <a:srgbClr val="FFFF00"/>
                </a:highlight>
              </a:rPr>
              <a:t>“.</a:t>
            </a: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D0404697-8D38-4DA2-3C8A-DCF7228D793F}"/>
              </a:ext>
            </a:extLst>
          </p:cNvPr>
          <p:cNvSpPr txBox="1"/>
          <p:nvPr/>
        </p:nvSpPr>
        <p:spPr>
          <a:xfrm>
            <a:off x="6902134" y="2750083"/>
            <a:ext cx="2023629" cy="86177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spcBef>
                <a:spcPts val="600"/>
              </a:spcBef>
              <a:defRPr sz="700">
                <a:solidFill>
                  <a:srgbClr val="00875A"/>
                </a:solidFill>
              </a:defRPr>
            </a:lvl1pPr>
          </a:lstStyle>
          <a:p>
            <a:r>
              <a:rPr lang="de-DE" sz="1000" dirty="0">
                <a:solidFill>
                  <a:schemeClr val="tx1"/>
                </a:solidFill>
                <a:highlight>
                  <a:srgbClr val="FFFF00"/>
                </a:highlight>
              </a:rPr>
              <a:t>Mit RFC 9421 entfällt </a:t>
            </a:r>
            <a:r>
              <a:rPr lang="de-DE" sz="1000" i="1" dirty="0">
                <a:solidFill>
                  <a:schemeClr val="tx1"/>
                </a:solidFill>
                <a:highlight>
                  <a:srgbClr val="FFFF00"/>
                </a:highlight>
              </a:rPr>
              <a:t>proprietäre </a:t>
            </a:r>
            <a:r>
              <a:rPr lang="de-DE" sz="1000" dirty="0">
                <a:solidFill>
                  <a:srgbClr val="C81E82"/>
                </a:solidFill>
                <a:highlight>
                  <a:srgbClr val="FFFF00"/>
                </a:highlight>
              </a:rPr>
              <a:t>JSON-Struktur für </a:t>
            </a:r>
            <a:r>
              <a:rPr lang="de-DE" sz="1000" dirty="0" err="1">
                <a:solidFill>
                  <a:srgbClr val="C81E82"/>
                </a:solidFill>
                <a:highlight>
                  <a:srgbClr val="FFFF00"/>
                </a:highlight>
              </a:rPr>
              <a:t>signaturrele-vante</a:t>
            </a:r>
            <a:r>
              <a:rPr lang="de-DE" sz="1000" dirty="0">
                <a:solidFill>
                  <a:srgbClr val="C81E82"/>
                </a:solidFill>
                <a:highlight>
                  <a:srgbClr val="FFFF00"/>
                </a:highlight>
              </a:rPr>
              <a:t> Parameter </a:t>
            </a:r>
            <a:r>
              <a:rPr lang="de-DE" sz="1000" dirty="0">
                <a:solidFill>
                  <a:schemeClr val="tx1"/>
                </a:solidFill>
                <a:highlight>
                  <a:srgbClr val="FFFF00"/>
                </a:highlight>
              </a:rPr>
              <a:t>durch standardisierte „</a:t>
            </a:r>
            <a:r>
              <a:rPr lang="de-DE" sz="1000" dirty="0" err="1">
                <a:highlight>
                  <a:srgbClr val="FFFF00"/>
                </a:highlight>
              </a:rPr>
              <a:t>Signature</a:t>
            </a:r>
            <a:r>
              <a:rPr lang="de-DE" sz="1000" dirty="0">
                <a:highlight>
                  <a:srgbClr val="FFFF00"/>
                </a:highlight>
              </a:rPr>
              <a:t>-Input:“ </a:t>
            </a:r>
            <a:r>
              <a:rPr lang="de-DE" sz="1000" dirty="0">
                <a:solidFill>
                  <a:schemeClr val="tx1"/>
                </a:solidFill>
                <a:highlight>
                  <a:srgbClr val="FFFF00"/>
                </a:highlight>
              </a:rPr>
              <a:t>und „</a:t>
            </a:r>
            <a:r>
              <a:rPr lang="de-DE" sz="1000" dirty="0" err="1">
                <a:highlight>
                  <a:srgbClr val="FFFF00"/>
                </a:highlight>
              </a:rPr>
              <a:t>Signature</a:t>
            </a:r>
            <a:r>
              <a:rPr lang="de-DE" sz="1000" dirty="0">
                <a:highlight>
                  <a:srgbClr val="FFFF00"/>
                </a:highlight>
              </a:rPr>
              <a:t>:</a:t>
            </a:r>
            <a:r>
              <a:rPr lang="de-DE" sz="1000" dirty="0">
                <a:solidFill>
                  <a:schemeClr val="tx1"/>
                </a:solidFill>
                <a:highlight>
                  <a:srgbClr val="FFFF00"/>
                </a:highlight>
              </a:rPr>
              <a:t>“.</a:t>
            </a:r>
          </a:p>
        </p:txBody>
      </p:sp>
      <p:sp>
        <p:nvSpPr>
          <p:cNvPr id="64" name="Rechteck: abgerundete Ecken 63">
            <a:extLst>
              <a:ext uri="{FF2B5EF4-FFF2-40B4-BE49-F238E27FC236}">
                <a16:creationId xmlns:a16="http://schemas.microsoft.com/office/drawing/2014/main" id="{40727FFE-CF3D-E191-37B6-48B1C2411991}"/>
              </a:ext>
            </a:extLst>
          </p:cNvPr>
          <p:cNvSpPr/>
          <p:nvPr/>
        </p:nvSpPr>
        <p:spPr bwMode="gray">
          <a:xfrm>
            <a:off x="590028" y="955613"/>
            <a:ext cx="2534400" cy="4100588"/>
          </a:xfrm>
          <a:prstGeom prst="roundRect">
            <a:avLst>
              <a:gd name="adj" fmla="val 6875"/>
            </a:avLst>
          </a:prstGeom>
          <a:solidFill>
            <a:srgbClr val="64B42D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16000" tIns="0" rIns="180000" bIns="2304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de-DE" sz="1100" b="1" dirty="0">
                <a:solidFill>
                  <a:schemeClr val="tx1"/>
                </a:solidFill>
              </a:rPr>
              <a:t>HTTP Header Signatur</a:t>
            </a:r>
            <a:endParaRPr lang="de-DE" sz="1100" dirty="0">
              <a:solidFill>
                <a:schemeClr val="tx1"/>
              </a:solidFill>
            </a:endParaRPr>
          </a:p>
        </p:txBody>
      </p:sp>
      <p:sp>
        <p:nvSpPr>
          <p:cNvPr id="65" name="Foliennummernplatzhalter 3">
            <a:extLst>
              <a:ext uri="{FF2B5EF4-FFF2-40B4-BE49-F238E27FC236}">
                <a16:creationId xmlns:a16="http://schemas.microsoft.com/office/drawing/2014/main" id="{68429046-2B92-11EE-D326-62838904FBCD}"/>
              </a:ext>
            </a:extLst>
          </p:cNvPr>
          <p:cNvSpPr txBox="1">
            <a:spLocks/>
          </p:cNvSpPr>
          <p:nvPr/>
        </p:nvSpPr>
        <p:spPr bwMode="gray">
          <a:xfrm>
            <a:off x="1142855" y="4034141"/>
            <a:ext cx="588785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05F51B1-EF07-4A0A-8ED6-43388CBBB34F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67" name="Rechteck 66">
            <a:extLst>
              <a:ext uri="{FF2B5EF4-FFF2-40B4-BE49-F238E27FC236}">
                <a16:creationId xmlns:a16="http://schemas.microsoft.com/office/drawing/2014/main" id="{46ACA250-06B0-28E8-2E29-E3B6CFDCD752}"/>
              </a:ext>
            </a:extLst>
          </p:cNvPr>
          <p:cNvSpPr/>
          <p:nvPr/>
        </p:nvSpPr>
        <p:spPr>
          <a:xfrm>
            <a:off x="946993" y="1210953"/>
            <a:ext cx="2048980" cy="38366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de-DE" sz="800" dirty="0"/>
              <a:t>POST /</a:t>
            </a:r>
            <a:r>
              <a:rPr lang="de-DE" sz="800" dirty="0" err="1"/>
              <a:t>malo</a:t>
            </a:r>
            <a:r>
              <a:rPr lang="de-DE" sz="800" dirty="0"/>
              <a:t>/ident HTTP/2</a:t>
            </a: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E49FB44F-8A9E-CCC5-B1E8-CA1C7045638D}"/>
              </a:ext>
            </a:extLst>
          </p:cNvPr>
          <p:cNvSpPr txBox="1"/>
          <p:nvPr/>
        </p:nvSpPr>
        <p:spPr>
          <a:xfrm>
            <a:off x="940602" y="1638991"/>
            <a:ext cx="2055371" cy="95410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de-DE" sz="800" dirty="0"/>
              <a:t>Host: mabishub.com</a:t>
            </a:r>
          </a:p>
          <a:p>
            <a:r>
              <a:rPr lang="de-DE" sz="800" dirty="0"/>
              <a:t>Content-Type: </a:t>
            </a:r>
            <a:r>
              <a:rPr lang="de-DE" sz="800" dirty="0" err="1"/>
              <a:t>application</a:t>
            </a:r>
            <a:r>
              <a:rPr lang="de-DE" sz="800" dirty="0"/>
              <a:t>/</a:t>
            </a:r>
            <a:r>
              <a:rPr lang="de-DE" sz="800" dirty="0" err="1"/>
              <a:t>json</a:t>
            </a:r>
            <a:endParaRPr lang="de-DE" sz="800" dirty="0"/>
          </a:p>
          <a:p>
            <a:r>
              <a:rPr lang="de-DE" sz="800" dirty="0" err="1"/>
              <a:t>Accept</a:t>
            </a:r>
            <a:r>
              <a:rPr lang="de-DE" sz="800" dirty="0"/>
              <a:t>: </a:t>
            </a:r>
            <a:r>
              <a:rPr lang="de-DE" sz="800" dirty="0" err="1"/>
              <a:t>application</a:t>
            </a:r>
            <a:r>
              <a:rPr lang="de-DE" sz="800" dirty="0"/>
              <a:t>/</a:t>
            </a:r>
            <a:r>
              <a:rPr lang="de-DE" sz="800" dirty="0" err="1"/>
              <a:t>json</a:t>
            </a:r>
            <a:endParaRPr lang="de-DE" sz="800" dirty="0"/>
          </a:p>
          <a:p>
            <a:r>
              <a:rPr lang="de-DE" sz="800" dirty="0"/>
              <a:t>Date: Sun, 01 Jun 2026 10:15:30 GMT</a:t>
            </a:r>
          </a:p>
          <a:p>
            <a:r>
              <a:rPr lang="de-DE" sz="800" dirty="0"/>
              <a:t>X-Request-</a:t>
            </a:r>
            <a:r>
              <a:rPr lang="de-DE" sz="800" dirty="0" err="1"/>
              <a:t>Id</a:t>
            </a:r>
            <a:r>
              <a:rPr lang="de-DE" sz="800" dirty="0"/>
              <a:t>: 7b5d3e2a-4c1a-4c0b-xd99</a:t>
            </a:r>
          </a:p>
          <a:p>
            <a:r>
              <a:rPr lang="de-DE" sz="800" dirty="0"/>
              <a:t>X-</a:t>
            </a:r>
            <a:r>
              <a:rPr lang="de-DE" sz="800" dirty="0" err="1"/>
              <a:t>Api</a:t>
            </a:r>
            <a:r>
              <a:rPr lang="de-DE" sz="800" dirty="0"/>
              <a:t>-</a:t>
            </a:r>
            <a:r>
              <a:rPr lang="de-DE" sz="800" dirty="0" err="1"/>
              <a:t>Spec-Ref</a:t>
            </a:r>
            <a:r>
              <a:rPr lang="de-DE" sz="800" dirty="0"/>
              <a:t>: </a:t>
            </a:r>
            <a:r>
              <a:rPr lang="de-DE" sz="800" dirty="0" err="1"/>
              <a:t>git:EDI-Energy</a:t>
            </a:r>
            <a:r>
              <a:rPr lang="de-DE" sz="800" dirty="0"/>
              <a:t>/</a:t>
            </a:r>
            <a:r>
              <a:rPr lang="de-DE" sz="800" dirty="0" err="1"/>
              <a:t>api-electricity</a:t>
            </a:r>
            <a:endParaRPr lang="de-DE" sz="800" dirty="0"/>
          </a:p>
          <a:p>
            <a:r>
              <a:rPr lang="de-DE" sz="800" dirty="0"/>
              <a:t>X-</a:t>
            </a:r>
            <a:r>
              <a:rPr lang="de-DE" sz="800" dirty="0" err="1"/>
              <a:t>Api</a:t>
            </a:r>
            <a:r>
              <a:rPr lang="de-DE" sz="800" dirty="0"/>
              <a:t>-</a:t>
            </a:r>
            <a:r>
              <a:rPr lang="de-DE" sz="800" dirty="0" err="1"/>
              <a:t>Spec</a:t>
            </a:r>
            <a:r>
              <a:rPr lang="de-DE" sz="800" dirty="0"/>
              <a:t>-Version: 1.2</a:t>
            </a:r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7EB944A3-7F59-314F-E926-BD09A0F763EA}"/>
              </a:ext>
            </a:extLst>
          </p:cNvPr>
          <p:cNvSpPr txBox="1"/>
          <p:nvPr/>
        </p:nvSpPr>
        <p:spPr>
          <a:xfrm rot="16200000">
            <a:off x="-493227" y="2856824"/>
            <a:ext cx="2640269" cy="215444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800" dirty="0">
                <a:solidFill>
                  <a:srgbClr val="00875A"/>
                </a:solidFill>
              </a:rPr>
              <a:t>Header</a:t>
            </a:r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0A37CC33-35C6-EF93-0DA6-6EC1D60894F5}"/>
              </a:ext>
            </a:extLst>
          </p:cNvPr>
          <p:cNvSpPr txBox="1"/>
          <p:nvPr/>
        </p:nvSpPr>
        <p:spPr>
          <a:xfrm rot="16200000">
            <a:off x="639483" y="1295064"/>
            <a:ext cx="383663" cy="215444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800" dirty="0">
                <a:solidFill>
                  <a:srgbClr val="00875A"/>
                </a:solidFill>
              </a:rPr>
              <a:t>URI</a:t>
            </a:r>
          </a:p>
        </p:txBody>
      </p:sp>
      <p:sp>
        <p:nvSpPr>
          <p:cNvPr id="71" name="Textfeld 70">
            <a:extLst>
              <a:ext uri="{FF2B5EF4-FFF2-40B4-BE49-F238E27FC236}">
                <a16:creationId xmlns:a16="http://schemas.microsoft.com/office/drawing/2014/main" id="{5473341C-684E-6636-3A2F-56BFFEE08EDB}"/>
              </a:ext>
            </a:extLst>
          </p:cNvPr>
          <p:cNvSpPr txBox="1"/>
          <p:nvPr/>
        </p:nvSpPr>
        <p:spPr>
          <a:xfrm rot="16200000">
            <a:off x="534520" y="4510063"/>
            <a:ext cx="587355" cy="215444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800" dirty="0">
                <a:solidFill>
                  <a:srgbClr val="00875A"/>
                </a:solidFill>
              </a:rPr>
              <a:t>Payload</a:t>
            </a:r>
          </a:p>
        </p:txBody>
      </p:sp>
      <p:sp>
        <p:nvSpPr>
          <p:cNvPr id="72" name="Rechteck 71">
            <a:extLst>
              <a:ext uri="{FF2B5EF4-FFF2-40B4-BE49-F238E27FC236}">
                <a16:creationId xmlns:a16="http://schemas.microsoft.com/office/drawing/2014/main" id="{889E9CCB-30C0-E055-0B36-884114955513}"/>
              </a:ext>
            </a:extLst>
          </p:cNvPr>
          <p:cNvSpPr/>
          <p:nvPr/>
        </p:nvSpPr>
        <p:spPr>
          <a:xfrm>
            <a:off x="946993" y="2632346"/>
            <a:ext cx="2048980" cy="1799918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de-DE"/>
          </a:p>
        </p:txBody>
      </p:sp>
      <p:sp>
        <p:nvSpPr>
          <p:cNvPr id="73" name="Rechteck 72">
            <a:extLst>
              <a:ext uri="{FF2B5EF4-FFF2-40B4-BE49-F238E27FC236}">
                <a16:creationId xmlns:a16="http://schemas.microsoft.com/office/drawing/2014/main" id="{00E45F12-97A7-465A-CF9D-5CAA73397B84}"/>
              </a:ext>
            </a:extLst>
          </p:cNvPr>
          <p:cNvSpPr/>
          <p:nvPr/>
        </p:nvSpPr>
        <p:spPr>
          <a:xfrm>
            <a:off x="943182" y="4324108"/>
            <a:ext cx="2063473" cy="58735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de-DE" sz="800"/>
              <a:t>{</a:t>
            </a:r>
          </a:p>
          <a:p>
            <a:r>
              <a:rPr lang="de-DE" sz="800"/>
              <a:t>  “address“: {"zip": 80001 },</a:t>
            </a:r>
          </a:p>
          <a:p>
            <a:r>
              <a:rPr lang="de-DE" sz="800"/>
              <a:t>  “customerNumber“: 6024997 </a:t>
            </a:r>
          </a:p>
          <a:p>
            <a:r>
              <a:rPr lang="de-DE" sz="800"/>
              <a:t>}</a:t>
            </a:r>
            <a:endParaRPr lang="de-DE" sz="800" dirty="0"/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14C1DC14-8C5F-C49A-4990-24432C98EB6A}"/>
              </a:ext>
            </a:extLst>
          </p:cNvPr>
          <p:cNvSpPr txBox="1"/>
          <p:nvPr/>
        </p:nvSpPr>
        <p:spPr>
          <a:xfrm>
            <a:off x="940602" y="2591910"/>
            <a:ext cx="2055371" cy="169277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DE" sz="800" b="1" dirty="0">
                <a:solidFill>
                  <a:srgbClr val="00875A"/>
                </a:solidFill>
              </a:rPr>
              <a:t>Content-Digest: </a:t>
            </a:r>
            <a:r>
              <a:rPr lang="de-DE" sz="800" dirty="0"/>
              <a:t>sha-256=:X4vRVA7xH2sP3kLmN8qT1uWzYdFbJcOeGiKpQsSv2nA=: </a:t>
            </a:r>
          </a:p>
          <a:p>
            <a:r>
              <a:rPr lang="de-DE" sz="800" b="1" dirty="0" err="1">
                <a:solidFill>
                  <a:srgbClr val="00875A"/>
                </a:solidFill>
              </a:rPr>
              <a:t>Signature</a:t>
            </a:r>
            <a:r>
              <a:rPr lang="de-DE" sz="800" b="1" dirty="0">
                <a:solidFill>
                  <a:srgbClr val="00875A"/>
                </a:solidFill>
              </a:rPr>
              <a:t>-Input: </a:t>
            </a:r>
            <a:r>
              <a:rPr lang="de-DE" sz="800" dirty="0"/>
              <a:t>sig1=("</a:t>
            </a:r>
            <a:r>
              <a:rPr lang="de-DE" sz="800" dirty="0">
                <a:solidFill>
                  <a:srgbClr val="00875A"/>
                </a:solidFill>
              </a:rPr>
              <a:t>@</a:t>
            </a:r>
            <a:r>
              <a:rPr lang="de-DE" sz="800" dirty="0" err="1">
                <a:solidFill>
                  <a:srgbClr val="00875A"/>
                </a:solidFill>
              </a:rPr>
              <a:t>method</a:t>
            </a:r>
            <a:r>
              <a:rPr lang="de-DE" sz="800" dirty="0"/>
              <a:t>“: POST "@</a:t>
            </a:r>
            <a:r>
              <a:rPr lang="de-DE" sz="800" dirty="0" err="1"/>
              <a:t>path</a:t>
            </a:r>
            <a:r>
              <a:rPr lang="de-DE" sz="800" dirty="0"/>
              <a:t>“:  /</a:t>
            </a:r>
            <a:r>
              <a:rPr lang="de-DE" sz="800" dirty="0" err="1"/>
              <a:t>malo</a:t>
            </a:r>
            <a:r>
              <a:rPr lang="de-DE" sz="800" dirty="0"/>
              <a:t>/ident "@</a:t>
            </a:r>
            <a:r>
              <a:rPr lang="de-DE" sz="800" dirty="0" err="1"/>
              <a:t>authority</a:t>
            </a:r>
            <a:r>
              <a:rPr lang="de-DE" sz="800" dirty="0"/>
              <a:t>“: mabishub.com "</a:t>
            </a:r>
            <a:r>
              <a:rPr lang="de-DE" sz="800" dirty="0" err="1"/>
              <a:t>content</a:t>
            </a:r>
            <a:r>
              <a:rPr lang="de-DE" sz="800" dirty="0"/>
              <a:t>-type“: </a:t>
            </a:r>
            <a:r>
              <a:rPr lang="de-DE" sz="800" dirty="0" err="1"/>
              <a:t>application</a:t>
            </a:r>
            <a:r>
              <a:rPr lang="de-DE" sz="800" dirty="0"/>
              <a:t>/</a:t>
            </a:r>
            <a:r>
              <a:rPr lang="de-DE" sz="800" dirty="0" err="1"/>
              <a:t>json</a:t>
            </a:r>
            <a:r>
              <a:rPr lang="de-DE" sz="800" dirty="0"/>
              <a:t> ……......…); </a:t>
            </a:r>
            <a:r>
              <a:rPr lang="de-DE" sz="800" dirty="0" err="1"/>
              <a:t>created</a:t>
            </a:r>
            <a:r>
              <a:rPr lang="de-DE" sz="800" dirty="0"/>
              <a:t>=………..</a:t>
            </a:r>
            <a:br>
              <a:rPr lang="de-DE" sz="800" dirty="0"/>
            </a:br>
            <a:r>
              <a:rPr lang="de-DE" sz="800" dirty="0"/>
              <a:t>; </a:t>
            </a:r>
            <a:r>
              <a:rPr lang="de-DE" sz="800" dirty="0" err="1"/>
              <a:t>alg</a:t>
            </a:r>
            <a:r>
              <a:rPr lang="de-DE" sz="800" dirty="0"/>
              <a:t>="ecdsa-p256-sha256"</a:t>
            </a:r>
          </a:p>
          <a:p>
            <a:r>
              <a:rPr lang="de-DE" sz="800" b="1" dirty="0" err="1">
                <a:solidFill>
                  <a:srgbClr val="00875A"/>
                </a:solidFill>
              </a:rPr>
              <a:t>Signature</a:t>
            </a:r>
            <a:r>
              <a:rPr lang="de-DE" sz="800" b="1" dirty="0">
                <a:solidFill>
                  <a:srgbClr val="00875A"/>
                </a:solidFill>
              </a:rPr>
              <a:t>: </a:t>
            </a:r>
            <a:r>
              <a:rPr lang="de-DE" sz="800" dirty="0"/>
              <a:t>sig1=:MEUCIQCx9vK2pX8mRtLsNwQzYcFbJdOeGiKpAsSv3nB1uWzYdA IgAP4vRVA7xH2sP3kLmN8qT1uWzYdFbJcOeGiKpQsSv2nABC:</a:t>
            </a:r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F5BCDEAB-FCE5-13EE-5F2B-29B5F34A84D0}"/>
              </a:ext>
            </a:extLst>
          </p:cNvPr>
          <p:cNvSpPr txBox="1"/>
          <p:nvPr/>
        </p:nvSpPr>
        <p:spPr>
          <a:xfrm>
            <a:off x="4303946" y="4034141"/>
            <a:ext cx="2355655" cy="71558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spcBef>
                <a:spcPts val="600"/>
              </a:spcBef>
              <a:defRPr sz="700">
                <a:solidFill>
                  <a:srgbClr val="00875A"/>
                </a:solidFill>
              </a:defRPr>
            </a:lvl1pPr>
          </a:lstStyle>
          <a:p>
            <a:r>
              <a:rPr lang="de-DE" sz="1000" dirty="0">
                <a:solidFill>
                  <a:srgbClr val="C81E82"/>
                </a:solidFill>
                <a:highlight>
                  <a:srgbClr val="FFFF00"/>
                </a:highlight>
              </a:rPr>
              <a:t>Die Auswertung meta-Struktur muss individuell programmiert werden </a:t>
            </a:r>
            <a:r>
              <a:rPr lang="de-DE" sz="1000" dirty="0">
                <a:solidFill>
                  <a:schemeClr val="tx1"/>
                </a:solidFill>
                <a:highlight>
                  <a:srgbClr val="FFFF00"/>
                </a:highlight>
              </a:rPr>
              <a:t>und erfolgt nicht standardisiert / automatisch mit </a:t>
            </a:r>
            <a:r>
              <a:rPr lang="de-DE" sz="1000" dirty="0">
                <a:highlight>
                  <a:srgbClr val="FFFF00"/>
                </a:highlight>
              </a:rPr>
              <a:t>HTTP Header </a:t>
            </a:r>
            <a:r>
              <a:rPr lang="de-DE" sz="1050" dirty="0">
                <a:highlight>
                  <a:srgbClr val="FFFF00"/>
                </a:highlight>
              </a:rPr>
              <a:t>Signatur</a:t>
            </a:r>
            <a:r>
              <a:rPr lang="de-DE" sz="1000" dirty="0">
                <a:highlight>
                  <a:srgbClr val="FFFF00"/>
                </a:highlight>
              </a:rPr>
              <a:t> (RFC 9241).</a:t>
            </a:r>
          </a:p>
        </p:txBody>
      </p:sp>
      <p:sp>
        <p:nvSpPr>
          <p:cNvPr id="76" name="Textfeld 75">
            <a:extLst>
              <a:ext uri="{FF2B5EF4-FFF2-40B4-BE49-F238E27FC236}">
                <a16:creationId xmlns:a16="http://schemas.microsoft.com/office/drawing/2014/main" id="{A235FBF3-7F7E-818C-5BD6-32E720B392B3}"/>
              </a:ext>
            </a:extLst>
          </p:cNvPr>
          <p:cNvSpPr txBox="1"/>
          <p:nvPr/>
        </p:nvSpPr>
        <p:spPr>
          <a:xfrm>
            <a:off x="6920641" y="4001377"/>
            <a:ext cx="2156973" cy="86177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spcBef>
                <a:spcPts val="600"/>
              </a:spcBef>
              <a:defRPr sz="700">
                <a:solidFill>
                  <a:srgbClr val="00875A"/>
                </a:solidFill>
              </a:defRPr>
            </a:lvl1pPr>
          </a:lstStyle>
          <a:p>
            <a:r>
              <a:rPr lang="de-DE" sz="1000" dirty="0">
                <a:solidFill>
                  <a:srgbClr val="C81E82"/>
                </a:solidFill>
                <a:highlight>
                  <a:srgbClr val="FFFF00"/>
                </a:highlight>
              </a:rPr>
              <a:t>In der vorgeschlagenen Payload-Sig. findet eine Vermischung von Steuerungsdaten und Inhaltsdaten statt</a:t>
            </a:r>
            <a:r>
              <a:rPr lang="de-DE" sz="1000" dirty="0">
                <a:highlight>
                  <a:srgbClr val="FFFF00"/>
                </a:highlight>
              </a:rPr>
              <a:t>. </a:t>
            </a:r>
            <a:r>
              <a:rPr lang="de-DE" sz="1000" dirty="0">
                <a:solidFill>
                  <a:schemeClr val="tx1"/>
                </a:solidFill>
                <a:highlight>
                  <a:srgbClr val="FFFF00"/>
                </a:highlight>
              </a:rPr>
              <a:t>Mit RFC 9421  bleiben </a:t>
            </a:r>
            <a:r>
              <a:rPr lang="de-DE" sz="1000" dirty="0">
                <a:highlight>
                  <a:srgbClr val="FFFF00"/>
                </a:highlight>
              </a:rPr>
              <a:t>Header</a:t>
            </a:r>
            <a:r>
              <a:rPr lang="de-DE" sz="1000" dirty="0">
                <a:solidFill>
                  <a:schemeClr val="tx1"/>
                </a:solidFill>
                <a:highlight>
                  <a:srgbClr val="FFFF00"/>
                </a:highlight>
              </a:rPr>
              <a:t> und </a:t>
            </a:r>
            <a:r>
              <a:rPr lang="de-DE" sz="1000" dirty="0">
                <a:highlight>
                  <a:srgbClr val="FFFF00"/>
                </a:highlight>
              </a:rPr>
              <a:t>Payload</a:t>
            </a:r>
            <a:r>
              <a:rPr lang="de-DE" sz="1000" dirty="0">
                <a:solidFill>
                  <a:schemeClr val="tx1"/>
                </a:solidFill>
                <a:highlight>
                  <a:srgbClr val="FFFF00"/>
                </a:highlight>
              </a:rPr>
              <a:t> getrennt.</a:t>
            </a:r>
            <a:endParaRPr lang="de-DE" sz="1000" dirty="0">
              <a:highlight>
                <a:srgbClr val="FFFF00"/>
              </a:highlight>
            </a:endParaRPr>
          </a:p>
        </p:txBody>
      </p:sp>
      <p:sp>
        <p:nvSpPr>
          <p:cNvPr id="77" name="Textfeld 76">
            <a:extLst>
              <a:ext uri="{FF2B5EF4-FFF2-40B4-BE49-F238E27FC236}">
                <a16:creationId xmlns:a16="http://schemas.microsoft.com/office/drawing/2014/main" id="{7EFFFE88-82F5-7F32-A069-52A4CBCFFD28}"/>
              </a:ext>
            </a:extLst>
          </p:cNvPr>
          <p:cNvSpPr txBox="1"/>
          <p:nvPr/>
        </p:nvSpPr>
        <p:spPr>
          <a:xfrm>
            <a:off x="7088730" y="109055"/>
            <a:ext cx="1874249" cy="117724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spcBef>
                <a:spcPts val="600"/>
              </a:spcBef>
              <a:defRPr sz="700">
                <a:solidFill>
                  <a:srgbClr val="00875A"/>
                </a:solidFill>
              </a:defRPr>
            </a:lvl1pPr>
          </a:lstStyle>
          <a:p>
            <a:r>
              <a:rPr lang="de-DE" sz="1000" dirty="0">
                <a:solidFill>
                  <a:schemeClr val="tx1"/>
                </a:solidFill>
                <a:highlight>
                  <a:srgbClr val="FFFF00"/>
                </a:highlight>
              </a:rPr>
              <a:t>Mit HTTP Header Signatur RFC 9421 sind alle drei Bereiche </a:t>
            </a:r>
            <a:r>
              <a:rPr lang="de-DE" sz="1000" dirty="0">
                <a:highlight>
                  <a:srgbClr val="FFFF00"/>
                </a:highlight>
              </a:rPr>
              <a:t>URI</a:t>
            </a:r>
            <a:r>
              <a:rPr lang="de-DE" sz="1000" dirty="0">
                <a:solidFill>
                  <a:schemeClr val="tx1"/>
                </a:solidFill>
                <a:highlight>
                  <a:srgbClr val="FFFF00"/>
                </a:highlight>
              </a:rPr>
              <a:t>, </a:t>
            </a:r>
            <a:r>
              <a:rPr lang="de-DE" sz="1000" dirty="0">
                <a:highlight>
                  <a:srgbClr val="FFFF00"/>
                </a:highlight>
              </a:rPr>
              <a:t>Header</a:t>
            </a:r>
            <a:r>
              <a:rPr lang="de-DE" sz="1000" dirty="0">
                <a:solidFill>
                  <a:schemeClr val="tx1"/>
                </a:solidFill>
                <a:highlight>
                  <a:srgbClr val="FFFF00"/>
                </a:highlight>
              </a:rPr>
              <a:t> und </a:t>
            </a:r>
            <a:r>
              <a:rPr lang="de-DE" sz="1000" dirty="0">
                <a:highlight>
                  <a:srgbClr val="FFFF00"/>
                </a:highlight>
              </a:rPr>
              <a:t>Payload</a:t>
            </a:r>
            <a:r>
              <a:rPr lang="de-DE" sz="1000" dirty="0">
                <a:solidFill>
                  <a:schemeClr val="tx1"/>
                </a:solidFill>
                <a:highlight>
                  <a:srgbClr val="FFFF00"/>
                </a:highlight>
              </a:rPr>
              <a:t> gesichert, während beim Ansatz „Payload-Signatur nur RFC-Versatzstücke angewendet werden mit proprietären Erweiterungen. </a:t>
            </a:r>
          </a:p>
        </p:txBody>
      </p:sp>
      <p:sp>
        <p:nvSpPr>
          <p:cNvPr id="3" name="Foliennummernplatzhalter 3">
            <a:extLst>
              <a:ext uri="{FF2B5EF4-FFF2-40B4-BE49-F238E27FC236}">
                <a16:creationId xmlns:a16="http://schemas.microsoft.com/office/drawing/2014/main" id="{953E59FC-AB57-04CF-0BF9-4DEF87C0D705}"/>
              </a:ext>
            </a:extLst>
          </p:cNvPr>
          <p:cNvSpPr txBox="1">
            <a:spLocks/>
          </p:cNvSpPr>
          <p:nvPr/>
        </p:nvSpPr>
        <p:spPr bwMode="gray">
          <a:xfrm>
            <a:off x="6048213" y="4849907"/>
            <a:ext cx="588785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F05F51B1-EF07-4A0A-8ED6-43388CBBB34F}" type="slidenum">
              <a:rPr lang="de-DE" smtClean="0"/>
              <a:pPr algn="ctr"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27529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DA4414-EECF-E21E-A5E5-F3A45E9C8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Backup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1F0C6DF-E17E-8A37-896B-0E7C867A6F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5F51B1-EF07-4A0A-8ED6-43388CBBB34F}" type="slidenum">
              <a:rPr lang="de-DE" noProof="0" smtClean="0"/>
              <a:pPr/>
              <a:t>8</a:t>
            </a:fld>
            <a:endParaRPr lang="de-DE" noProof="0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386615D-7DC3-99F1-385A-41AAB3EA9F3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46E661E3-D907-B04D-A2FC-A485EF891B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98791"/>
              </p:ext>
            </p:extLst>
          </p:nvPr>
        </p:nvGraphicFramePr>
        <p:xfrm>
          <a:off x="629743" y="2308679"/>
          <a:ext cx="8107856" cy="210753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644301">
                  <a:extLst>
                    <a:ext uri="{9D8B030D-6E8A-4147-A177-3AD203B41FA5}">
                      <a16:colId xmlns:a16="http://schemas.microsoft.com/office/drawing/2014/main" val="1983209639"/>
                    </a:ext>
                  </a:extLst>
                </a:gridCol>
                <a:gridCol w="2877994">
                  <a:extLst>
                    <a:ext uri="{9D8B030D-6E8A-4147-A177-3AD203B41FA5}">
                      <a16:colId xmlns:a16="http://schemas.microsoft.com/office/drawing/2014/main" val="365168975"/>
                    </a:ext>
                  </a:extLst>
                </a:gridCol>
                <a:gridCol w="1585561">
                  <a:extLst>
                    <a:ext uri="{9D8B030D-6E8A-4147-A177-3AD203B41FA5}">
                      <a16:colId xmlns:a16="http://schemas.microsoft.com/office/drawing/2014/main" val="3670445466"/>
                    </a:ext>
                  </a:extLst>
                </a:gridCol>
              </a:tblGrid>
              <a:tr h="301076">
                <a:tc>
                  <a:txBody>
                    <a:bodyPr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 kern="1400" spc="25" dirty="0">
                          <a:effectLst/>
                        </a:rPr>
                        <a:t>Bisher proprietär in RzÜ API-Webdienste</a:t>
                      </a:r>
                      <a:endParaRPr lang="de-DE" sz="1200" kern="1400" spc="25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rgbClr val="C81E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 kern="1400" spc="25" dirty="0">
                          <a:effectLst/>
                        </a:rPr>
                        <a:t>Ersetzt durch (RFC-Standard)</a:t>
                      </a:r>
                      <a:endParaRPr lang="de-DE" sz="1200" kern="1400" spc="25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rgbClr val="64B4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 b="1" kern="1400" spc="25" dirty="0">
                          <a:solidFill>
                            <a:schemeClr val="tx1"/>
                          </a:solidFill>
                          <a:effectLst/>
                        </a:rPr>
                        <a:t>Referenz</a:t>
                      </a:r>
                      <a:endParaRPr lang="de-DE" sz="1200" b="1" kern="1400" spc="25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616028"/>
                  </a:ext>
                </a:extLst>
              </a:tr>
              <a:tr h="30107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100" kern="1400" spc="25" dirty="0">
                          <a:solidFill>
                            <a:srgbClr val="780A5F"/>
                          </a:solidFill>
                          <a:effectLst/>
                        </a:rPr>
                        <a:t>Hash-</a:t>
                      </a:r>
                      <a:r>
                        <a:rPr lang="en-US" sz="1100" kern="1400" spc="25" dirty="0" err="1">
                          <a:solidFill>
                            <a:srgbClr val="780A5F"/>
                          </a:solidFill>
                          <a:effectLst/>
                        </a:rPr>
                        <a:t>Konkatenation</a:t>
                      </a:r>
                      <a:r>
                        <a:rPr lang="en-US" sz="1100" kern="1400" spc="25" dirty="0">
                          <a:solidFill>
                            <a:srgbClr val="780A5F"/>
                          </a:solidFill>
                          <a:effectLst/>
                        </a:rPr>
                        <a:t> M = Hash(URI) + Hash(Payload) + ...</a:t>
                      </a:r>
                      <a:endParaRPr lang="de-DE" sz="1100" kern="1400" spc="25" dirty="0">
                        <a:solidFill>
                          <a:srgbClr val="780A5F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de-DE" sz="1000" kern="1400" spc="25" dirty="0">
                          <a:solidFill>
                            <a:srgbClr val="00875A"/>
                          </a:solidFill>
                          <a:effectLst/>
                        </a:rPr>
                        <a:t>Signaturbasis nach normiertem RFC-9421-Format</a:t>
                      </a:r>
                      <a:endParaRPr lang="de-DE" sz="1400" kern="1400" spc="25" dirty="0">
                        <a:solidFill>
                          <a:srgbClr val="00875A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de-DE" sz="1050" kern="1400" spc="25" dirty="0">
                          <a:effectLst/>
                        </a:rPr>
                        <a:t>[RFC9421, §2.3]</a:t>
                      </a:r>
                      <a:endParaRPr lang="de-DE" sz="1050" kern="1400" spc="25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81065969"/>
                  </a:ext>
                </a:extLst>
              </a:tr>
              <a:tr h="30107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de-DE" sz="1100" kern="1400" spc="25" dirty="0">
                          <a:solidFill>
                            <a:srgbClr val="780A5F"/>
                          </a:solidFill>
                          <a:effectLst/>
                        </a:rPr>
                        <a:t>X-BDEW-DIGEST</a:t>
                      </a:r>
                      <a:endParaRPr lang="de-DE" sz="1100" kern="1400" spc="25" dirty="0">
                        <a:solidFill>
                          <a:srgbClr val="780A5F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de-DE" sz="1000" kern="1400" spc="25" dirty="0">
                          <a:solidFill>
                            <a:srgbClr val="00875A"/>
                          </a:solidFill>
                          <a:effectLst/>
                        </a:rPr>
                        <a:t>Content-Digest</a:t>
                      </a:r>
                      <a:endParaRPr lang="de-DE" sz="1400" kern="1400" spc="25" dirty="0">
                        <a:solidFill>
                          <a:srgbClr val="00875A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de-DE" sz="1050" kern="1400" spc="25" dirty="0">
                          <a:effectLst/>
                        </a:rPr>
                        <a:t>[RFC9530, §2]</a:t>
                      </a:r>
                      <a:endParaRPr lang="de-DE" sz="1050" kern="1400" spc="25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21928102"/>
                  </a:ext>
                </a:extLst>
              </a:tr>
              <a:tr h="30107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de-DE" sz="1100" kern="1400" spc="25" dirty="0">
                          <a:solidFill>
                            <a:srgbClr val="780A5F"/>
                          </a:solidFill>
                          <a:effectLst/>
                        </a:rPr>
                        <a:t>X-BDEW-SIGNATURE</a:t>
                      </a:r>
                      <a:endParaRPr lang="de-DE" sz="1100" kern="1400" spc="25" dirty="0">
                        <a:solidFill>
                          <a:srgbClr val="780A5F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de-DE" sz="1000" kern="1400" spc="25" dirty="0" err="1">
                          <a:solidFill>
                            <a:srgbClr val="00875A"/>
                          </a:solidFill>
                          <a:effectLst/>
                        </a:rPr>
                        <a:t>Signature</a:t>
                      </a:r>
                      <a:r>
                        <a:rPr lang="de-DE" sz="1000" kern="1400" spc="25" dirty="0">
                          <a:solidFill>
                            <a:srgbClr val="00875A"/>
                          </a:solidFill>
                          <a:effectLst/>
                        </a:rPr>
                        <a:t> + </a:t>
                      </a:r>
                      <a:r>
                        <a:rPr lang="de-DE" sz="1000" kern="1400" spc="25" dirty="0" err="1">
                          <a:solidFill>
                            <a:srgbClr val="00875A"/>
                          </a:solidFill>
                          <a:effectLst/>
                        </a:rPr>
                        <a:t>Signature</a:t>
                      </a:r>
                      <a:r>
                        <a:rPr lang="de-DE" sz="1000" kern="1400" spc="25" dirty="0">
                          <a:solidFill>
                            <a:srgbClr val="00875A"/>
                          </a:solidFill>
                          <a:effectLst/>
                        </a:rPr>
                        <a:t>-Input</a:t>
                      </a:r>
                      <a:endParaRPr lang="de-DE" sz="1400" kern="1400" spc="25" dirty="0">
                        <a:solidFill>
                          <a:srgbClr val="00875A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de-DE" sz="1050" kern="1400" spc="25" dirty="0">
                          <a:effectLst/>
                        </a:rPr>
                        <a:t>[RFC9421, §4]</a:t>
                      </a:r>
                      <a:endParaRPr lang="de-DE" sz="1050" kern="1400" spc="25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92995210"/>
                  </a:ext>
                </a:extLst>
              </a:tr>
              <a:tr h="30107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de-DE" sz="1100" kern="1400" spc="25" dirty="0">
                          <a:solidFill>
                            <a:srgbClr val="780A5F"/>
                          </a:solidFill>
                          <a:effectLst/>
                        </a:rPr>
                        <a:t>X-BDEW-CERT (RFC 9440, TTRP-Kontext nicht zutreffend)</a:t>
                      </a:r>
                      <a:endParaRPr lang="de-DE" sz="1100" kern="1400" spc="25" dirty="0">
                        <a:solidFill>
                          <a:srgbClr val="780A5F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de-DE" sz="1000" kern="1400" spc="25" dirty="0" err="1">
                          <a:solidFill>
                            <a:srgbClr val="00875A"/>
                          </a:solidFill>
                          <a:effectLst/>
                        </a:rPr>
                        <a:t>keyid</a:t>
                      </a:r>
                      <a:r>
                        <a:rPr lang="de-DE" sz="1000" kern="1400" spc="25" dirty="0">
                          <a:solidFill>
                            <a:srgbClr val="00875A"/>
                          </a:solidFill>
                          <a:effectLst/>
                        </a:rPr>
                        <a:t>-Parameter + SM-PKI-Verzeichnisdienst</a:t>
                      </a:r>
                      <a:endParaRPr lang="de-DE" sz="1400" kern="1400" spc="25" dirty="0">
                        <a:solidFill>
                          <a:srgbClr val="00875A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de-DE" sz="1050" kern="1400" spc="25" dirty="0">
                          <a:effectLst/>
                        </a:rPr>
                        <a:t>[RFC9421, §2.5]</a:t>
                      </a:r>
                      <a:endParaRPr lang="de-DE" sz="1050" kern="1400" spc="25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61203391"/>
                  </a:ext>
                </a:extLst>
              </a:tr>
              <a:tr h="30107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de-DE" sz="1100" kern="1400" spc="25" dirty="0" err="1">
                          <a:solidFill>
                            <a:srgbClr val="780A5F"/>
                          </a:solidFill>
                          <a:effectLst/>
                        </a:rPr>
                        <a:t>transactionId</a:t>
                      </a:r>
                      <a:r>
                        <a:rPr lang="de-DE" sz="1100" kern="1400" spc="25" dirty="0">
                          <a:solidFill>
                            <a:srgbClr val="780A5F"/>
                          </a:solidFill>
                          <a:effectLst/>
                        </a:rPr>
                        <a:t> (nicht RFC-konform)</a:t>
                      </a:r>
                      <a:endParaRPr lang="de-DE" sz="1100" kern="1400" spc="25" dirty="0">
                        <a:solidFill>
                          <a:srgbClr val="780A5F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de-DE" sz="1000" kern="1400" spc="25" dirty="0">
                          <a:solidFill>
                            <a:srgbClr val="00875A"/>
                          </a:solidFill>
                          <a:effectLst/>
                        </a:rPr>
                        <a:t>X-Request-</a:t>
                      </a:r>
                      <a:r>
                        <a:rPr lang="de-DE" sz="1000" kern="1400" spc="25" dirty="0" err="1">
                          <a:solidFill>
                            <a:srgbClr val="00875A"/>
                          </a:solidFill>
                          <a:effectLst/>
                        </a:rPr>
                        <a:t>Id</a:t>
                      </a:r>
                      <a:endParaRPr lang="de-DE" sz="1400" kern="1400" spc="25" dirty="0">
                        <a:solidFill>
                          <a:srgbClr val="00875A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de-DE" sz="1050" kern="1400" spc="25" dirty="0">
                          <a:effectLst/>
                        </a:rPr>
                        <a:t>IETF-üblicher Header</a:t>
                      </a:r>
                      <a:endParaRPr lang="de-DE" sz="1050" kern="1400" spc="25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72617571"/>
                  </a:ext>
                </a:extLst>
              </a:tr>
              <a:tr h="30107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de-DE" sz="1100" kern="1400" spc="25" dirty="0">
                          <a:solidFill>
                            <a:srgbClr val="780A5F"/>
                          </a:solidFill>
                          <a:effectLst/>
                        </a:rPr>
                        <a:t>Kein Replay-Schutz spezifiziert</a:t>
                      </a:r>
                      <a:endParaRPr lang="de-DE" sz="1100" kern="1400" spc="25" dirty="0">
                        <a:solidFill>
                          <a:srgbClr val="780A5F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de-DE" sz="1000" kern="1400" spc="25" dirty="0" err="1">
                          <a:solidFill>
                            <a:srgbClr val="00875A"/>
                          </a:solidFill>
                          <a:effectLst/>
                        </a:rPr>
                        <a:t>created</a:t>
                      </a:r>
                      <a:r>
                        <a:rPr lang="de-DE" sz="1000" kern="1400" spc="25" dirty="0">
                          <a:solidFill>
                            <a:srgbClr val="00875A"/>
                          </a:solidFill>
                          <a:effectLst/>
                        </a:rPr>
                        <a:t>-Parameter + Akzeptanzfenster</a:t>
                      </a:r>
                      <a:endParaRPr lang="de-DE" sz="1400" kern="1400" spc="25" dirty="0">
                        <a:solidFill>
                          <a:srgbClr val="00875A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de-DE" sz="1050" kern="1400" spc="25" dirty="0">
                          <a:effectLst/>
                        </a:rPr>
                        <a:t>[RFC9421, §3.2]</a:t>
                      </a:r>
                      <a:endParaRPr lang="de-DE" sz="1050" kern="1400" spc="25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99701380"/>
                  </a:ext>
                </a:extLst>
              </a:tr>
            </a:tbl>
          </a:graphicData>
        </a:graphic>
      </p:graphicFrame>
      <p:sp>
        <p:nvSpPr>
          <p:cNvPr id="8" name="Textfeld 7">
            <a:extLst>
              <a:ext uri="{FF2B5EF4-FFF2-40B4-BE49-F238E27FC236}">
                <a16:creationId xmlns:a16="http://schemas.microsoft.com/office/drawing/2014/main" id="{8D7BD127-C33B-657C-C430-AE549BCDA6AC}"/>
              </a:ext>
            </a:extLst>
          </p:cNvPr>
          <p:cNvSpPr txBox="1"/>
          <p:nvPr/>
        </p:nvSpPr>
        <p:spPr>
          <a:xfrm>
            <a:off x="805849" y="1114212"/>
            <a:ext cx="7755644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de-DE" sz="1400" kern="0" spc="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Die </a:t>
            </a:r>
            <a:r>
              <a:rPr lang="de-DE" sz="1400" kern="0" dirty="0">
                <a:latin typeface="Calibri" panose="020F0502020204030204" pitchFamily="34" charset="0"/>
              </a:rPr>
              <a:t>Inhaltsdatensicherung erfolgt durch HTTP Message </a:t>
            </a:r>
            <a:r>
              <a:rPr lang="de-DE" sz="1400" kern="0" dirty="0" err="1">
                <a:latin typeface="Calibri" panose="020F0502020204030204" pitchFamily="34" charset="0"/>
              </a:rPr>
              <a:t>Signatures</a:t>
            </a:r>
            <a:r>
              <a:rPr lang="de-DE" sz="1400" kern="0" dirty="0">
                <a:latin typeface="Calibri" panose="020F0502020204030204" pitchFamily="34" charset="0"/>
              </a:rPr>
              <a:t> gemäß [RFC9421] in Verbindung mit der Body-Hashbildung nach [RFC9530] (Digest Fields) und der JSON-Kanonisierung nach [RFC8785].</a:t>
            </a:r>
          </a:p>
          <a:p>
            <a:pPr>
              <a:spcAft>
                <a:spcPts val="600"/>
              </a:spcAft>
            </a:pPr>
            <a:r>
              <a:rPr lang="de-DE" sz="1400" kern="0" dirty="0">
                <a:latin typeface="Calibri" panose="020F0502020204030204" pitchFamily="34" charset="0"/>
              </a:rPr>
              <a:t>Dieses Verfahren ersetzt das bisherige proprietäre Signaturverfahren (Hash-Konkatenation, X-BDEW-SIGNATURE/-DIGEST/-CERT) vollständig.</a:t>
            </a:r>
          </a:p>
        </p:txBody>
      </p:sp>
    </p:spTree>
    <p:extLst>
      <p:ext uri="{BB962C8B-B14F-4D97-AF65-F5344CB8AC3E}">
        <p14:creationId xmlns:p14="http://schemas.microsoft.com/office/powerpoint/2010/main" val="19909989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2mJp7nCMj5nEhqggY4f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FJX2MC6Wnk_ryKeH2QRn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ZNCR40kwDwY9PwKR6Qvdw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Y5d8xIHw4Jbg48ZxIQI_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bJSupdYpJ_Z_a.u3ZOQo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5A2SesgelsBFfgNXIU1I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2VEAKuKbTLEeGRm1pTdv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NZU7gIq9TRSHmnK4zU2Gw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6L0TePMPYOgTWWgviKwwg"/>
</p:tagLst>
</file>

<file path=ppt/theme/theme1.xml><?xml version="1.0" encoding="utf-8"?>
<a:theme xmlns:a="http://schemas.openxmlformats.org/drawingml/2006/main" name="Westnetz_DE_16:9">
  <a:themeElements>
    <a:clrScheme name="Benutzerdefiniert 109">
      <a:dk1>
        <a:sysClr val="windowText" lastClr="000000"/>
      </a:dk1>
      <a:lt1>
        <a:sysClr val="window" lastClr="FFFFFF"/>
      </a:lt1>
      <a:dk2>
        <a:srgbClr val="3C3732"/>
      </a:dk2>
      <a:lt2>
        <a:srgbClr val="ECEBEB"/>
      </a:lt2>
      <a:accent1>
        <a:srgbClr val="F59B00"/>
      </a:accent1>
      <a:accent2>
        <a:srgbClr val="C81E82"/>
      </a:accent2>
      <a:accent3>
        <a:srgbClr val="009BA5"/>
      </a:accent3>
      <a:accent4>
        <a:srgbClr val="143C8C"/>
      </a:accent4>
      <a:accent5>
        <a:srgbClr val="EB4B0A"/>
      </a:accent5>
      <a:accent6>
        <a:srgbClr val="780A5F"/>
      </a:accent6>
      <a:hlink>
        <a:srgbClr val="143C8C"/>
      </a:hlink>
      <a:folHlink>
        <a:srgbClr val="00AAE1"/>
      </a:folHlink>
    </a:clrScheme>
    <a:fontScheme name="Activaero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rgbClr val="64B42D"/>
        </a:solidFill>
        <a:ln cap="sq">
          <a:noFill/>
          <a:miter lim="800000"/>
        </a:ln>
      </a:spPr>
      <a:bodyPr rot="0" spcFirstLastPara="0" vertOverflow="overflow" horzOverflow="overflow" vert="horz" wrap="square" lIns="216000" tIns="201600" rIns="180000" bIns="230400" numCol="1" spcCol="0" rtlCol="0" fromWordArt="0" anchor="t" anchorCtr="0" forceAA="0" compatLnSpc="1">
        <a:prstTxWarp prst="textNoShape">
          <a:avLst/>
        </a:prstTxWarp>
        <a:noAutofit/>
      </a:bodyPr>
      <a:lstStyle>
        <a:defPPr marL="0" indent="0" algn="l">
          <a:spcBef>
            <a:spcPts val="600"/>
          </a:spcBef>
          <a:buFont typeface="Arial" panose="020B0604020202020204" pitchFamily="34" charset="0"/>
          <a:buNone/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333333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marL="0" indent="0">
          <a:spcBef>
            <a:spcPts val="600"/>
          </a:spcBef>
          <a:buFont typeface="Arial" panose="020B0604020202020204" pitchFamily="34" charset="0"/>
          <a:buNone/>
          <a:defRPr sz="1600" dirty="0" err="1" smtClean="0"/>
        </a:defPPr>
      </a:lstStyle>
    </a:txDef>
  </a:objectDefaults>
  <a:extraClrSchemeLst/>
  <a:custClrLst>
    <a:custClr>
      <a:srgbClr val="FFFFFF"/>
    </a:custClr>
    <a:custClr name="Grey">
      <a:srgbClr val="3C3732"/>
    </a:custClr>
    <a:custClr name="Pulsing Purple Bright">
      <a:srgbClr val="C81E82"/>
    </a:custClr>
    <a:custClr name="Fiery Fuchsia Bright">
      <a:srgbClr val="E60055"/>
    </a:custClr>
    <a:custClr name="Radiant Red Bright">
      <a:srgbClr val="EB4B0A"/>
    </a:custClr>
    <a:custClr name="Mellow Yellow Bright">
      <a:srgbClr val="F59B00"/>
    </a:custClr>
    <a:custClr name="Galvanic Green Bright">
      <a:srgbClr val="64B42D"/>
    </a:custClr>
    <a:custClr name="Blazing Blue Bright">
      <a:srgbClr val="009BA5"/>
    </a:custClr>
    <a:custClr name="Iridescent Indigo Bright">
      <a:srgbClr val="00AAE1"/>
    </a:custClr>
    <a:custClr>
      <a:srgbClr val="FFFFFF"/>
    </a:custClr>
    <a:custClr>
      <a:srgbClr val="FFFFFF"/>
    </a:custClr>
    <a:custClr name="Grey 80%">
      <a:srgbClr val="635F5B"/>
    </a:custClr>
    <a:custClr name="Pulsing Purple Muted">
      <a:srgbClr val="780A5F"/>
    </a:custClr>
    <a:custClr name="Fiery Fuchsia Muted">
      <a:srgbClr val="A50032"/>
    </a:custClr>
    <a:custClr name="Radiant Red Muted">
      <a:srgbClr val="B9280A"/>
    </a:custClr>
    <a:custClr name="Mellow Yellow Muted">
      <a:srgbClr val="D27300"/>
    </a:custClr>
    <a:custClr name="Galvanic Green Muted">
      <a:srgbClr val="00875A"/>
    </a:custClr>
    <a:custClr name="Blazing Blue Muted">
      <a:srgbClr val="005F69"/>
    </a:custClr>
    <a:custClr name="Iridescent Indigo Muted">
      <a:srgbClr val="143C8C"/>
    </a:custClr>
    <a:custClr>
      <a:srgbClr val="FFFFFF"/>
    </a:custClr>
    <a:custClr>
      <a:srgbClr val="FFFFFF"/>
    </a:custClr>
    <a:custClr name="Grey 60%">
      <a:srgbClr val="8A8784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Grey 40%">
      <a:srgbClr val="B1AFAD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Grey 20%">
      <a:srgbClr val="D8D7D6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</a:custClrLst>
  <a:extLst>
    <a:ext uri="{05A4C25C-085E-4340-85A3-A5531E510DB2}">
      <thm15:themeFamily xmlns:thm15="http://schemas.microsoft.com/office/thememl/2012/main" name="Westnetz_16zu9_PPT_DE_scr04.potx" id="{28F09F20-A0F7-48DB-B063-27870BB244D9}" vid="{E0C94C62-1D7A-49F9-8981-3D50C979EDC9}"/>
    </a:ext>
  </a:extLst>
</a:theme>
</file>

<file path=ppt/theme/theme2.xml><?xml version="1.0" encoding="utf-8"?>
<a:theme xmlns:a="http://schemas.openxmlformats.org/drawingml/2006/main" name="Office">
  <a:themeElements>
    <a:clrScheme name="innogy 2016">
      <a:dk1>
        <a:sysClr val="windowText" lastClr="000000"/>
      </a:dk1>
      <a:lt1>
        <a:sysClr val="window" lastClr="FFFFFF"/>
      </a:lt1>
      <a:dk2>
        <a:srgbClr val="333333"/>
      </a:dk2>
      <a:lt2>
        <a:srgbClr val="E5E5E5"/>
      </a:lt2>
      <a:accent1>
        <a:srgbClr val="F59B00"/>
      </a:accent1>
      <a:accent2>
        <a:srgbClr val="C81E82"/>
      </a:accent2>
      <a:accent3>
        <a:srgbClr val="009BA5"/>
      </a:accent3>
      <a:accent4>
        <a:srgbClr val="143C8C"/>
      </a:accent4>
      <a:accent5>
        <a:srgbClr val="EB4B0A"/>
      </a:accent5>
      <a:accent6>
        <a:srgbClr val="780A5F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innogy 2016">
      <a:dk1>
        <a:sysClr val="windowText" lastClr="000000"/>
      </a:dk1>
      <a:lt1>
        <a:sysClr val="window" lastClr="FFFFFF"/>
      </a:lt1>
      <a:dk2>
        <a:srgbClr val="333333"/>
      </a:dk2>
      <a:lt2>
        <a:srgbClr val="E5E5E5"/>
      </a:lt2>
      <a:accent1>
        <a:srgbClr val="F59B00"/>
      </a:accent1>
      <a:accent2>
        <a:srgbClr val="C81E82"/>
      </a:accent2>
      <a:accent3>
        <a:srgbClr val="009BA5"/>
      </a:accent3>
      <a:accent4>
        <a:srgbClr val="143C8C"/>
      </a:accent4>
      <a:accent5>
        <a:srgbClr val="EB4B0A"/>
      </a:accent5>
      <a:accent6>
        <a:srgbClr val="780A5F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3044393-0fb0-4160-90d4-4fa35af7e893">
      <UserInfo>
        <DisplayName>Sackmann, Mirka</DisplayName>
        <AccountId>83</AccountId>
        <AccountType/>
      </UserInfo>
    </SharedWithUsers>
    <TaxCatchAll xmlns="d3044393-0fb0-4160-90d4-4fa35af7e893" xsi:nil="true"/>
    <lcf76f155ced4ddcb4097134ff3c332f xmlns="804c642f-4601-4440-bc43-e81a90ae3754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AC15F21B00E4C4AB104373962221FE3" ma:contentTypeVersion="15" ma:contentTypeDescription="Ein neues Dokument erstellen." ma:contentTypeScope="" ma:versionID="a22730c7b0a6ea99d3f31d6c7169e8d9">
  <xsd:schema xmlns:xsd="http://www.w3.org/2001/XMLSchema" xmlns:xs="http://www.w3.org/2001/XMLSchema" xmlns:p="http://schemas.microsoft.com/office/2006/metadata/properties" xmlns:ns2="804c642f-4601-4440-bc43-e81a90ae3754" xmlns:ns3="d3044393-0fb0-4160-90d4-4fa35af7e893" targetNamespace="http://schemas.microsoft.com/office/2006/metadata/properties" ma:root="true" ma:fieldsID="373b025ce307ddfe84957778bbf0a902" ns2:_="" ns3:_="">
    <xsd:import namespace="804c642f-4601-4440-bc43-e81a90ae3754"/>
    <xsd:import namespace="d3044393-0fb0-4160-90d4-4fa35af7e89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4c642f-4601-4440-bc43-e81a90ae375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Bildmarkierungen" ma:readOnly="false" ma:fieldId="{5cf76f15-5ced-4ddc-b409-7134ff3c332f}" ma:taxonomyMulti="true" ma:sspId="ed2bc115-f314-4df2-a102-4eef0e49787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044393-0fb0-4160-90d4-4fa35af7e893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0251d59c-23c6-436f-bf4a-349cc60ec2df}" ma:internalName="TaxCatchAll" ma:showField="CatchAllData" ma:web="d3044393-0fb0-4160-90d4-4fa35af7e89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D6FB8DF-BBC9-469C-8259-F557EE7A579B}">
  <ds:schemaRefs>
    <ds:schemaRef ds:uri="http://schemas.microsoft.com/office/2006/metadata/properties"/>
    <ds:schemaRef ds:uri="http://schemas.microsoft.com/office/infopath/2007/PartnerControls"/>
    <ds:schemaRef ds:uri="d3044393-0fb0-4160-90d4-4fa35af7e893"/>
    <ds:schemaRef ds:uri="804c642f-4601-4440-bc43-e81a90ae3754"/>
  </ds:schemaRefs>
</ds:datastoreItem>
</file>

<file path=customXml/itemProps2.xml><?xml version="1.0" encoding="utf-8"?>
<ds:datastoreItem xmlns:ds="http://schemas.openxmlformats.org/officeDocument/2006/customXml" ds:itemID="{99B9C9DD-E7AC-4E60-8C89-26838563D1F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B90B029-DA1C-4C61-82E7-10ECD26711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04c642f-4601-4440-bc43-e81a90ae3754"/>
    <ds:schemaRef ds:uri="d3044393-0fb0-4160-90d4-4fa35af7e89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42f063bf-ce3a-473c-8609-3866002c85b0}" enabled="1" method="Standard" siteId="{b914a242-e718-443b-a47c-6b4c649d8c0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Westnetz_DE_16:9</Template>
  <TotalTime>0</TotalTime>
  <Words>1736</Words>
  <Application>Microsoft Office PowerPoint</Application>
  <PresentationFormat>Bildschirmpräsentation (16:9)</PresentationFormat>
  <Paragraphs>279</Paragraphs>
  <Slides>8</Slides>
  <Notes>2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3" baseType="lpstr">
      <vt:lpstr>Arial</vt:lpstr>
      <vt:lpstr>Calibri</vt:lpstr>
      <vt:lpstr>Symbol</vt:lpstr>
      <vt:lpstr>Westnetz_DE_16:9</vt:lpstr>
      <vt:lpstr>think-cell Folie</vt:lpstr>
      <vt:lpstr>PowerPoint-Präsentation</vt:lpstr>
      <vt:lpstr>API-Webservice als Teilnehmer der SM-PKI  fehlt Payload-Verschlüsselung Informelles BSI Agreement 2022 für „Mikro-Nachrichten“ übergangsweise </vt:lpstr>
      <vt:lpstr>HTTP Header Signature  vs.  Payload Signature</vt:lpstr>
      <vt:lpstr>HTTP Header Signature  vs.  Payload Signature</vt:lpstr>
      <vt:lpstr>HTTP Header Signatur (RFC 8785, 9530, 9421)</vt:lpstr>
      <vt:lpstr>Payload-Signatur (RFC 7518, 8785, 7515) </vt:lpstr>
      <vt:lpstr>„RFC Standards“      vs.   „RFC Versatzstücke“</vt:lpstr>
      <vt:lpstr>Backup</vt:lpstr>
    </vt:vector>
  </TitlesOfParts>
  <Manager>Ecoprint</Manager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Wir bewegen Energie – einfach, sicher, nah.</dc:title>
  <dc:subject/>
  <dc:creator>Stefan Niess</dc:creator>
  <dc:description>Für die PowerPoint Version 2010 optimierte Vorlage</dc:description>
  <cp:lastModifiedBy>Hoffmann, Rene</cp:lastModifiedBy>
  <cp:revision>130</cp:revision>
  <cp:lastPrinted>2020-09-29T10:05:25Z</cp:lastPrinted>
  <dcterms:created xsi:type="dcterms:W3CDTF">2020-09-23T11:33:46Z</dcterms:created>
  <dcterms:modified xsi:type="dcterms:W3CDTF">2026-07-01T07:58:07Z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0x0101002AC15F21B00E4C4AB104373962221FE3</vt:lpwstr>
  </property>
  <property fmtid="{D5CDD505-2E9C-101B-9397-08002B2CF9AE}" pid="3" name="MediaServiceImageTags">
    <vt:lpwstr/>
  </property>
</Properties>
</file>