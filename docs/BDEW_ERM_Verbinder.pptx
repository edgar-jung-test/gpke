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BDEW Rollenmodell ERM v2.2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Verbinder &amp; Beziehungstypen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0" y="2560320"/>
            <a:ext cx="457200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697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Symbole · Bedeutung · Kardinalitäten · 52 Verbindungen im Überblick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3291840"/>
            <a:ext cx="128016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2918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377440" y="3291840"/>
            <a:ext cx="128016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77440" y="32918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40480" y="3291840"/>
            <a:ext cx="128016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40480" y="32918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0..1:N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303520" y="3291840"/>
            <a:ext cx="128016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03520" y="32918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1:0..N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66560" y="3291840"/>
            <a:ext cx="1280160" cy="5029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66560" y="32918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0..1:0..N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5029200"/>
            <a:ext cx="85953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BDEW ERM v2.2  |  Verbinder &amp; Beziehungstypen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ERM-Notationssymbole (Crow's Foot)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Bedeutung der Endmarker auf Verbindungslinien im Entity-Relationship-Diagramm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64008" cy="877824"/>
          </a:xfrm>
          <a:prstGeom prst="rect">
            <a:avLst/>
          </a:prstGeom>
          <a:solidFill>
            <a:srgbClr val="6C8EBF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16152"/>
            <a:ext cx="1005840" cy="502920"/>
          </a:xfrm>
          <a:prstGeom prst="rect">
            <a:avLst/>
          </a:prstGeom>
          <a:solidFill>
            <a:srgbClr val="DAE8FC"/>
          </a:solidFill>
          <a:ln w="19050">
            <a:solidFill>
              <a:srgbClr val="6C8EB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216152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||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1106424"/>
            <a:ext cx="4114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ERmandOne  (Pflicht-Eins)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00200" y="1380744"/>
            <a:ext cx="320040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Doppelter senkrechter Strich  ‖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806440" y="1106424"/>
            <a:ext cx="29260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1 – Die Beziehung ist zwingend erforderlich. Auf dieser Seite steht immer genau ein Datensatz.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00200" y="1627632"/>
            <a:ext cx="71323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Bsp: Bilanzkreis muss zu genau 1 Regelzone gehören.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029968"/>
            <a:ext cx="84124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029968"/>
            <a:ext cx="64008" cy="877824"/>
          </a:xfrm>
          <a:prstGeom prst="rect">
            <a:avLst/>
          </a:prstGeom>
          <a:solidFill>
            <a:srgbClr val="82B366"/>
          </a:solidFill>
          <a:ln w="12700">
            <a:solidFill>
              <a:srgbClr val="82B3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194560"/>
            <a:ext cx="1005840" cy="502920"/>
          </a:xfrm>
          <a:prstGeom prst="rect">
            <a:avLst/>
          </a:prstGeom>
          <a:solidFill>
            <a:srgbClr val="D5E8D4"/>
          </a:solidFill>
          <a:ln w="19050">
            <a:solidFill>
              <a:srgbClr val="82B36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21945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○|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2084832"/>
            <a:ext cx="4114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ERzeroToOne  (Optional-Eins)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600200" y="2359152"/>
            <a:ext cx="320040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Kreis + einfacher senkrechter Strich  ○|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806440" y="2084832"/>
            <a:ext cx="29260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oder 1 – Die Beziehung ist optional. Es kann kein oder genau ein verknüpfter Datensatz existieren.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00200" y="2606040"/>
            <a:ext cx="71323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Bsp: Messlokation kann optional zu 0 oder 1 Netzkopplungspunkt gehören.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008376"/>
            <a:ext cx="84124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008376"/>
            <a:ext cx="64008" cy="877824"/>
          </a:xfrm>
          <a:prstGeom prst="rect">
            <a:avLst/>
          </a:prstGeom>
          <a:solidFill>
            <a:srgbClr val="D6B656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172968"/>
            <a:ext cx="1005840" cy="502920"/>
          </a:xfrm>
          <a:prstGeom prst="rect">
            <a:avLst/>
          </a:prstGeom>
          <a:solidFill>
            <a:srgbClr val="FFF2CC"/>
          </a:solidFill>
          <a:ln w="19050">
            <a:solidFill>
              <a:srgbClr val="D6B65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3172968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||&lt;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00200" y="3063240"/>
            <a:ext cx="4114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ERmany  (Pflicht-Viele)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600200" y="3337560"/>
            <a:ext cx="320040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Doppelter Strich + Hahnenfuß (Crow's Foot)  ‖&lt;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06440" y="3063240"/>
            <a:ext cx="29260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oder viele – Crow's Foot: Mindestens ein Datensatz auf dieser Seite muss vorhanden sein.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600200" y="3584448"/>
            <a:ext cx="71323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Bsp: Eine Regelzone hat mindestens 1 Bilanzkreis (kann viele haben).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986784"/>
            <a:ext cx="841248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3986784"/>
            <a:ext cx="64008" cy="877824"/>
          </a:xfrm>
          <a:prstGeom prst="rect">
            <a:avLst/>
          </a:prstGeom>
          <a:solidFill>
            <a:srgbClr val="D79B00"/>
          </a:solidFill>
          <a:ln w="12700">
            <a:solidFill>
              <a:srgbClr val="D79B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4151376"/>
            <a:ext cx="1005840" cy="502920"/>
          </a:xfrm>
          <a:prstGeom prst="rect">
            <a:avLst/>
          </a:prstGeom>
          <a:solidFill>
            <a:srgbClr val="FCE5CD"/>
          </a:solidFill>
          <a:ln w="19050">
            <a:solidFill>
              <a:srgbClr val="D79B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02920" y="4151376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○&lt;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600200" y="4041648"/>
            <a:ext cx="41148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ERzeroToMany  (Optional-Viele)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600200" y="4315968"/>
            <a:ext cx="3200400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Kreis + Hahnenfuß  ○&lt;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806440" y="4041648"/>
            <a:ext cx="292608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oder viele – Optional-Crow's Foot: Es können kein, ein oder viele Datensätze verknüpft sein.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600200" y="4562856"/>
            <a:ext cx="71323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Bsp: Eine Adresse kann 0 oder viele Marktteilnehmer haben.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5029200"/>
            <a:ext cx="85953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BDEW ERM v2.2  |  ERM-Notationssymbole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5 Verbindertypen im BDEW ERM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675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Kombinationen der Crow's-Foot-Notation mit Häufigkeit und Kardinalitätsregel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329184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173736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Verbindertyp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48840" y="1005840"/>
            <a:ext cx="13716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Kardinalität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66160" y="1005840"/>
            <a:ext cx="192024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Lesart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32120" y="1005840"/>
            <a:ext cx="13716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Anzahl im ERM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49440" y="1005840"/>
            <a:ext cx="1828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Farbe/Kategorie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371600"/>
            <a:ext cx="84124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508760"/>
            <a:ext cx="1645920" cy="274320"/>
          </a:xfrm>
          <a:prstGeom prst="rect">
            <a:avLst/>
          </a:prstGeom>
          <a:solidFill>
            <a:srgbClr val="DAE8FC"/>
          </a:solidFill>
          <a:ln w="15240">
            <a:solidFill>
              <a:srgbClr val="6C8E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508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 (Pflicht)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48840" y="1463040"/>
            <a:ext cx="13716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1 → 1 oder 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66160" y="1408176"/>
            <a:ext cx="1920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Links: muss genau 1 sein · Rechts: mindestens 1 (oder viele)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66160" y="1709928"/>
            <a:ext cx="19202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Regelzone (1) → Bilanzkreis (N)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32120" y="148132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 (häufigster Typ)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95160" y="1527048"/>
            <a:ext cx="1645920" cy="237744"/>
          </a:xfrm>
          <a:prstGeom prst="rect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1993392"/>
            <a:ext cx="8412480" cy="5760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130552"/>
            <a:ext cx="1645920" cy="274320"/>
          </a:xfrm>
          <a:prstGeom prst="rect">
            <a:avLst/>
          </a:prstGeom>
          <a:solidFill>
            <a:srgbClr val="D5E8D4"/>
          </a:solidFill>
          <a:ln w="15240">
            <a:solidFill>
              <a:srgbClr val="82B3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1305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 : 0..N (Optional)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148840" y="2084832"/>
            <a:ext cx="13716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oder 1 → 0 oder 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566160" y="2029968"/>
            <a:ext cx="1920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Links: optional, max. 1 · Rechts: kein, einer oder viele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66160" y="2331720"/>
            <a:ext cx="19202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Adresse (0..1) → Marktteilnehmer (0..N)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532120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995160" y="2148840"/>
            <a:ext cx="1645920" cy="237744"/>
          </a:xfrm>
          <a:prstGeom prst="rect">
            <a:avLst/>
          </a:prstGeom>
          <a:solidFill>
            <a:srgbClr val="D5E8D4"/>
          </a:solidFill>
          <a:ln w="12700">
            <a:solidFill>
              <a:srgbClr val="82B3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615184"/>
            <a:ext cx="84124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2752344"/>
            <a:ext cx="1645920" cy="274320"/>
          </a:xfrm>
          <a:prstGeom prst="rect">
            <a:avLst/>
          </a:prstGeom>
          <a:solidFill>
            <a:srgbClr val="FFF2CC"/>
          </a:solidFill>
          <a:ln w="15240">
            <a:solidFill>
              <a:srgbClr val="D6B65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75234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0..1 (Exklusiv)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148840" y="2706624"/>
            <a:ext cx="13716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1 → 0 oder 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566160" y="2651760"/>
            <a:ext cx="1920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Links: zwingend 1 · Rechts: optional, max. 1 (1:1-Beziehung mit optionaler Seite)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566160" y="2953512"/>
            <a:ext cx="19202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Zähler (1) → Gateway (0..1)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32120" y="272491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995160" y="2770632"/>
            <a:ext cx="1645920" cy="237744"/>
          </a:xfrm>
          <a:prstGeom prst="rect">
            <a:avLst/>
          </a:prstGeom>
          <a:solidFill>
            <a:srgbClr val="FFF2CC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3236976"/>
            <a:ext cx="8412480" cy="5760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3374136"/>
            <a:ext cx="1645920" cy="274320"/>
          </a:xfrm>
          <a:prstGeom prst="rect">
            <a:avLst/>
          </a:prstGeom>
          <a:solidFill>
            <a:srgbClr val="FCE5CD"/>
          </a:solidFill>
          <a:ln w="15240">
            <a:solidFill>
              <a:srgbClr val="D79B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37413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0..N (Pflicht-Optional)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148840" y="3328416"/>
            <a:ext cx="13716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1 → 0 oder 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566160" y="3273552"/>
            <a:ext cx="1920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Links: zwingend 1 · Rechts: kein, einer oder viele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566160" y="3575304"/>
            <a:ext cx="19202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Zähler (1) → Kommunikationseinrichtung (0..N)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32120" y="334670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995160" y="3392424"/>
            <a:ext cx="1645920" cy="237744"/>
          </a:xfrm>
          <a:prstGeom prst="rect">
            <a:avLst/>
          </a:prstGeom>
          <a:solidFill>
            <a:srgbClr val="FCE5CD"/>
          </a:solidFill>
          <a:ln w="12700">
            <a:solidFill>
              <a:srgbClr val="D79B0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3858768"/>
            <a:ext cx="84124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" y="3995928"/>
            <a:ext cx="1645920" cy="274320"/>
          </a:xfrm>
          <a:prstGeom prst="rect">
            <a:avLst/>
          </a:prstGeom>
          <a:solidFill>
            <a:srgbClr val="E1D5E7"/>
          </a:solidFill>
          <a:ln w="15240">
            <a:solidFill>
              <a:srgbClr val="9673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39959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 : 0..1 (XOR)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148840" y="3950208"/>
            <a:ext cx="13716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oder 1 → 0 oder 1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566160" y="3895344"/>
            <a:ext cx="1920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Seiten optional · Wird für XOR-Constraints verwendet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566160" y="4197096"/>
            <a:ext cx="19202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Zähler (0..1) ↔ Messdatenregistriergerät (0..1)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32120" y="396849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(XOR-Constraints)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995160" y="4014216"/>
            <a:ext cx="1645920" cy="237744"/>
          </a:xfrm>
          <a:prstGeom prst="rect">
            <a:avLst/>
          </a:prstGeom>
          <a:solidFill>
            <a:srgbClr val="E1D5E7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5760" y="4480560"/>
            <a:ext cx="8412480" cy="576072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1480" y="4617720"/>
            <a:ext cx="1645920" cy="274320"/>
          </a:xfrm>
          <a:prstGeom prst="rect">
            <a:avLst/>
          </a:prstGeom>
          <a:solidFill>
            <a:srgbClr val="F8CECC"/>
          </a:solidFill>
          <a:ln w="15240">
            <a:solidFill>
              <a:srgbClr val="B854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4617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 : N (Selten)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2148840" y="4572000"/>
            <a:ext cx="13716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oder 1 → 1 oder 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566160" y="4517136"/>
            <a:ext cx="192024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Links: optional · Rechts: mindestens einer muss vorhanden sein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566160" y="4818888"/>
            <a:ext cx="19202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Netzkopplungspunkt (0..1) → Zähler (N)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532120" y="459028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6995160" y="4636008"/>
            <a:ext cx="1645920" cy="237744"/>
          </a:xfrm>
          <a:prstGeom prst="rect">
            <a:avLst/>
          </a:prstGeom>
          <a:solidFill>
            <a:srgbClr val="F8CECC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5029200"/>
            <a:ext cx="85953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BDEW ERM v2.2  |  Verbindertypen-Übersicht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Verbindertyp 1: ERmandOne  →  ERmany  (1:N Pflicht)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Verbindungen · häufigster Typ im BDEW ERM · Hierarchische Eltern-Kind-Beziehungen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3840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64008" cy="1325880"/>
          </a:xfrm>
          <a:prstGeom prst="rect">
            <a:avLst/>
          </a:prstGeom>
          <a:solidFill>
            <a:srgbClr val="6C8EBF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98448"/>
            <a:ext cx="356616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Start: ‖  (zwei Striche = genau 1, Pflicht)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56616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Ende:  &lt;  (Hahnenfuß = viele, Pflicht)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1901952"/>
            <a:ext cx="310896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755648"/>
            <a:ext cx="32004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" y="1755648"/>
            <a:ext cx="32004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04488" y="1755648"/>
            <a:ext cx="32004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67328" y="1755648"/>
            <a:ext cx="32004" cy="310896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960120"/>
            <a:ext cx="44348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43400" y="960120"/>
            <a:ext cx="443484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960120"/>
            <a:ext cx="43434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30 Verbindungen (1:N Pflicht)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0" y="1298448"/>
            <a:ext cx="2103120" cy="21031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1325880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Regelzone → Bilanzkreis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389120" y="1536192"/>
            <a:ext cx="2103120" cy="2103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34840" y="15636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Regelzone → Marktgebiet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389120" y="1773936"/>
            <a:ext cx="2103120" cy="21031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1801368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Marktgebiet → Bilanzierungsgebiet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389120" y="2011680"/>
            <a:ext cx="2103120" cy="2103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2039112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Netzgebiet → Netzkonto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389120" y="2249424"/>
            <a:ext cx="2103120" cy="21031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34840" y="2276856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Bilanzierungsgebiet → BilGeb_NetzGeb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389120" y="2487168"/>
            <a:ext cx="2103120" cy="2103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34840" y="2514600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Netzgebiet → BilGeb_NetzGeb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389120" y="2724912"/>
            <a:ext cx="2103120" cy="21031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275234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Netzgebiet → NetzGeb_NKP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389120" y="2962656"/>
            <a:ext cx="2103120" cy="2103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34840" y="2990088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Netzkopplungspunkt → NetzGeb_NKP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389120" y="3200400"/>
            <a:ext cx="2103120" cy="21031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34840" y="3227832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Netzgebiet → Marktlokation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389120" y="3438144"/>
            <a:ext cx="2103120" cy="2103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34840" y="3465576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Netzgebiet → Messlokation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389120" y="3675888"/>
            <a:ext cx="2103120" cy="21031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34840" y="3703320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Marktlokation → MaLo_MeLo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389120" y="3913632"/>
            <a:ext cx="2103120" cy="2103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34840" y="394106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Messlokation → MaLo_MeLo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389120" y="4151376"/>
            <a:ext cx="2103120" cy="21031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34840" y="4178808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Marktlokation → MaLo_TechRes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389120" y="4389120"/>
            <a:ext cx="2103120" cy="2103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34840" y="4416552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TechnischeRessource → MaLo_TechRes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389120" y="4626864"/>
            <a:ext cx="2103120" cy="21031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34840" y="4654296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SteuerbareRessource → StRes_StEin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583680" y="1298448"/>
            <a:ext cx="2103120" cy="2103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29400" y="1325880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Steuereinrichtung → StRes_StEin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583680" y="1536192"/>
            <a:ext cx="2103120" cy="21031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29400" y="156362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SteuerbareRessource → StRes_StBox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583680" y="1773936"/>
            <a:ext cx="2103120" cy="2103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29400" y="1801368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Steuerbox → StRes_StBox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583680" y="2011680"/>
            <a:ext cx="2103120" cy="21031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29400" y="2039112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Messlokation → Zaehler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583680" y="2249424"/>
            <a:ext cx="2103120" cy="2103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29400" y="2276856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Zaehler → Register_Zaehler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583680" y="2487168"/>
            <a:ext cx="2103120" cy="21031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29400" y="2514600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→ Register_Gateway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583680" y="2724912"/>
            <a:ext cx="2103120" cy="2103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29400" y="275234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Messdatenregistriergeraet → Reg_MDR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583680" y="2962656"/>
            <a:ext cx="2103120" cy="21031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629400" y="2990088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Mengenumwerter → Register_MU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583680" y="3200400"/>
            <a:ext cx="2103120" cy="2103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629400" y="3227832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→ Korrespondenzadresse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583680" y="3438144"/>
            <a:ext cx="2103120" cy="21031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629400" y="3465576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 → Korrespondenzadresse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6583680" y="3675888"/>
            <a:ext cx="2103120" cy="2103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29400" y="3703320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 → Kunde_Marktlokation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583680" y="3913632"/>
            <a:ext cx="2103120" cy="21031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629400" y="3941064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Marktlokation → Kunde_Marktlokation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6583680" y="4151376"/>
            <a:ext cx="2103120" cy="2103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629400" y="4178808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Netzgebiet → Netzlokation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583680" y="4389120"/>
            <a:ext cx="2103120" cy="21031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629400" y="4416552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Marktlokation → Tranche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583680" y="4626864"/>
            <a:ext cx="2103120" cy="21031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629400" y="4654296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Bilanzkreis → Tranche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365760" y="2423160"/>
            <a:ext cx="384048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57200" y="2459736"/>
            <a:ext cx="365760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Regelzone → Bilanzkreis (r01)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457200" y="2697480"/>
            <a:ext cx="36576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Regelzone enthält mindestens 1 Bilanzkreis. Jeder Bilanzkreis gehört zu genau 1 Regelzone.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65760" y="3218688"/>
            <a:ext cx="384048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57200" y="3255264"/>
            <a:ext cx="365760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Netzgebiet → Marktlokation (r09)</a:t>
            </a:r>
            <a:endParaRPr lang="en-US" sz="1000" dirty="0"/>
          </a:p>
        </p:txBody>
      </p:sp>
      <p:sp>
        <p:nvSpPr>
          <p:cNvPr id="83" name="Text 81"/>
          <p:cNvSpPr/>
          <p:nvPr/>
        </p:nvSpPr>
        <p:spPr>
          <a:xfrm>
            <a:off x="457200" y="3493008"/>
            <a:ext cx="36576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Netzgebiet hat mindestens 1 MaLo. Jede MaLo ist genau 1 Netzgebiet zugeordnet.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365760" y="4014216"/>
            <a:ext cx="384048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57200" y="4050792"/>
            <a:ext cx="365760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Messlokation → Zähler (r20)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457200" y="4288536"/>
            <a:ext cx="365760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MeLo hat mindestens 1 Zähler. Jeder Zähler gehört zu genau 1 MeLo.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74320" y="5029200"/>
            <a:ext cx="85953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BDEW ERM v2.2  |  Verbinder 1:N (Pflicht)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Verbindertyp 2: ERzeroToOne  →  ERzeroToMany  (0..1 : 0..N)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Verbindungen · Optionale Zuordnungen · Häufig für schwache Referenzen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0120"/>
            <a:ext cx="64008" cy="1371600"/>
          </a:xfrm>
          <a:prstGeom prst="rect">
            <a:avLst/>
          </a:prstGeom>
          <a:solidFill>
            <a:srgbClr val="82B366"/>
          </a:solidFill>
          <a:ln w="12700">
            <a:solidFill>
              <a:srgbClr val="82B3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384048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Symbolik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298448"/>
            <a:ext cx="384048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Start: ○|  (Kreis + Strich = 0 oder 1, optional)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84048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Ende:  ○&lt;  (Kreis + Hahnenfuß = 0 oder viele)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828800"/>
            <a:ext cx="3840480" cy="384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Lesart: 'Links kann vorhanden sein (optional), Rechts können beliebig viele zugeordnet sein'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960120"/>
            <a:ext cx="41148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60120"/>
            <a:ext cx="4114800" cy="292608"/>
          </a:xfrm>
          <a:prstGeom prst="rect">
            <a:avLst/>
          </a:prstGeom>
          <a:solidFill>
            <a:srgbClr val="82B366"/>
          </a:solidFill>
          <a:ln w="12700">
            <a:solidFill>
              <a:srgbClr val="82B3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960120"/>
            <a:ext cx="40233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13 Verbindungen (0..1 : 0..N)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298448"/>
            <a:ext cx="4114800" cy="2377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33502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Netzkopplungspunkt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75120" y="13350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Messlokation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554480"/>
            <a:ext cx="41148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59105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75120" y="159105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Marktteilnehmer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1810512"/>
            <a:ext cx="4114800" cy="2377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184708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Ansprechpartner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675120" y="184708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Marktteilnehmer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63440" y="2066544"/>
            <a:ext cx="41148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10312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Marktrolle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75120" y="210312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Marktteilnehmer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322576"/>
            <a:ext cx="4114800" cy="2377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35915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Ansprechpartner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75120" y="23591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Kunde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2578608"/>
            <a:ext cx="41148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261518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675120" y="261518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Marktlokation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2834640"/>
            <a:ext cx="4114800" cy="2377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87121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75120" y="287121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Messlokation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3090672"/>
            <a:ext cx="41148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12724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Netzlokation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675120" y="31272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Marktlokation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3346704"/>
            <a:ext cx="4114800" cy="2377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3383280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Bilanzkreis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675120" y="33832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Tranche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3602736"/>
            <a:ext cx="41148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363931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Bilanzkreis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675120" y="363931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Marktlokation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663440" y="3858768"/>
            <a:ext cx="4114800" cy="2377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389534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Bilanzierungsgebiet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675120" y="389534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Marktlokation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4114800"/>
            <a:ext cx="4114800" cy="23774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9160" y="415137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LK_Laendercode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675120" y="4151376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Adresse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63440" y="4370832"/>
            <a:ext cx="4114800" cy="23774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9160" y="440740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Netzkopplungspunkt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675120" y="440740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Messlokation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65760" y="2423160"/>
            <a:ext cx="4114800" cy="71323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2459736"/>
            <a:ext cx="393192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(0..1) → Marktteilnehmer (0..N) [r38]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57200" y="2697480"/>
            <a:ext cx="393192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Adresse kann keinem, einem oder mehreren Marktteilnehmern zugeordnet sein. Ein Marktteilnehmer hat optional eine Adresse.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65760" y="3218688"/>
            <a:ext cx="4114800" cy="71323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" y="3255264"/>
            <a:ext cx="393192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Bilanzkreis (0..1) → Marktlokation (0..N) [r48]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57200" y="3493008"/>
            <a:ext cx="393192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MaLo kann optional einem Bilanzkreis zugeordnet sein. Ein Bilanzkreis kann viele MaLos enthalten.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65760" y="4014216"/>
            <a:ext cx="4114800" cy="713232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7200" y="4050792"/>
            <a:ext cx="393192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LK_Laendercode (0..1) → Adresse (0..N) [r50]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57200" y="4288536"/>
            <a:ext cx="3931920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Ländercode-Eintrag kann optional in vielen Adressen verwendet werden. Eine Adresse hat optional einen Ländercode.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4320" y="5029200"/>
            <a:ext cx="85953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BDEW ERM v2.2  |  Verbinder 0..1 : 0..N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Verbindertypen 3, 4 und 5 – Spezialbeziehungen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1:0..1 (optionaler Teil)  ·  1:0..N (Pflicht-Optional)  ·  0..1:0..1 (XOR-Constraint)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9264"/>
            <a:ext cx="8412480" cy="1307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969264"/>
            <a:ext cx="8412480" cy="292608"/>
          </a:xfrm>
          <a:prstGeom prst="rect">
            <a:avLst/>
          </a:prstGeom>
          <a:solidFill>
            <a:srgbClr val="D6B656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9264"/>
            <a:ext cx="59436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 3: ERmandOne → ERzeroToOne  (1 : 0..1)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92240" y="969264"/>
            <a:ext cx="21945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Verbindungen · Exklusive optionale Abhängigkeit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307592"/>
            <a:ext cx="1554480" cy="274320"/>
          </a:xfrm>
          <a:prstGeom prst="rect">
            <a:avLst/>
          </a:prstGeom>
          <a:solidFill>
            <a:srgbClr val="FFF2CC"/>
          </a:solidFill>
          <a:ln w="15240">
            <a:solidFill>
              <a:srgbClr val="D6B6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07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‖  ————  ○|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48840" y="1289304"/>
            <a:ext cx="38404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(Parent): muss existieren (Pflicht-1). Rechts (Child): optional, max. 1 Child pro Parent.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Typisch für optionale 1:1-Erweiterungen (Zähler-Geräte).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975104"/>
            <a:ext cx="59436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Zähler (1) → Gateway (0..1) [r–]  ·  Zähler (1) → Wandlereinrichtung (0..1)  ·  Zähler (1) → Mengenumwerter (0..1)  ·  Gateway (1) → Tarifeinrichtung (0..1)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0760" y="1307592"/>
            <a:ext cx="2606040" cy="640080"/>
          </a:xfrm>
          <a:prstGeom prst="rect">
            <a:avLst/>
          </a:prstGeom>
          <a:solidFill>
            <a:srgbClr val="FFF2CC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307592"/>
            <a:ext cx="25146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Ein Zähler kann optional ein Gateway haben – aber jedes Gateway gehört genau einem Zähler.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350008"/>
            <a:ext cx="8412480" cy="1307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350008"/>
            <a:ext cx="8412480" cy="292608"/>
          </a:xfrm>
          <a:prstGeom prst="rect">
            <a:avLst/>
          </a:prstGeom>
          <a:solidFill>
            <a:srgbClr val="D79B00"/>
          </a:solidFill>
          <a:ln w="12700">
            <a:solidFill>
              <a:srgbClr val="D79B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50008"/>
            <a:ext cx="59436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 4: ERmandOne → ERzeroToMany  (1 : 0..N)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2350008"/>
            <a:ext cx="21945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Verbindungen · Pflicht-Parent mit optionalen Kinder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688336"/>
            <a:ext cx="1554480" cy="274320"/>
          </a:xfrm>
          <a:prstGeom prst="rect">
            <a:avLst/>
          </a:prstGeom>
          <a:solidFill>
            <a:srgbClr val="FCE5CD"/>
          </a:solidFill>
          <a:ln w="15240">
            <a:solidFill>
              <a:srgbClr val="D79B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6883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‖  ————  ○&lt;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148840" y="2670048"/>
            <a:ext cx="38404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Links: Pflicht-1 (muss existieren). Rechts: 0 oder N Kinder möglich.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 wie 1:N, aber Kinder sind optional (nicht zwingend vorhanden).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355848"/>
            <a:ext cx="59436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SteuerbareRessource (1) → TechnischeRessource (0..N)  ·  Zähler (1) → Kommunikationseinrichtung (0..N)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080760" y="2688336"/>
            <a:ext cx="2606040" cy="640080"/>
          </a:xfrm>
          <a:prstGeom prst="rect">
            <a:avLst/>
          </a:prstGeom>
          <a:solidFill>
            <a:srgbClr val="FCE5CD"/>
          </a:solidFill>
          <a:ln w="12700">
            <a:solidFill>
              <a:srgbClr val="D79B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2688336"/>
            <a:ext cx="25146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Ein Zähler kann 0, 1 oder viele Kommunikationseinrichtungen haben – muss aber nicht.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730752"/>
            <a:ext cx="8412480" cy="1307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730752"/>
            <a:ext cx="8412480" cy="292608"/>
          </a:xfrm>
          <a:prstGeom prst="rect">
            <a:avLst/>
          </a:prstGeom>
          <a:solidFill>
            <a:srgbClr val="9673A6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730752"/>
            <a:ext cx="59436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 5: ERzeroToOne → ERzeroToOne  (0..1 : 0..1)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3730752"/>
            <a:ext cx="21945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Verbindungen · Bidirektional optional · XOR-Nutzung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069080"/>
            <a:ext cx="1554480" cy="274320"/>
          </a:xfrm>
          <a:prstGeom prst="rect">
            <a:avLst/>
          </a:prstGeom>
          <a:solidFill>
            <a:srgbClr val="E1D5E7"/>
          </a:solidFill>
          <a:ln w="15240">
            <a:solidFill>
              <a:srgbClr val="9673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69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○|  ————  ○|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148840" y="4050792"/>
            <a:ext cx="38404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Seiten optional (0 oder 1). Im BDEW ERM für XOR-Constraints: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einer der optionalen FKs muss gesetzt sein (nie beide, nie keiner).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736592"/>
            <a:ext cx="59436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Zähler (0..1) ↔ Messdatenregistriergerät (0..1)  ·  Mengenumwerter (0..1) ↔ Messdatenregistriergerät (0..1)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080760" y="4069080"/>
            <a:ext cx="2606040" cy="640080"/>
          </a:xfrm>
          <a:prstGeom prst="rect">
            <a:avLst/>
          </a:prstGeom>
          <a:solidFill>
            <a:srgbClr val="E1D5E7"/>
          </a:solidFill>
          <a:ln w="12700">
            <a:solidFill>
              <a:srgbClr val="9673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4069080"/>
            <a:ext cx="25146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Ein MDR gehört entweder zu einem Zähler ODER zu einem Mengenumwerter – nie zu beiden (XOR-Constraint im CK).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5029200"/>
            <a:ext cx="85953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BDEW ERM v2.2  |  Spezial-Verbindertypen 3/4/5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52 Verbinder im BDEW ERM v2.2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Vollständiges Verzeichnis nach Relationsname (r01–r50)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2743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50292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960120"/>
            <a:ext cx="228600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(Source)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54680" y="960120"/>
            <a:ext cx="228600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(Target)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68112" y="960120"/>
            <a:ext cx="128016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12280" y="960120"/>
            <a:ext cx="228600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(Source)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252728"/>
            <a:ext cx="43434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" y="128016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95528" y="128016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Regelzone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505456" y="128016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Bilanzkreis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886200" y="1289304"/>
            <a:ext cx="667512" cy="128016"/>
          </a:xfrm>
          <a:prstGeom prst="rect">
            <a:avLst/>
          </a:prstGeom>
          <a:solidFill>
            <a:srgbClr val="DAE8FC"/>
          </a:solidFill>
          <a:ln w="7620">
            <a:solidFill>
              <a:srgbClr val="6C8EB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86200" y="1289304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74320" y="1476756"/>
            <a:ext cx="4343400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1752" y="150418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95528" y="150418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Regelzone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505456" y="150418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Marktgebiet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886200" y="1513332"/>
            <a:ext cx="667512" cy="128016"/>
          </a:xfrm>
          <a:prstGeom prst="rect">
            <a:avLst/>
          </a:prstGeom>
          <a:solidFill>
            <a:srgbClr val="DAE8FC"/>
          </a:solidFill>
          <a:ln w="7620">
            <a:solidFill>
              <a:srgbClr val="6C8EB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86200" y="1513332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74320" y="1700784"/>
            <a:ext cx="43434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" y="172821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95528" y="172821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Marktgebiet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505456" y="172821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Bilanzierungsgebiet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886200" y="1737360"/>
            <a:ext cx="667512" cy="128016"/>
          </a:xfrm>
          <a:prstGeom prst="rect">
            <a:avLst/>
          </a:prstGeom>
          <a:solidFill>
            <a:srgbClr val="DAE8FC"/>
          </a:solidFill>
          <a:ln w="7620">
            <a:solidFill>
              <a:srgbClr val="6C8E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86200" y="1737360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" y="1924812"/>
            <a:ext cx="4343400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1752" y="195224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95528" y="195224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Netzgebiet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505456" y="195224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Netzkonto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886200" y="1961388"/>
            <a:ext cx="667512" cy="128016"/>
          </a:xfrm>
          <a:prstGeom prst="rect">
            <a:avLst/>
          </a:prstGeom>
          <a:solidFill>
            <a:srgbClr val="DAE8FC"/>
          </a:solidFill>
          <a:ln w="7620">
            <a:solidFill>
              <a:srgbClr val="6C8EB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86200" y="1961388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74320" y="2148840"/>
            <a:ext cx="43434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1752" y="217627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r05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95528" y="217627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Bilanzierungsgebiet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505456" y="217627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BilGeb_NetzGeb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886200" y="2185416"/>
            <a:ext cx="667512" cy="128016"/>
          </a:xfrm>
          <a:prstGeom prst="rect">
            <a:avLst/>
          </a:prstGeom>
          <a:solidFill>
            <a:srgbClr val="DAE8FC"/>
          </a:solidFill>
          <a:ln w="7620">
            <a:solidFill>
              <a:srgbClr val="6C8E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86200" y="2185416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74320" y="2372868"/>
            <a:ext cx="4343400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1752" y="240030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r06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95528" y="240030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Netzgebiet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505456" y="240030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BilGeb_NetzGeb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886200" y="2409444"/>
            <a:ext cx="667512" cy="128016"/>
          </a:xfrm>
          <a:prstGeom prst="rect">
            <a:avLst/>
          </a:prstGeom>
          <a:solidFill>
            <a:srgbClr val="DAE8FC"/>
          </a:solidFill>
          <a:ln w="7620">
            <a:solidFill>
              <a:srgbClr val="6C8E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86200" y="2409444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74320" y="2596896"/>
            <a:ext cx="43434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1752" y="262432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r07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95528" y="262432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Netzgebiet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2505456" y="262432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NetzGeb_NKP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886200" y="2633472"/>
            <a:ext cx="667512" cy="128016"/>
          </a:xfrm>
          <a:prstGeom prst="rect">
            <a:avLst/>
          </a:prstGeom>
          <a:solidFill>
            <a:srgbClr val="DAE8FC"/>
          </a:solidFill>
          <a:ln w="7620">
            <a:solidFill>
              <a:srgbClr val="6C8E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86200" y="2633472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274320" y="2820924"/>
            <a:ext cx="4343400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01752" y="284835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r08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795528" y="284835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Netzkopplungspunkt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2505456" y="284835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NetzGeb_NKP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886200" y="2857500"/>
            <a:ext cx="667512" cy="128016"/>
          </a:xfrm>
          <a:prstGeom prst="rect">
            <a:avLst/>
          </a:prstGeom>
          <a:solidFill>
            <a:srgbClr val="DAE8FC"/>
          </a:solidFill>
          <a:ln w="7620">
            <a:solidFill>
              <a:srgbClr val="6C8EB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886200" y="2857500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274320" y="3044952"/>
            <a:ext cx="43434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01752" y="3072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r09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795528" y="307238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Netzgebiet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2505456" y="307238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Marktlokation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886200" y="3081528"/>
            <a:ext cx="667512" cy="128016"/>
          </a:xfrm>
          <a:prstGeom prst="rect">
            <a:avLst/>
          </a:prstGeom>
          <a:solidFill>
            <a:srgbClr val="DAE8FC"/>
          </a:solidFill>
          <a:ln w="7620">
            <a:solidFill>
              <a:srgbClr val="6C8EB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886200" y="3081528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274320" y="3268980"/>
            <a:ext cx="4343400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01752" y="329641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r10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795528" y="329641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Netzgebiet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2505456" y="329641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Messlokation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886200" y="3305556"/>
            <a:ext cx="667512" cy="128016"/>
          </a:xfrm>
          <a:prstGeom prst="rect">
            <a:avLst/>
          </a:prstGeom>
          <a:solidFill>
            <a:srgbClr val="DAE8FC"/>
          </a:solidFill>
          <a:ln w="7620">
            <a:solidFill>
              <a:srgbClr val="6C8EB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886200" y="3305556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274320" y="3493008"/>
            <a:ext cx="43434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01752" y="352044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r11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795528" y="352044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Marktlokation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2505456" y="352044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MaLo_MeLo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3886200" y="3529584"/>
            <a:ext cx="667512" cy="128016"/>
          </a:xfrm>
          <a:prstGeom prst="rect">
            <a:avLst/>
          </a:prstGeom>
          <a:solidFill>
            <a:srgbClr val="DAE8FC"/>
          </a:solidFill>
          <a:ln w="7620">
            <a:solidFill>
              <a:srgbClr val="6C8EBF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886200" y="3529584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274320" y="3717036"/>
            <a:ext cx="4343400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01752" y="374446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r12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795528" y="374446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Messlokation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2505456" y="37444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MaLo_MeLo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3886200" y="3753612"/>
            <a:ext cx="667512" cy="128016"/>
          </a:xfrm>
          <a:prstGeom prst="rect">
            <a:avLst/>
          </a:prstGeom>
          <a:solidFill>
            <a:srgbClr val="DAE8FC"/>
          </a:solidFill>
          <a:ln w="7620">
            <a:solidFill>
              <a:srgbClr val="6C8EB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886200" y="3753612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274320" y="3941064"/>
            <a:ext cx="43434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01752" y="396849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r13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795528" y="396849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Marktlokation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2505456" y="396849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MaLo_TechRes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3886200" y="3977640"/>
            <a:ext cx="667512" cy="128016"/>
          </a:xfrm>
          <a:prstGeom prst="rect">
            <a:avLst/>
          </a:prstGeom>
          <a:solidFill>
            <a:srgbClr val="DAE8FC"/>
          </a:solidFill>
          <a:ln w="7620">
            <a:solidFill>
              <a:srgbClr val="6C8EB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886200" y="3977640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274320" y="4165092"/>
            <a:ext cx="4343400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01752" y="419252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r14</a:t>
            </a:r>
            <a:endParaRPr lang="en-US" sz="850" dirty="0"/>
          </a:p>
        </p:txBody>
      </p:sp>
      <p:sp>
        <p:nvSpPr>
          <p:cNvPr id="91" name="Text 89"/>
          <p:cNvSpPr/>
          <p:nvPr/>
        </p:nvSpPr>
        <p:spPr>
          <a:xfrm>
            <a:off x="795528" y="419252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TechnischeRessource</a:t>
            </a:r>
            <a:endParaRPr lang="en-US" sz="850" dirty="0"/>
          </a:p>
        </p:txBody>
      </p:sp>
      <p:sp>
        <p:nvSpPr>
          <p:cNvPr id="92" name="Text 90"/>
          <p:cNvSpPr/>
          <p:nvPr/>
        </p:nvSpPr>
        <p:spPr>
          <a:xfrm>
            <a:off x="2505456" y="419252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MaLo_TechRes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3886200" y="4201668"/>
            <a:ext cx="667512" cy="128016"/>
          </a:xfrm>
          <a:prstGeom prst="rect">
            <a:avLst/>
          </a:prstGeom>
          <a:solidFill>
            <a:srgbClr val="DAE8FC"/>
          </a:solidFill>
          <a:ln w="7620">
            <a:solidFill>
              <a:srgbClr val="6C8EB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886200" y="4201668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274320" y="4389120"/>
            <a:ext cx="43434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01752" y="44165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r16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795528" y="441655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SteuerbareRessource</a:t>
            </a:r>
            <a:endParaRPr lang="en-US" sz="850" dirty="0"/>
          </a:p>
        </p:txBody>
      </p:sp>
      <p:sp>
        <p:nvSpPr>
          <p:cNvPr id="98" name="Text 96"/>
          <p:cNvSpPr/>
          <p:nvPr/>
        </p:nvSpPr>
        <p:spPr>
          <a:xfrm>
            <a:off x="2505456" y="441655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StRes_StEin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3886200" y="4425696"/>
            <a:ext cx="667512" cy="128016"/>
          </a:xfrm>
          <a:prstGeom prst="rect">
            <a:avLst/>
          </a:prstGeom>
          <a:solidFill>
            <a:srgbClr val="DAE8FC"/>
          </a:solidFill>
          <a:ln w="7620">
            <a:solidFill>
              <a:srgbClr val="6C8EBF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886200" y="4425696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274320" y="4613148"/>
            <a:ext cx="4343400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301752" y="46405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r17</a:t>
            </a:r>
            <a:endParaRPr lang="en-US" sz="850" dirty="0"/>
          </a:p>
        </p:txBody>
      </p:sp>
      <p:sp>
        <p:nvSpPr>
          <p:cNvPr id="103" name="Text 101"/>
          <p:cNvSpPr/>
          <p:nvPr/>
        </p:nvSpPr>
        <p:spPr>
          <a:xfrm>
            <a:off x="795528" y="464058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Steuereinrichtung</a:t>
            </a:r>
            <a:endParaRPr lang="en-US" sz="850" dirty="0"/>
          </a:p>
        </p:txBody>
      </p:sp>
      <p:sp>
        <p:nvSpPr>
          <p:cNvPr id="104" name="Text 102"/>
          <p:cNvSpPr/>
          <p:nvPr/>
        </p:nvSpPr>
        <p:spPr>
          <a:xfrm>
            <a:off x="2505456" y="464058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StRes_StEin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3886200" y="4649724"/>
            <a:ext cx="667512" cy="128016"/>
          </a:xfrm>
          <a:prstGeom prst="rect">
            <a:avLst/>
          </a:prstGeom>
          <a:solidFill>
            <a:srgbClr val="DAE8FC"/>
          </a:solidFill>
          <a:ln w="7620">
            <a:solidFill>
              <a:srgbClr val="6C8EB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886200" y="4649724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274320" y="4837176"/>
            <a:ext cx="43434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01752" y="48646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r18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795528" y="486460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SteuerbareRessource</a:t>
            </a:r>
            <a:endParaRPr lang="en-US" sz="850" dirty="0"/>
          </a:p>
        </p:txBody>
      </p:sp>
      <p:sp>
        <p:nvSpPr>
          <p:cNvPr id="110" name="Text 108"/>
          <p:cNvSpPr/>
          <p:nvPr/>
        </p:nvSpPr>
        <p:spPr>
          <a:xfrm>
            <a:off x="2505456" y="486460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StRes_StBox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3886200" y="4873752"/>
            <a:ext cx="667512" cy="128016"/>
          </a:xfrm>
          <a:prstGeom prst="rect">
            <a:avLst/>
          </a:prstGeom>
          <a:solidFill>
            <a:srgbClr val="DAE8FC"/>
          </a:solidFill>
          <a:ln w="7620">
            <a:solidFill>
              <a:srgbClr val="6C8EBF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3886200" y="4873752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4754880" y="1252728"/>
            <a:ext cx="43434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782312" y="128016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r19</a:t>
            </a:r>
            <a:endParaRPr lang="en-US" sz="850" dirty="0"/>
          </a:p>
        </p:txBody>
      </p:sp>
      <p:sp>
        <p:nvSpPr>
          <p:cNvPr id="115" name="Text 113"/>
          <p:cNvSpPr/>
          <p:nvPr/>
        </p:nvSpPr>
        <p:spPr>
          <a:xfrm>
            <a:off x="5276088" y="128016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Steuerbox</a:t>
            </a:r>
            <a:endParaRPr lang="en-US" sz="850" dirty="0"/>
          </a:p>
        </p:txBody>
      </p:sp>
      <p:sp>
        <p:nvSpPr>
          <p:cNvPr id="116" name="Text 114"/>
          <p:cNvSpPr/>
          <p:nvPr/>
        </p:nvSpPr>
        <p:spPr>
          <a:xfrm>
            <a:off x="6986016" y="128016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StRes_StBox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8366760" y="1289304"/>
            <a:ext cx="667512" cy="128016"/>
          </a:xfrm>
          <a:prstGeom prst="rect">
            <a:avLst/>
          </a:prstGeom>
          <a:solidFill>
            <a:srgbClr val="DAE8FC"/>
          </a:solidFill>
          <a:ln w="7620">
            <a:solidFill>
              <a:srgbClr val="6C8EBF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8366760" y="1289304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119" name="Shape 117"/>
          <p:cNvSpPr/>
          <p:nvPr/>
        </p:nvSpPr>
        <p:spPr>
          <a:xfrm>
            <a:off x="4754880" y="1476756"/>
            <a:ext cx="4343400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4782312" y="150418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</a:t>
            </a:r>
            <a:endParaRPr lang="en-US" sz="850" dirty="0"/>
          </a:p>
        </p:txBody>
      </p:sp>
      <p:sp>
        <p:nvSpPr>
          <p:cNvPr id="121" name="Text 119"/>
          <p:cNvSpPr/>
          <p:nvPr/>
        </p:nvSpPr>
        <p:spPr>
          <a:xfrm>
            <a:off x="5276088" y="150418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Messlokation</a:t>
            </a:r>
            <a:endParaRPr lang="en-US" sz="850" dirty="0"/>
          </a:p>
        </p:txBody>
      </p:sp>
      <p:sp>
        <p:nvSpPr>
          <p:cNvPr id="122" name="Text 120"/>
          <p:cNvSpPr/>
          <p:nvPr/>
        </p:nvSpPr>
        <p:spPr>
          <a:xfrm>
            <a:off x="6986016" y="150418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Zaehler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8366760" y="1513332"/>
            <a:ext cx="667512" cy="128016"/>
          </a:xfrm>
          <a:prstGeom prst="rect">
            <a:avLst/>
          </a:prstGeom>
          <a:solidFill>
            <a:srgbClr val="DAE8FC"/>
          </a:solidFill>
          <a:ln w="7620">
            <a:solidFill>
              <a:srgbClr val="6C8EBF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366760" y="1513332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4754880" y="1700784"/>
            <a:ext cx="43434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4782312" y="172821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850" dirty="0"/>
          </a:p>
        </p:txBody>
      </p:sp>
      <p:sp>
        <p:nvSpPr>
          <p:cNvPr id="127" name="Text 125"/>
          <p:cNvSpPr/>
          <p:nvPr/>
        </p:nvSpPr>
        <p:spPr>
          <a:xfrm>
            <a:off x="5276088" y="172821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NKP</a:t>
            </a:r>
            <a:endParaRPr lang="en-US" sz="850" dirty="0"/>
          </a:p>
        </p:txBody>
      </p:sp>
      <p:sp>
        <p:nvSpPr>
          <p:cNvPr id="128" name="Text 126"/>
          <p:cNvSpPr/>
          <p:nvPr/>
        </p:nvSpPr>
        <p:spPr>
          <a:xfrm>
            <a:off x="6986016" y="172821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Zaehler</a:t>
            </a:r>
            <a:endParaRPr lang="en-US" sz="850" dirty="0"/>
          </a:p>
        </p:txBody>
      </p:sp>
      <p:sp>
        <p:nvSpPr>
          <p:cNvPr id="129" name="Shape 127"/>
          <p:cNvSpPr/>
          <p:nvPr/>
        </p:nvSpPr>
        <p:spPr>
          <a:xfrm>
            <a:off x="8366760" y="1737360"/>
            <a:ext cx="667512" cy="128016"/>
          </a:xfrm>
          <a:prstGeom prst="rect">
            <a:avLst/>
          </a:prstGeom>
          <a:solidFill>
            <a:srgbClr val="F8CECC"/>
          </a:solidFill>
          <a:ln w="7620">
            <a:solidFill>
              <a:srgbClr val="B8545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8366760" y="1737360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0..1:N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4754880" y="1924812"/>
            <a:ext cx="4343400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4782312" y="195224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850" dirty="0"/>
          </a:p>
        </p:txBody>
      </p:sp>
      <p:sp>
        <p:nvSpPr>
          <p:cNvPr id="133" name="Text 131"/>
          <p:cNvSpPr/>
          <p:nvPr/>
        </p:nvSpPr>
        <p:spPr>
          <a:xfrm>
            <a:off x="5276088" y="195224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Zaehler</a:t>
            </a:r>
            <a:endParaRPr lang="en-US" sz="850" dirty="0"/>
          </a:p>
        </p:txBody>
      </p:sp>
      <p:sp>
        <p:nvSpPr>
          <p:cNvPr id="134" name="Text 132"/>
          <p:cNvSpPr/>
          <p:nvPr/>
        </p:nvSpPr>
        <p:spPr>
          <a:xfrm>
            <a:off x="6986016" y="195224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850" dirty="0"/>
          </a:p>
        </p:txBody>
      </p:sp>
      <p:sp>
        <p:nvSpPr>
          <p:cNvPr id="135" name="Shape 133"/>
          <p:cNvSpPr/>
          <p:nvPr/>
        </p:nvSpPr>
        <p:spPr>
          <a:xfrm>
            <a:off x="8366760" y="1961388"/>
            <a:ext cx="667512" cy="128016"/>
          </a:xfrm>
          <a:prstGeom prst="rect">
            <a:avLst/>
          </a:prstGeom>
          <a:solidFill>
            <a:srgbClr val="FFF2CC"/>
          </a:solidFill>
          <a:ln w="7620">
            <a:solidFill>
              <a:srgbClr val="D6B656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8366760" y="1961388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1:0..1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4754880" y="2148840"/>
            <a:ext cx="43434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4782312" y="217627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850" dirty="0"/>
          </a:p>
        </p:txBody>
      </p:sp>
      <p:sp>
        <p:nvSpPr>
          <p:cNvPr id="139" name="Text 137"/>
          <p:cNvSpPr/>
          <p:nvPr/>
        </p:nvSpPr>
        <p:spPr>
          <a:xfrm>
            <a:off x="5276088" y="217627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Zaehler</a:t>
            </a:r>
            <a:endParaRPr lang="en-US" sz="850" dirty="0"/>
          </a:p>
        </p:txBody>
      </p:sp>
      <p:sp>
        <p:nvSpPr>
          <p:cNvPr id="140" name="Text 138"/>
          <p:cNvSpPr/>
          <p:nvPr/>
        </p:nvSpPr>
        <p:spPr>
          <a:xfrm>
            <a:off x="6986016" y="217627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Wandlereinrichtung</a:t>
            </a:r>
            <a:endParaRPr lang="en-US" sz="850" dirty="0"/>
          </a:p>
        </p:txBody>
      </p:sp>
      <p:sp>
        <p:nvSpPr>
          <p:cNvPr id="141" name="Shape 139"/>
          <p:cNvSpPr/>
          <p:nvPr/>
        </p:nvSpPr>
        <p:spPr>
          <a:xfrm>
            <a:off x="8366760" y="2185416"/>
            <a:ext cx="667512" cy="128016"/>
          </a:xfrm>
          <a:prstGeom prst="rect">
            <a:avLst/>
          </a:prstGeom>
          <a:solidFill>
            <a:srgbClr val="FFF2CC"/>
          </a:solidFill>
          <a:ln w="7620">
            <a:solidFill>
              <a:srgbClr val="D6B656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8366760" y="2185416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1:0..1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4754880" y="2372868"/>
            <a:ext cx="4343400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4782312" y="240030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850" dirty="0"/>
          </a:p>
        </p:txBody>
      </p:sp>
      <p:sp>
        <p:nvSpPr>
          <p:cNvPr id="145" name="Text 143"/>
          <p:cNvSpPr/>
          <p:nvPr/>
        </p:nvSpPr>
        <p:spPr>
          <a:xfrm>
            <a:off x="5276088" y="240030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850" dirty="0"/>
          </a:p>
        </p:txBody>
      </p:sp>
      <p:sp>
        <p:nvSpPr>
          <p:cNvPr id="146" name="Text 144"/>
          <p:cNvSpPr/>
          <p:nvPr/>
        </p:nvSpPr>
        <p:spPr>
          <a:xfrm>
            <a:off x="6986016" y="240030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Tarifeinrichtung</a:t>
            </a:r>
            <a:endParaRPr lang="en-US" sz="850" dirty="0"/>
          </a:p>
        </p:txBody>
      </p:sp>
      <p:sp>
        <p:nvSpPr>
          <p:cNvPr id="147" name="Shape 145"/>
          <p:cNvSpPr/>
          <p:nvPr/>
        </p:nvSpPr>
        <p:spPr>
          <a:xfrm>
            <a:off x="8366760" y="2409444"/>
            <a:ext cx="667512" cy="128016"/>
          </a:xfrm>
          <a:prstGeom prst="rect">
            <a:avLst/>
          </a:prstGeom>
          <a:solidFill>
            <a:srgbClr val="FFF2CC"/>
          </a:solidFill>
          <a:ln w="7620">
            <a:solidFill>
              <a:srgbClr val="D6B656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8366760" y="2409444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1:0..1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4754880" y="2596896"/>
            <a:ext cx="43434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4782312" y="262432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850" dirty="0"/>
          </a:p>
        </p:txBody>
      </p:sp>
      <p:sp>
        <p:nvSpPr>
          <p:cNvPr id="151" name="Text 149"/>
          <p:cNvSpPr/>
          <p:nvPr/>
        </p:nvSpPr>
        <p:spPr>
          <a:xfrm>
            <a:off x="5276088" y="262432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Zaehler</a:t>
            </a:r>
            <a:endParaRPr lang="en-US" sz="850" dirty="0"/>
          </a:p>
        </p:txBody>
      </p:sp>
      <p:sp>
        <p:nvSpPr>
          <p:cNvPr id="152" name="Text 150"/>
          <p:cNvSpPr/>
          <p:nvPr/>
        </p:nvSpPr>
        <p:spPr>
          <a:xfrm>
            <a:off x="6986016" y="262432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Mengenumwerter</a:t>
            </a:r>
            <a:endParaRPr lang="en-US" sz="850" dirty="0"/>
          </a:p>
        </p:txBody>
      </p:sp>
      <p:sp>
        <p:nvSpPr>
          <p:cNvPr id="153" name="Shape 151"/>
          <p:cNvSpPr/>
          <p:nvPr/>
        </p:nvSpPr>
        <p:spPr>
          <a:xfrm>
            <a:off x="8366760" y="2633472"/>
            <a:ext cx="667512" cy="128016"/>
          </a:xfrm>
          <a:prstGeom prst="rect">
            <a:avLst/>
          </a:prstGeom>
          <a:solidFill>
            <a:srgbClr val="FFF2CC"/>
          </a:solidFill>
          <a:ln w="7620">
            <a:solidFill>
              <a:srgbClr val="D6B656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8366760" y="2633472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1:0..1</a:t>
            </a:r>
            <a:endParaRPr lang="en-US" sz="750" dirty="0"/>
          </a:p>
        </p:txBody>
      </p:sp>
      <p:sp>
        <p:nvSpPr>
          <p:cNvPr id="155" name="Shape 153"/>
          <p:cNvSpPr/>
          <p:nvPr/>
        </p:nvSpPr>
        <p:spPr>
          <a:xfrm>
            <a:off x="4754880" y="2820924"/>
            <a:ext cx="4343400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4782312" y="284835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850" dirty="0"/>
          </a:p>
        </p:txBody>
      </p:sp>
      <p:sp>
        <p:nvSpPr>
          <p:cNvPr id="157" name="Text 155"/>
          <p:cNvSpPr/>
          <p:nvPr/>
        </p:nvSpPr>
        <p:spPr>
          <a:xfrm>
            <a:off x="5276088" y="284835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SteuerbareRessource</a:t>
            </a:r>
            <a:endParaRPr lang="en-US" sz="850" dirty="0"/>
          </a:p>
        </p:txBody>
      </p:sp>
      <p:sp>
        <p:nvSpPr>
          <p:cNvPr id="158" name="Text 156"/>
          <p:cNvSpPr/>
          <p:nvPr/>
        </p:nvSpPr>
        <p:spPr>
          <a:xfrm>
            <a:off x="6986016" y="284835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TechnischeRessource</a:t>
            </a:r>
            <a:endParaRPr lang="en-US" sz="850" dirty="0"/>
          </a:p>
        </p:txBody>
      </p:sp>
      <p:sp>
        <p:nvSpPr>
          <p:cNvPr id="159" name="Shape 157"/>
          <p:cNvSpPr/>
          <p:nvPr/>
        </p:nvSpPr>
        <p:spPr>
          <a:xfrm>
            <a:off x="8366760" y="2857500"/>
            <a:ext cx="667512" cy="128016"/>
          </a:xfrm>
          <a:prstGeom prst="rect">
            <a:avLst/>
          </a:prstGeom>
          <a:solidFill>
            <a:srgbClr val="FCE5CD"/>
          </a:solidFill>
          <a:ln w="7620">
            <a:solidFill>
              <a:srgbClr val="D79B0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8366760" y="2857500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1:0..N</a:t>
            </a:r>
            <a:endParaRPr lang="en-US" sz="750" dirty="0"/>
          </a:p>
        </p:txBody>
      </p:sp>
      <p:sp>
        <p:nvSpPr>
          <p:cNvPr id="161" name="Shape 159"/>
          <p:cNvSpPr/>
          <p:nvPr/>
        </p:nvSpPr>
        <p:spPr>
          <a:xfrm>
            <a:off x="4754880" y="3044952"/>
            <a:ext cx="43434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4782312" y="307238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850" dirty="0"/>
          </a:p>
        </p:txBody>
      </p:sp>
      <p:sp>
        <p:nvSpPr>
          <p:cNvPr id="163" name="Text 161"/>
          <p:cNvSpPr/>
          <p:nvPr/>
        </p:nvSpPr>
        <p:spPr>
          <a:xfrm>
            <a:off x="5276088" y="307238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Zaehler</a:t>
            </a:r>
            <a:endParaRPr lang="en-US" sz="850" dirty="0"/>
          </a:p>
        </p:txBody>
      </p:sp>
      <p:sp>
        <p:nvSpPr>
          <p:cNvPr id="164" name="Text 162"/>
          <p:cNvSpPr/>
          <p:nvPr/>
        </p:nvSpPr>
        <p:spPr>
          <a:xfrm>
            <a:off x="6986016" y="307238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Kommunikationseinrichtung</a:t>
            </a:r>
            <a:endParaRPr lang="en-US" sz="850" dirty="0"/>
          </a:p>
        </p:txBody>
      </p:sp>
      <p:sp>
        <p:nvSpPr>
          <p:cNvPr id="165" name="Shape 163"/>
          <p:cNvSpPr/>
          <p:nvPr/>
        </p:nvSpPr>
        <p:spPr>
          <a:xfrm>
            <a:off x="8366760" y="3081528"/>
            <a:ext cx="667512" cy="128016"/>
          </a:xfrm>
          <a:prstGeom prst="rect">
            <a:avLst/>
          </a:prstGeom>
          <a:solidFill>
            <a:srgbClr val="FCE5CD"/>
          </a:solidFill>
          <a:ln w="7620">
            <a:solidFill>
              <a:srgbClr val="D79B00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8366760" y="3081528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1:0..N</a:t>
            </a:r>
            <a:endParaRPr lang="en-US" sz="750" dirty="0"/>
          </a:p>
        </p:txBody>
      </p:sp>
      <p:sp>
        <p:nvSpPr>
          <p:cNvPr id="167" name="Shape 165"/>
          <p:cNvSpPr/>
          <p:nvPr/>
        </p:nvSpPr>
        <p:spPr>
          <a:xfrm>
            <a:off x="4754880" y="3268980"/>
            <a:ext cx="4343400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4782312" y="329641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850" dirty="0"/>
          </a:p>
        </p:txBody>
      </p:sp>
      <p:sp>
        <p:nvSpPr>
          <p:cNvPr id="169" name="Text 167"/>
          <p:cNvSpPr/>
          <p:nvPr/>
        </p:nvSpPr>
        <p:spPr>
          <a:xfrm>
            <a:off x="5276088" y="329641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Zaehler</a:t>
            </a:r>
            <a:endParaRPr lang="en-US" sz="850" dirty="0"/>
          </a:p>
        </p:txBody>
      </p:sp>
      <p:sp>
        <p:nvSpPr>
          <p:cNvPr id="170" name="Text 168"/>
          <p:cNvSpPr/>
          <p:nvPr/>
        </p:nvSpPr>
        <p:spPr>
          <a:xfrm>
            <a:off x="6986016" y="329641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Messdatenregistriergeraet</a:t>
            </a:r>
            <a:endParaRPr lang="en-US" sz="850" dirty="0"/>
          </a:p>
        </p:txBody>
      </p:sp>
      <p:sp>
        <p:nvSpPr>
          <p:cNvPr id="171" name="Shape 169"/>
          <p:cNvSpPr/>
          <p:nvPr/>
        </p:nvSpPr>
        <p:spPr>
          <a:xfrm>
            <a:off x="8366760" y="3305556"/>
            <a:ext cx="667512" cy="128016"/>
          </a:xfrm>
          <a:prstGeom prst="rect">
            <a:avLst/>
          </a:prstGeom>
          <a:solidFill>
            <a:srgbClr val="E1D5E7"/>
          </a:solidFill>
          <a:ln w="7620">
            <a:solidFill>
              <a:srgbClr val="9673A6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8366760" y="3305556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0..1:0..1</a:t>
            </a:r>
            <a:endParaRPr lang="en-US" sz="750" dirty="0"/>
          </a:p>
        </p:txBody>
      </p:sp>
      <p:sp>
        <p:nvSpPr>
          <p:cNvPr id="173" name="Shape 171"/>
          <p:cNvSpPr/>
          <p:nvPr/>
        </p:nvSpPr>
        <p:spPr>
          <a:xfrm>
            <a:off x="4754880" y="3493008"/>
            <a:ext cx="43434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4782312" y="352044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850" dirty="0"/>
          </a:p>
        </p:txBody>
      </p:sp>
      <p:sp>
        <p:nvSpPr>
          <p:cNvPr id="175" name="Text 173"/>
          <p:cNvSpPr/>
          <p:nvPr/>
        </p:nvSpPr>
        <p:spPr>
          <a:xfrm>
            <a:off x="5276088" y="352044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Mengenumwerter</a:t>
            </a:r>
            <a:endParaRPr lang="en-US" sz="850" dirty="0"/>
          </a:p>
        </p:txBody>
      </p:sp>
      <p:sp>
        <p:nvSpPr>
          <p:cNvPr id="176" name="Text 174"/>
          <p:cNvSpPr/>
          <p:nvPr/>
        </p:nvSpPr>
        <p:spPr>
          <a:xfrm>
            <a:off x="6986016" y="352044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MDR</a:t>
            </a:r>
            <a:endParaRPr lang="en-US" sz="850" dirty="0"/>
          </a:p>
        </p:txBody>
      </p:sp>
      <p:sp>
        <p:nvSpPr>
          <p:cNvPr id="177" name="Shape 175"/>
          <p:cNvSpPr/>
          <p:nvPr/>
        </p:nvSpPr>
        <p:spPr>
          <a:xfrm>
            <a:off x="8366760" y="3529584"/>
            <a:ext cx="667512" cy="128016"/>
          </a:xfrm>
          <a:prstGeom prst="rect">
            <a:avLst/>
          </a:prstGeom>
          <a:solidFill>
            <a:srgbClr val="E1D5E7"/>
          </a:solidFill>
          <a:ln w="7620">
            <a:solidFill>
              <a:srgbClr val="9673A6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8366760" y="3529584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0..1:0..1</a:t>
            </a:r>
            <a:endParaRPr lang="en-US" sz="750" dirty="0"/>
          </a:p>
        </p:txBody>
      </p:sp>
      <p:sp>
        <p:nvSpPr>
          <p:cNvPr id="179" name="Shape 177"/>
          <p:cNvSpPr/>
          <p:nvPr/>
        </p:nvSpPr>
        <p:spPr>
          <a:xfrm>
            <a:off x="4754880" y="3717036"/>
            <a:ext cx="4343400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4782312" y="374446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r27</a:t>
            </a:r>
            <a:endParaRPr lang="en-US" sz="850" dirty="0"/>
          </a:p>
        </p:txBody>
      </p:sp>
      <p:sp>
        <p:nvSpPr>
          <p:cNvPr id="181" name="Text 179"/>
          <p:cNvSpPr/>
          <p:nvPr/>
        </p:nvSpPr>
        <p:spPr>
          <a:xfrm>
            <a:off x="5276088" y="374446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Zaehler</a:t>
            </a:r>
            <a:endParaRPr lang="en-US" sz="850" dirty="0"/>
          </a:p>
        </p:txBody>
      </p:sp>
      <p:sp>
        <p:nvSpPr>
          <p:cNvPr id="182" name="Text 180"/>
          <p:cNvSpPr/>
          <p:nvPr/>
        </p:nvSpPr>
        <p:spPr>
          <a:xfrm>
            <a:off x="6986016" y="374446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Register_Zaehler</a:t>
            </a:r>
            <a:endParaRPr lang="en-US" sz="850" dirty="0"/>
          </a:p>
        </p:txBody>
      </p:sp>
      <p:sp>
        <p:nvSpPr>
          <p:cNvPr id="183" name="Shape 181"/>
          <p:cNvSpPr/>
          <p:nvPr/>
        </p:nvSpPr>
        <p:spPr>
          <a:xfrm>
            <a:off x="8366760" y="3753612"/>
            <a:ext cx="667512" cy="128016"/>
          </a:xfrm>
          <a:prstGeom prst="rect">
            <a:avLst/>
          </a:prstGeom>
          <a:solidFill>
            <a:srgbClr val="DAE8FC"/>
          </a:solidFill>
          <a:ln w="7620">
            <a:solidFill>
              <a:srgbClr val="6C8EBF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8366760" y="3753612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185" name="Shape 183"/>
          <p:cNvSpPr/>
          <p:nvPr/>
        </p:nvSpPr>
        <p:spPr>
          <a:xfrm>
            <a:off x="4754880" y="3941064"/>
            <a:ext cx="43434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4782312" y="3968496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r28</a:t>
            </a:r>
            <a:endParaRPr lang="en-US" sz="850" dirty="0"/>
          </a:p>
        </p:txBody>
      </p:sp>
      <p:sp>
        <p:nvSpPr>
          <p:cNvPr id="187" name="Text 185"/>
          <p:cNvSpPr/>
          <p:nvPr/>
        </p:nvSpPr>
        <p:spPr>
          <a:xfrm>
            <a:off x="5276088" y="3968496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850" dirty="0"/>
          </a:p>
        </p:txBody>
      </p:sp>
      <p:sp>
        <p:nvSpPr>
          <p:cNvPr id="188" name="Text 186"/>
          <p:cNvSpPr/>
          <p:nvPr/>
        </p:nvSpPr>
        <p:spPr>
          <a:xfrm>
            <a:off x="6986016" y="3968496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Register_Gateway</a:t>
            </a:r>
            <a:endParaRPr lang="en-US" sz="850" dirty="0"/>
          </a:p>
        </p:txBody>
      </p:sp>
      <p:sp>
        <p:nvSpPr>
          <p:cNvPr id="189" name="Shape 187"/>
          <p:cNvSpPr/>
          <p:nvPr/>
        </p:nvSpPr>
        <p:spPr>
          <a:xfrm>
            <a:off x="8366760" y="3977640"/>
            <a:ext cx="667512" cy="128016"/>
          </a:xfrm>
          <a:prstGeom prst="rect">
            <a:avLst/>
          </a:prstGeom>
          <a:solidFill>
            <a:srgbClr val="DAE8FC"/>
          </a:solidFill>
          <a:ln w="7620">
            <a:solidFill>
              <a:srgbClr val="6C8EBF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8366760" y="3977640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191" name="Shape 189"/>
          <p:cNvSpPr/>
          <p:nvPr/>
        </p:nvSpPr>
        <p:spPr>
          <a:xfrm>
            <a:off x="4754880" y="4165092"/>
            <a:ext cx="4343400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4782312" y="4192524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r29</a:t>
            </a:r>
            <a:endParaRPr lang="en-US" sz="850" dirty="0"/>
          </a:p>
        </p:txBody>
      </p:sp>
      <p:sp>
        <p:nvSpPr>
          <p:cNvPr id="193" name="Text 191"/>
          <p:cNvSpPr/>
          <p:nvPr/>
        </p:nvSpPr>
        <p:spPr>
          <a:xfrm>
            <a:off x="5276088" y="4192524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MDR</a:t>
            </a:r>
            <a:endParaRPr lang="en-US" sz="850" dirty="0"/>
          </a:p>
        </p:txBody>
      </p:sp>
      <p:sp>
        <p:nvSpPr>
          <p:cNvPr id="194" name="Text 192"/>
          <p:cNvSpPr/>
          <p:nvPr/>
        </p:nvSpPr>
        <p:spPr>
          <a:xfrm>
            <a:off x="6986016" y="419252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Register_MDR</a:t>
            </a:r>
            <a:endParaRPr lang="en-US" sz="850" dirty="0"/>
          </a:p>
        </p:txBody>
      </p:sp>
      <p:sp>
        <p:nvSpPr>
          <p:cNvPr id="195" name="Shape 193"/>
          <p:cNvSpPr/>
          <p:nvPr/>
        </p:nvSpPr>
        <p:spPr>
          <a:xfrm>
            <a:off x="8366760" y="4201668"/>
            <a:ext cx="667512" cy="128016"/>
          </a:xfrm>
          <a:prstGeom prst="rect">
            <a:avLst/>
          </a:prstGeom>
          <a:solidFill>
            <a:srgbClr val="DAE8FC"/>
          </a:solidFill>
          <a:ln w="7620">
            <a:solidFill>
              <a:srgbClr val="6C8EBF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8366760" y="4201668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197" name="Shape 195"/>
          <p:cNvSpPr/>
          <p:nvPr/>
        </p:nvSpPr>
        <p:spPr>
          <a:xfrm>
            <a:off x="4754880" y="4389120"/>
            <a:ext cx="43434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98" name="Text 196"/>
          <p:cNvSpPr/>
          <p:nvPr/>
        </p:nvSpPr>
        <p:spPr>
          <a:xfrm>
            <a:off x="4782312" y="441655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r30</a:t>
            </a:r>
            <a:endParaRPr lang="en-US" sz="850" dirty="0"/>
          </a:p>
        </p:txBody>
      </p:sp>
      <p:sp>
        <p:nvSpPr>
          <p:cNvPr id="199" name="Text 197"/>
          <p:cNvSpPr/>
          <p:nvPr/>
        </p:nvSpPr>
        <p:spPr>
          <a:xfrm>
            <a:off x="5276088" y="4416552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Mengenumwerter</a:t>
            </a:r>
            <a:endParaRPr lang="en-US" sz="850" dirty="0"/>
          </a:p>
        </p:txBody>
      </p:sp>
      <p:sp>
        <p:nvSpPr>
          <p:cNvPr id="200" name="Text 198"/>
          <p:cNvSpPr/>
          <p:nvPr/>
        </p:nvSpPr>
        <p:spPr>
          <a:xfrm>
            <a:off x="6986016" y="4416552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Register_MU</a:t>
            </a:r>
            <a:endParaRPr lang="en-US" sz="850" dirty="0"/>
          </a:p>
        </p:txBody>
      </p:sp>
      <p:sp>
        <p:nvSpPr>
          <p:cNvPr id="201" name="Shape 199"/>
          <p:cNvSpPr/>
          <p:nvPr/>
        </p:nvSpPr>
        <p:spPr>
          <a:xfrm>
            <a:off x="8366760" y="4425696"/>
            <a:ext cx="667512" cy="128016"/>
          </a:xfrm>
          <a:prstGeom prst="rect">
            <a:avLst/>
          </a:prstGeom>
          <a:solidFill>
            <a:srgbClr val="DAE8FC"/>
          </a:solidFill>
          <a:ln w="7620">
            <a:solidFill>
              <a:srgbClr val="6C8EBF"/>
            </a:solidFill>
            <a:prstDash val="solid"/>
          </a:ln>
        </p:spPr>
      </p:sp>
      <p:sp>
        <p:nvSpPr>
          <p:cNvPr id="202" name="Text 200"/>
          <p:cNvSpPr/>
          <p:nvPr/>
        </p:nvSpPr>
        <p:spPr>
          <a:xfrm>
            <a:off x="8366760" y="4425696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203" name="Shape 201"/>
          <p:cNvSpPr/>
          <p:nvPr/>
        </p:nvSpPr>
        <p:spPr>
          <a:xfrm>
            <a:off x="4754880" y="4613148"/>
            <a:ext cx="4343400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4782312" y="464058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r31</a:t>
            </a:r>
            <a:endParaRPr lang="en-US" sz="850" dirty="0"/>
          </a:p>
        </p:txBody>
      </p:sp>
      <p:sp>
        <p:nvSpPr>
          <p:cNvPr id="205" name="Text 203"/>
          <p:cNvSpPr/>
          <p:nvPr/>
        </p:nvSpPr>
        <p:spPr>
          <a:xfrm>
            <a:off x="5276088" y="4640580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NKP</a:t>
            </a:r>
            <a:endParaRPr lang="en-US" sz="850" dirty="0"/>
          </a:p>
        </p:txBody>
      </p:sp>
      <p:sp>
        <p:nvSpPr>
          <p:cNvPr id="206" name="Text 204"/>
          <p:cNvSpPr/>
          <p:nvPr/>
        </p:nvSpPr>
        <p:spPr>
          <a:xfrm>
            <a:off x="6986016" y="464058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Messlokation</a:t>
            </a:r>
            <a:endParaRPr lang="en-US" sz="850" dirty="0"/>
          </a:p>
        </p:txBody>
      </p:sp>
      <p:sp>
        <p:nvSpPr>
          <p:cNvPr id="207" name="Shape 205"/>
          <p:cNvSpPr/>
          <p:nvPr/>
        </p:nvSpPr>
        <p:spPr>
          <a:xfrm>
            <a:off x="8366760" y="4649724"/>
            <a:ext cx="667512" cy="128016"/>
          </a:xfrm>
          <a:prstGeom prst="rect">
            <a:avLst/>
          </a:prstGeom>
          <a:solidFill>
            <a:srgbClr val="D5E8D4"/>
          </a:solidFill>
          <a:ln w="7620">
            <a:solidFill>
              <a:srgbClr val="82B366"/>
            </a:solidFill>
            <a:prstDash val="solid"/>
          </a:ln>
        </p:spPr>
      </p:sp>
      <p:sp>
        <p:nvSpPr>
          <p:cNvPr id="208" name="Text 206"/>
          <p:cNvSpPr/>
          <p:nvPr/>
        </p:nvSpPr>
        <p:spPr>
          <a:xfrm>
            <a:off x="8366760" y="4649724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0..1:0..N</a:t>
            </a:r>
            <a:endParaRPr lang="en-US" sz="750" dirty="0"/>
          </a:p>
        </p:txBody>
      </p:sp>
      <p:sp>
        <p:nvSpPr>
          <p:cNvPr id="209" name="Shape 207"/>
          <p:cNvSpPr/>
          <p:nvPr/>
        </p:nvSpPr>
        <p:spPr>
          <a:xfrm>
            <a:off x="4754880" y="4837176"/>
            <a:ext cx="4343400" cy="20116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4782312" y="486460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r34</a:t>
            </a:r>
            <a:endParaRPr lang="en-US" sz="850" dirty="0"/>
          </a:p>
        </p:txBody>
      </p:sp>
      <p:sp>
        <p:nvSpPr>
          <p:cNvPr id="211" name="Text 209"/>
          <p:cNvSpPr/>
          <p:nvPr/>
        </p:nvSpPr>
        <p:spPr>
          <a:xfrm>
            <a:off x="5276088" y="4864608"/>
            <a:ext cx="1691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</a:t>
            </a:r>
            <a:endParaRPr lang="en-US" sz="850" dirty="0"/>
          </a:p>
        </p:txBody>
      </p:sp>
      <p:sp>
        <p:nvSpPr>
          <p:cNvPr id="212" name="Text 210"/>
          <p:cNvSpPr/>
          <p:nvPr/>
        </p:nvSpPr>
        <p:spPr>
          <a:xfrm>
            <a:off x="6986016" y="4864608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Korrespondenzadresse</a:t>
            </a:r>
            <a:endParaRPr lang="en-US" sz="850" dirty="0"/>
          </a:p>
        </p:txBody>
      </p:sp>
      <p:sp>
        <p:nvSpPr>
          <p:cNvPr id="213" name="Shape 211"/>
          <p:cNvSpPr/>
          <p:nvPr/>
        </p:nvSpPr>
        <p:spPr>
          <a:xfrm>
            <a:off x="8366760" y="4873752"/>
            <a:ext cx="667512" cy="128016"/>
          </a:xfrm>
          <a:prstGeom prst="rect">
            <a:avLst/>
          </a:prstGeom>
          <a:solidFill>
            <a:srgbClr val="DAE8FC"/>
          </a:solidFill>
          <a:ln w="7620">
            <a:solidFill>
              <a:srgbClr val="6C8EBF"/>
            </a:solidFill>
            <a:prstDash val="solid"/>
          </a:ln>
        </p:spPr>
      </p:sp>
      <p:sp>
        <p:nvSpPr>
          <p:cNvPr id="214" name="Text 212"/>
          <p:cNvSpPr/>
          <p:nvPr/>
        </p:nvSpPr>
        <p:spPr>
          <a:xfrm>
            <a:off x="8366760" y="4873752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750" dirty="0"/>
          </a:p>
        </p:txBody>
      </p:sp>
      <p:sp>
        <p:nvSpPr>
          <p:cNvPr id="215" name="Shape 213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274320" y="5029200"/>
            <a:ext cx="85953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BDEW ERM v2.2  |  Vollständige Verbinderliste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Praxisbeispiel: Haushaltskundin mit Stromzähler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Vollständige Datenkette inkl. aller Verbindertypen – von Regelzone bis Register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1143000" cy="502920"/>
          </a:xfrm>
          <a:prstGeom prst="rect">
            <a:avLst/>
          </a:prstGeom>
          <a:solidFill>
            <a:srgbClr val="DAE8FC"/>
          </a:solidFill>
          <a:ln w="19050">
            <a:solidFill>
              <a:srgbClr val="6C8EB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78992"/>
            <a:ext cx="11430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Regelzone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325880"/>
            <a:ext cx="1143000" cy="2011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APG (AT) / 50Hertz (DE)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32688" y="93268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r01 · 1:N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14400" y="1069848"/>
            <a:ext cx="59436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72768" y="1051560"/>
            <a:ext cx="1143000" cy="502920"/>
          </a:xfrm>
          <a:prstGeom prst="rect">
            <a:avLst/>
          </a:prstGeom>
          <a:solidFill>
            <a:srgbClr val="DAE8FC"/>
          </a:solidFill>
          <a:ln w="19050">
            <a:solidFill>
              <a:srgbClr val="6C8EB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572768" y="1078992"/>
            <a:ext cx="11430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Bilanzkreis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72768" y="1325880"/>
            <a:ext cx="1143000" cy="2011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BK-DE-0001234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139696" y="93268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r09 · 1:N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121408" y="1069848"/>
            <a:ext cx="59436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79776" y="1051560"/>
            <a:ext cx="1143000" cy="502920"/>
          </a:xfrm>
          <a:prstGeom prst="rect">
            <a:avLst/>
          </a:prstGeom>
          <a:solidFill>
            <a:srgbClr val="DAE8FC"/>
          </a:solidFill>
          <a:ln w="19050">
            <a:solidFill>
              <a:srgbClr val="6C8EB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79776" y="1078992"/>
            <a:ext cx="11430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Netzgebiet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79776" y="1325880"/>
            <a:ext cx="1143000" cy="2011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NGT-Berlin-Nord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346704" y="93268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r09 · 1:N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328416" y="1069848"/>
            <a:ext cx="59436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86784" y="1051560"/>
            <a:ext cx="1143000" cy="502920"/>
          </a:xfrm>
          <a:prstGeom prst="rect">
            <a:avLst/>
          </a:prstGeom>
          <a:solidFill>
            <a:srgbClr val="FFF2CC"/>
          </a:solidFill>
          <a:ln w="19050">
            <a:solidFill>
              <a:srgbClr val="D6B65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986784" y="1078992"/>
            <a:ext cx="11430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Marktlokation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86784" y="1325880"/>
            <a:ext cx="1143000" cy="2011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DE00123456789012345678901234567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553712" y="93268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MaLo_MeLo · n:m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535424" y="1069848"/>
            <a:ext cx="59436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93792" y="1051560"/>
            <a:ext cx="1143000" cy="502920"/>
          </a:xfrm>
          <a:prstGeom prst="rect">
            <a:avLst/>
          </a:prstGeom>
          <a:solidFill>
            <a:srgbClr val="FFF2CC"/>
          </a:solidFill>
          <a:ln w="19050">
            <a:solidFill>
              <a:srgbClr val="D6B65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193792" y="1078992"/>
            <a:ext cx="11430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Messlokation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93792" y="1325880"/>
            <a:ext cx="1143000" cy="2011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DE0123456789012345678901234567 8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5760720" y="93268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r20 · 1:N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5742432" y="1069848"/>
            <a:ext cx="59436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1051560"/>
            <a:ext cx="1143000" cy="502920"/>
          </a:xfrm>
          <a:prstGeom prst="rect">
            <a:avLst/>
          </a:prstGeom>
          <a:solidFill>
            <a:srgbClr val="FFF2CC"/>
          </a:solidFill>
          <a:ln w="19050">
            <a:solidFill>
              <a:srgbClr val="D6B65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400800" y="1078992"/>
            <a:ext cx="11430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Zähler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400800" y="1325880"/>
            <a:ext cx="1143000" cy="2011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Gerät: EHZ363W4, Nr: 1234567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967728" y="93268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r27 · 1:N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949440" y="1069848"/>
            <a:ext cx="594360" cy="3657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07808" y="1051560"/>
            <a:ext cx="1143000" cy="502920"/>
          </a:xfrm>
          <a:prstGeom prst="rect">
            <a:avLst/>
          </a:prstGeom>
          <a:solidFill>
            <a:srgbClr val="E1D5E7"/>
          </a:solidFill>
          <a:ln w="19050">
            <a:solidFill>
              <a:srgbClr val="9673A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607808" y="1078992"/>
            <a:ext cx="11430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607808" y="1325880"/>
            <a:ext cx="1143000" cy="2011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OBIS: 1-0:1.8.0 (Wirkarbeit +)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188720" y="1920240"/>
            <a:ext cx="1371600" cy="731520"/>
          </a:xfrm>
          <a:prstGeom prst="rect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188720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88720" y="26517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1:0..1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846320" y="1920240"/>
            <a:ext cx="1371600" cy="731520"/>
          </a:xfrm>
          <a:prstGeom prst="rect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46320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Kommunikations-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einrichtung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46320" y="26517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1:0..N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675120" y="1920240"/>
            <a:ext cx="1371600" cy="731520"/>
          </a:xfrm>
          <a:prstGeom prst="rect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675120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Wandler-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einrichtung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675120" y="26517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1:0..1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65760" y="2880360"/>
            <a:ext cx="3840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65760" y="2880360"/>
            <a:ext cx="3840480" cy="274320"/>
          </a:xfrm>
          <a:prstGeom prst="rect">
            <a:avLst/>
          </a:prstGeom>
          <a:solidFill>
            <a:srgbClr val="B85450"/>
          </a:solidFill>
          <a:ln w="12700">
            <a:solidFill>
              <a:srgbClr val="B854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2880360"/>
            <a:ext cx="365760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Akteur-Verbindungen (über Beziehungstabellen)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457200" y="3200400"/>
            <a:ext cx="365760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Marktteilnehmer (MPID) → via r38-r40: Adresse, Ansprechpartner, Marktrolle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57200" y="3438144"/>
            <a:ext cx="365760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Kunde → via Kunde_Marktlokation (r36/r37): verknüpft mit MaLo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57200" y="3675888"/>
            <a:ext cx="365760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Korrespondenzadresse → via r34/r35: Adresse + Kunde kombiniert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343400" y="2880360"/>
            <a:ext cx="44348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343400" y="2880360"/>
            <a:ext cx="4434840" cy="27432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407408" y="2880360"/>
            <a:ext cx="429768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Verbindertypen im Beispiel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407408" y="3255264"/>
            <a:ext cx="777240" cy="201168"/>
          </a:xfrm>
          <a:prstGeom prst="rect">
            <a:avLst/>
          </a:prstGeom>
          <a:solidFill>
            <a:srgbClr val="DAE8FC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407408" y="325526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 (Pflicht)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5239512" y="327355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r01, r09, r20, r27 – Kern-Hierarchie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407408" y="3602736"/>
            <a:ext cx="777240" cy="201168"/>
          </a:xfrm>
          <a:prstGeom prst="rect">
            <a:avLst/>
          </a:prstGeom>
          <a:solidFill>
            <a:srgbClr val="F5F5F5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407408" y="36027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n:m (Auflösung)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5239512" y="362102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MaLo_MeLo – Viele-zu-Viele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407408" y="3950208"/>
            <a:ext cx="777240" cy="201168"/>
          </a:xfrm>
          <a:prstGeom prst="rect">
            <a:avLst/>
          </a:prstGeom>
          <a:solidFill>
            <a:srgbClr val="FFF2CC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407408" y="395020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1:0..1 (Optional)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5239512" y="3968496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Zähler → Gateway / Wandler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407408" y="4297680"/>
            <a:ext cx="777240" cy="201168"/>
          </a:xfrm>
          <a:prstGeom prst="rect">
            <a:avLst/>
          </a:prstGeom>
          <a:solidFill>
            <a:srgbClr val="FCE5CD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07408" y="429768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1:0..N (Pflicht-Opt)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5239512" y="431596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Zähler → Kommunikationseinr.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407408" y="4645152"/>
            <a:ext cx="777240" cy="201168"/>
          </a:xfrm>
          <a:prstGeom prst="rect">
            <a:avLst/>
          </a:prstGeom>
          <a:solidFill>
            <a:srgbClr val="D5E8D4"/>
          </a:solidFill>
          <a:ln w="7620">
            <a:solidFill>
              <a:srgbClr val="CCCCC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407408" y="46451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0..1:0..N (Opt-Opt)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5239512" y="4663440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/ Ansprechpartner → MT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74320" y="5029200"/>
            <a:ext cx="859536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BDEW ERM v2.2  |  Praxisbeispiel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BDEW ERM v2.2 – Verbinder &amp; Beziehungstypen</dc:title>
  <dc:subject>PptxGenJS Presentation</dc:subject>
  <dc:creator>PptxGenJS</dc:creator>
  <cp:lastModifiedBy>PptxGenJS</cp:lastModifiedBy>
  <cp:revision>1</cp:revision>
  <dcterms:created xsi:type="dcterms:W3CDTF">2026-03-01T17:42:36Z</dcterms:created>
  <dcterms:modified xsi:type="dcterms:W3CDTF">2026-03-01T17:42:36Z</dcterms:modified>
</cp:coreProperties>
</file>